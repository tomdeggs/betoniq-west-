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7" r:id="rId28"/>
    <p:sldId id="278" r:id="rId2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9" r:id="rId30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01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NORTH-CENTRAL SECURITY SUMMIT · 20-YEAR DEVELOPMENT PLAN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9A24B"/>
                </a:solidFill>
                <a:latin typeface="Segoe UI"/>
              </a:rPr>
              <a:t>SECURITY AS THE FOUNDATION OF 20-YEAR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2EFE6"/>
                </a:solidFill>
                <a:latin typeface="Segoe UI"/>
              </a:rPr>
              <a:t>Presented by AVM Monday Riku Morgan (Rtd)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2EFE6"/>
                </a:solidFill>
                <a:latin typeface="Segoe UI"/>
              </a:rPr>
              <a:t>"Give communities the resources, institutions and partnerships to secure peace — and peace will give development the space to flourish."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Open with the full 2-minute introduction — LG financial autonomy is the hinge that changes the whole security equation.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DOCUMENTED EVIDENCE · TABLE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Chronology of Kidnapping &amp; Banditry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544"/>
                <a:gridCol w="1615439"/>
                <a:gridCol w="3028949"/>
                <a:gridCol w="1211579"/>
                <a:gridCol w="2524124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Period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Location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Incident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Killed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Abducted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Coordinated attacks, multiple communities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June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Continued attacks, multiple LGAs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1-11 Jul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 State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Early-July escalation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22 Aug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 (Borgu)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Mosque raid, Kpenya/Dekara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30 confirmed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60-80 confirmed; 600 UNVERIFIED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Aug 2026 (ongoing)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 → Benin Rep.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Mass displacement post-raid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~2,000 fled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Jul25-Jun26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National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Full 12-month total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1,142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2578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i="1">
                <a:solidFill>
                  <a:srgbClr val="2FD8C9"/>
                </a:solidFill>
                <a:latin typeface="Segoe UI"/>
              </a:rPr>
              <a:t>NOTE: "Unverified" figures (e.g. 600 claim) are video-sourced, not police-confirmed — distinguish confirmed vs unverified at the podium.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 12-month, nationally-documented pattern — North-Central sits at the centre of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DOCUMENTED EVIDENCE · TABLE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The Economy of Kidnapping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571"/>
                <a:gridCol w="1998482"/>
                <a:gridCol w="4496585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Total ransom paid (12 months)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₦7.78 billion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Total victims (12 months)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Average ransom per victim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 ₦994,500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Calculated: ₦7.78bn ÷ 7,825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USD equivalent of total ransom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 US$5.2 million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≈₦1,500/US$1; matches Reuters (2026c)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Year-on-year growth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66%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SBM Intelligence (2026)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i="1">
                <a:solidFill>
                  <a:srgbClr val="2FD8C9"/>
                </a:solidFill>
                <a:latin typeface="Segoe UI"/>
              </a:rPr>
              <a:t>NOTE: Average-per-victim and USD figures are calculated national averages, not confirmed per-case amounts.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Every naira paid is seed capital for the next attack — a self-funding business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GRAPHICAL REPRESENTATION · TABLE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Severity Map: Kidnapping &amp; Banditry by State</a:t>
            </a:r>
          </a:p>
        </p:txBody>
      </p:sp>
      <p:pic>
        <p:nvPicPr>
          <p:cNvPr id="4" name="Picture 3" descr="map_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965960"/>
            <a:ext cx="4025304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25780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FD8C9"/>
                </a:solidFill>
                <a:latin typeface="Segoe UI"/>
              </a:rPr>
              <a:t>NOTE: Gradient = pale gold (lower) to deep red (higher), scaled to each state's share of the 1,304 recorded regional incidents. Non-NC states muted for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24B"/>
                </a:solidFill>
                <a:latin typeface="Segoe UI"/>
              </a:rPr>
              <a:t>SAY: Plateau and Niger carry the deepest red — that's where this crisis is heaviest right now.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GRAPHICAL REPRESENTATION · TABLE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Economic Exposure Map: The Ransom Economy by State</a:t>
            </a:r>
          </a:p>
        </p:txBody>
      </p:sp>
      <p:pic>
        <p:nvPicPr>
          <p:cNvPr id="4" name="Picture 3" descr="map_ec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965960"/>
            <a:ext cx="4025304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25780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2FD8C9"/>
                </a:solidFill>
                <a:latin typeface="Segoe UI"/>
              </a:rPr>
              <a:t>NOTE: Modeled estimate: national ransom total (N7.78bn) is not broken down per state in source data. Figures are calculated proportionally to each state's incident share - illustrative, not independently reported.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24B"/>
                </a:solidFill>
                <a:latin typeface="Segoe UI"/>
              </a:rPr>
              <a:t>SAY: Same pattern, different lens — where the violence is worst, the ransom economy is deepest too.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06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REGIONAL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The North-Central Security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509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2EFE6"/>
                </a:solidFill>
                <a:latin typeface="Segoe UI"/>
              </a:rPr>
              <a:t>Benue, Kogi, Kwara, Nasarawa, Niger, Plateau, and the FCT form the bridge between north and south — our agricultural belts, forests, highways, energy infrastructure. Increasingly, they contain terrorism, banditry, kidnapping, farmer-herder conflict and rural criminality.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The enemy does not respect state boundaries. Why should our response?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07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PLATEAU STATE · CONFIRMED, NAMED INCIDENTS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121 Killed in 10 Weeks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9692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Period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Killed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May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June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1-11 July 2026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121 people. One state. Ten weeks. This is happening right now.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08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NIGER STATE · BORGU, KPENYA/DEKARA · AUG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A Single Operation, Hundreds of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9692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Confirmed Killed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Abducted (Confirmed)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60-80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Unverified (Video)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Fled to Benin Republic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~2,000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One raid emptied entire villages — some fled the country to survive.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09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FULL REGIONAL TOTALS · 7 NORTH-CENTRAL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Every State Carries a Share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86000"/>
          <a:ext cx="96926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1760"/>
                <a:gridCol w="3230880"/>
              </a:tblGrid>
              <a:tr h="33147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State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Plateau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Niger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400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Benue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330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Kwara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Kogi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Nasarawa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FCT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No state in this region is untouched — this is a regional emergency.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10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UNDERSTANDING THE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24B"/>
                </a:solidFill>
                <a:latin typeface="Segoe UI"/>
              </a:rPr>
              <a:t>The Ransom Economy Self-Funds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B23A3A"/>
                </a:solidFill>
                <a:latin typeface="Segoe UI"/>
              </a:rPr>
              <a:t>1. Abduct → 2. Hold → 3. Collect (₦7.78bn/12mo) → 4. Reinvest (weapons, transport, recruits) → 5. Repeat, stronger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Every naira paid in ransom funds the next attack. It's a business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11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23A3A"/>
                </a:solidFill>
                <a:latin typeface="Segoe UI"/>
              </a:rPr>
              <a:t>THIS IS A DEVELOPMENT EMERGENCY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2EFE6"/>
                </a:solidFill>
                <a:latin typeface="Segoe UI"/>
              </a:rPr>
              <a:t>Not merely a law-and-order problem. Lost harvests. Interrupted schooling. A generation growing up distrustful of the state.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Say it plainly: we are losing a generation, not just a security statistic.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FD8C9"/>
                </a:solidFill>
                <a:latin typeface="Segoe UI"/>
              </a:rPr>
              <a:t>One Threat Picture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86000"/>
          <a:ext cx="969263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447"/>
                <a:gridCol w="704919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Discipline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SEE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Collect information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SHARE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Move it fast to who needs it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DECIDE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Clear command &amp; responsibility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ACT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Respond fast &amp; proportionately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LEARN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Prevent repetition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No single agency can do everything — together, fused, our agencies can know almost everything that matters.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FD8C9"/>
                </a:solidFill>
                <a:latin typeface="Segoe UI"/>
              </a:rPr>
              <a:t>Regional Security Intelligence &amp; Fusion Centre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Answers five questions continuously: where is the threat, who is responsible, what is their capability, what will they do next, what resource responds fastest.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FD8C9"/>
                </a:solidFill>
                <a:latin typeface="Segoe UI"/>
              </a:rPr>
              <a:t>Precedents: UK JTAC · US NCTC · India's MAC (post-2008 Mumbai)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Fragmented agencies, however capable, lose to threats that move faster than their information.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14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D8C9"/>
                </a:solidFill>
                <a:latin typeface="Segoe UI"/>
              </a:rPr>
              <a:t>Community Early Warning &amp; Early Response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Farmers, hunters, teachers, traditional rulers, transporters, market women see things no satellite or patrol ever will. A disciplined, legally-governed network — not a vigilante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FD8C9"/>
                </a:solidFill>
                <a:latin typeface="Segoe UI"/>
              </a:rPr>
              <a:t>Precedents: Kenya's Nyumba Kumi · Philippines' Barangay Peacekeeping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Formal, well-governed community structures outperform informal vigilantism on accuracy and accountability.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15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Traditional Rulers in the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EFE6"/>
                </a:solidFill>
                <a:latin typeface="Segoe UI"/>
              </a:rPr>
              <a:t>Traditional Council  →  Police/DSS  →  Military Liaison  →  Local Govt  →  Community Reps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Today rulers are consulted mostly after violence — a standing table, not an emergency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16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FD8C9"/>
                </a:solidFill>
                <a:latin typeface="Segoe UI"/>
              </a:rPr>
              <a:t>Security Corridors, Not Administrative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2EFE6"/>
                </a:solidFill>
                <a:latin typeface="Segoe UI"/>
              </a:rPr>
              <a:t>Kwara-Niger-Kainji · Niger-Kaduna-FCT · Benue-Nasarawa · Benue-Taraba · Plateau-Bauchi · Kogi-Nasarawa-Benue — the actual routes threats move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Governors agreed on joint corridor operations in 2025. The next step is institutionalisation.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17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Rapid Response: The 30-60 Minute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2EFE6"/>
                </a:solidFill>
                <a:latin typeface="Segoe UI"/>
              </a:rPr>
              <a:t>Police rapid response units, military QRF, mobile teams, medical evacuation, aviation support, community liaison — all pre-positioned, not reactive.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Israel's civil defence doctrine proves what a well-rehearsed short window achieves.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18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SOLUTION · BOTTOM-UP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24B"/>
                </a:solidFill>
                <a:latin typeface="Segoe UI"/>
              </a:rPr>
              <a:t>Financially Autonomous Local Governments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2EFE6"/>
                </a:solidFill>
                <a:latin typeface="Segoe UI"/>
              </a:rPr>
              <a:t>Federal  →  State  →  Accountable LG  →  Community  → 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Push power and money down to the LG — that's where the threat actually lives.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19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24B"/>
                </a:solidFill>
                <a:latin typeface="Segoe UI"/>
              </a:rPr>
              <a:t>Financial Autonomy + Accountability + Local Intelligence + Responsive Governance + Professional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24B"/>
                </a:solidFill>
                <a:latin typeface="Segoe UI"/>
              </a:rPr>
              <a:t>= Stronger Grassroots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Autonomy without audits just decentralises corruption — say this caveat out loud.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20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FD8C9"/>
                </a:solidFill>
                <a:latin typeface="Segoe UI"/>
              </a:rPr>
              <a:t>EVALUATION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FD8C9"/>
                </a:solidFill>
                <a:latin typeface="Segoe UI"/>
              </a:rPr>
              <a:t>5-Year Metrics &amp; Evaluation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48840"/>
          <a:ext cx="96926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3136"/>
                <a:gridCol w="969263"/>
                <a:gridCol w="7000239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Phase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Years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C9A24B"/>
                          </a:solidFill>
                          <a:latin typeface="Segoe UI"/>
                        </a:rPr>
                        <a:t>Key Evaluation Targets</a:t>
                      </a:r>
                    </a:p>
                  </a:txBody>
                  <a:tcPr>
                    <a:solidFill>
                      <a:srgbClr val="1B3A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 - Foundation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1-5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Fusion Centre in all 7 states/FCT; kidnapping down 30%; Early-Warning Network in 50% of high-risk LGAs; response &lt;90 min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II - Consolidation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6-10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down 60%; 100% LGAs fused; all 6 corridors institutionalised; return &gt;70%; audit compliance &gt;90%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III - Maturity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11-15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down 85%; response &lt;45 min region-wide; rising prosecutions; trust index &gt;75%; farms fully reactivated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IV - Sustained Peace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16-20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2EFE6"/>
                          </a:solidFill>
                          <a:latin typeface="Segoe UI"/>
                        </a:rPr>
                        <a:t>Kidnapping industry &lt;5% of baseline; region exports best practice; full corridor integration; self-sustaining LG financing</a:t>
                      </a:r>
                    </a:p>
                  </a:txBody>
                  <a:tcPr>
                    <a:solidFill>
                      <a:srgbClr val="162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 twenty-year plan without five-year checkpoints is just a hope.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FD8C9"/>
                </a:solidFill>
                <a:latin typeface="Segoe UI"/>
              </a:rPr>
              <a:t>NEW SECURITY ARCHITECTURE · REGIONAL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FD8C9"/>
                </a:solidFill>
                <a:latin typeface="Segoe UI"/>
              </a:rPr>
              <a:t>Five Pillars of the Regional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966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FE6"/>
                </a:solidFill>
                <a:latin typeface="Segoe UI"/>
              </a:rPr>
              <a:t>1. Strategic Coordination — a North Central Regional Security Council bringing together the states, the Federal Government, security agencies, traditional institutions and other critical stakeholders.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966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FE6"/>
                </a:solidFill>
                <a:latin typeface="Segoe UI"/>
              </a:rPr>
              <a:t>2. Intelligence &amp; Early Warning — a Regional Intelligence and Security Fusion Centre, linked to every state and Local Government, so threats are identified and addressed before they become crises.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9966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FE6"/>
                </a:solidFill>
                <a:latin typeface="Segoe UI"/>
              </a:rPr>
              <a:t>3. Community Resilience — the Local Government and the community as the foundation of early warning, conflict prevention and public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9966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FE6"/>
                </a:solidFill>
                <a:latin typeface="Segoe UI"/>
              </a:rPr>
              <a:t>4. Technology &amp; Infrastructure Protection — intelligence, communications, surveillance, forensics and emergency response integrated into the region's development system; security by design in every major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9966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FE6"/>
                </a:solidFill>
                <a:latin typeface="Segoe UI"/>
              </a:rPr>
              <a:t>5. Sustainable Financing &amp; Human Capacity — a North Central Security Endowment Fund, and mobilisation of the region's vast pool of experienced military, intelligence, police, technical and professional personnel.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C9A24B"/>
                </a:solidFill>
                <a:latin typeface="Segoe UI"/>
              </a:rPr>
              <a:t>Our ambition should be very clear: a North Central where farmers can farm, businesses can invest, children can go to school, communities can live in peace, infrastructure can function and development can continue without fear or disruption.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4B"/>
                </a:solidFill>
                <a:latin typeface="Segoe UI"/>
              </a:rPr>
              <a:t>SAY: Five pillars, one architecture — coordination, intelligence, community, technology, and the financing and people to sustain all four.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THE NORTH-CENTRAL SECURITY COMPACT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24B"/>
                </a:solidFill>
                <a:latin typeface="Segoe UI"/>
              </a:rPr>
              <a:t>Seven Commitments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9509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1. One Threat Picture — we share intelligence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2. One Early-Warning System — we listen to communities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3. One Rapid-Response Philosophy — before massacres, not after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4. One Professional Standard — discipline, law, dignity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5. One Regional Approach — no state-border cover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6. One Development Agenda — secure and rebuild together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2EFE6"/>
                </a:solidFill>
                <a:latin typeface="Segoe UI"/>
              </a:rPr>
              <a:t>7. One Measure of Success — the safety and dignity of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24B"/>
                </a:solidFill>
                <a:latin typeface="Segoe UI"/>
              </a:rPr>
              <a:t>SAY: Ask the summit to adopt all seven, together, as one compact.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9509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2EFE6"/>
                </a:solidFill>
                <a:latin typeface="Segoe UI"/>
              </a:rPr>
              <a:t>"If every local government across the North-Central states is empowered, accountable and connected — we begin to build a regional security shield."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24B"/>
                </a:solidFill>
                <a:latin typeface="Segoe UI"/>
              </a:rPr>
              <a:t>He simply wants to arrive alive. That is the standard by which we must judge ourselves.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BFA9"/>
                </a:solidFill>
                <a:latin typeface="Segoe UI"/>
              </a:rPr>
              <a:t>AVM MONDAY RIKU MORGAN (RTD) · NORTH-CENTRAL SECURITY SUMMIT ·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34472" y="228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C9A24B"/>
                </a:solidFill>
                <a:latin typeface="Segoe UI"/>
              </a:rPr>
              <a:t>24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FA9"/>
                </a:solidFill>
                <a:latin typeface="Segoe UI"/>
              </a:rPr>
              <a:t>HARVARD-STYLE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24B"/>
                </a:solidFill>
                <a:latin typeface="Segoe U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966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ACLED (2026) Nigeria conflict and fatality data, North-Central zone, March-September 2026. acleddata.com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Berom Youth Moulders Association (2026) Incident data on Plateau attacks, May-July 2026, via HumAngle Media (2026).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Daily Trust (2026) 30 killed in attacks on four Niger mosques. dailytrust.com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India, MHA (2026) Multi-Agency Centre (MAC), est. post-2008 Mumbai attacks.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Israel, Home Front Command (2026) Civil defence rapid-response doctrine. idf.il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Kenya, National Police Service (2026) Nyumba Kumi Community Policing Initiative.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the Philippines, DILG (2026) Barangay Peacekeeping Action Teams (BPAT).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Government of the UK, MI5 (2026) Joint Terrorism Analysis Centre (JTAC). mi5.gov.uk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HumAngle Media (2026) Nigeria Conflict Tracker, March-June 2026. humanglemedia.com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HumAngle Media (2026) Residents recall a weekend of bloodshed across Benue and Plateau. humanglemedia.com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IOM (2026) Displacement Tracking Matrix (DTM), Nigeria, Round 18. Geneva: IOM.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National Counterterrorism Center (2026) About NCTC. dni.gov/nctc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North-Central Nigeria Governors' Forum (2025) Joint Security Operations Agreement.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Premium Times (2026) Nine family members, baby killed in Plateau attack. premiumtimesng.com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(2026a) Gunmen abduct over 60 worshippers, Nigeria mosque, police say. 22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(2026b) Video appears to show 600 people abducted, residents say. 24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Reuters (2026c) Nigerian gunmen raise over $5 million in mass kidnappings, study finds. 26 Aug.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Revo Culture (2026) Regional synthesis of Niger State Borgu attacks. revoculture.org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SBM Intelligence (2026) The Economics of Nigeria's Kidnap Industry (2026 Edition). Lagos.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D8D3C4"/>
                </a:solidFill>
                <a:latin typeface="Segoe UI"/>
              </a:rPr>
              <a:t>Vanguard (2026) 7,825 abducted, 1,142 killed in one year - SBM. vanguardngr.com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FBFA9"/>
                </a:solidFill>
                <a:latin typeface="Segoe UI"/>
              </a:rPr>
              <a:t>FULL HARVARD-STYLE REFERENCE LIST ALSO IN TALKING POINTS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