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ZEROPAY ATTACK VALIDATION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8B6F2E"/>
                </a:solidFill>
                <a:latin typeface="Calibri"/>
              </a:rPr>
              <a:t>Granular Operating Walkthrough — How We Independently Prove</a:t>
            </a:r>
          </a:p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8B6F2E"/>
                </a:solidFill>
                <a:latin typeface="Calibri"/>
              </a:rPr>
              <a:t>6 Attack Vectors Cannot Cause Fund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Prepared for: Tom Ugbodaga, Shareholder &amp; CEO — BETONIQ WEST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ZeroPay How It Works Series — Volume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What This Lab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0B1F3A"/>
                </a:solidFill>
                <a:latin typeface="Calibri"/>
              </a:rPr>
              <a:t>Not a facility we build — an engagement with an existing accredited hardware-security testing firm (Riscure/Brightsight/NCC Group-tier), who run 6 physical attack simulations directly against our terminal and Solar Mesh Hub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555555"/>
                </a:solidFill>
                <a:latin typeface="Calibri"/>
              </a:rPr>
              <a:t>Output: a signed, independently certified report — the evidence artifact that proves “uncapped, double-spend-proof, fully offline” to Kwati, CBN, and investors.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0789920" cy="1005840"/>
          </a:xfrm>
          <a:prstGeom prst="roundRect">
            <a:avLst/>
          </a:prstGeom>
          <a:solidFill>
            <a:srgbClr val="8B6F2E"/>
          </a:solidFill>
          <a:ln>
            <a:solidFill>
              <a:srgbClr val="8B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THIS TURNS “WE CLAIM IT'S SECURE” INTO “AN ACCREDITED THIRD PARTY VERIFIED IT”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PHYSICAL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The 6 Test Stations — Color-Coded by Attack 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A_st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08760"/>
            <a:ext cx="9235440" cy="6015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The Universal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555555"/>
                </a:solidFill>
                <a:latin typeface="Calibri"/>
              </a:rPr>
              <a:t>Every station feeds this same 5-stage pipeline before a result counts as final.</a:t>
            </a:r>
          </a:p>
        </p:txBody>
      </p:sp>
      <p:pic>
        <p:nvPicPr>
          <p:cNvPr id="6" name="Picture 5" descr="diagram_B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10881360" cy="3913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PUF CLONING ATTEMPT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B2FBE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Decap an identical chip, expose the die under microscope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Attempt to physically probe/read the PUF challenge-response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Program a clone chip with anything extracted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Run clone against our terminal's handshake — ~2,000 attempts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Die-level micro-probe station, decapsulation rig, logic analyzer, chip programmer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7B2FBE"/>
          </a:solidFill>
          <a:ln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0 successful clone authentications out of 2,000 attempts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ECC P-256 FORGERY &amp; FAULT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5FBE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Attempt signature forgery without the private key vs. NIST vectors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Trigger precisely-timed voltage glitches during signing (DFA)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Vary glitch timing in microsecond steps — ~5,000 attempts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Analyze any output signature for key-bit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Programmable voltage glitcher, oscilloscope, crypto conformance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1E5FBE"/>
          </a:solidFill>
          <a:ln>
            <a:solidFill>
              <a:srgbClr val="1E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0 forgeries; no glitch ever leaks partial key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RELAY ATTACK / DISTANCE-BOUNDING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08A1E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Two SDR/Proxmark-class proxies relay the NFC handshake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Test over WiFi, 4G, and satellite-latency emulation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1,500 relay attempts + genuine local-tap control set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Log round-trip time for every single attempt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SDR relay hardware (x2), network latency emulator, timing 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E08A1E"/>
          </a:solidFill>
          <a:ln>
            <a:solidFill>
              <a:srgbClr val="E0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100% rejection above 5ms added latency; 0% false rejection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DOUBLE-SPEND / TOKEN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9E5A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Capture a genuine signed token via protocol sniffer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Replay it, attempt power-cut counter rollback, cold-boot read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~1,000 trials per sub-test with randomized timing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Verify decrement-before-transmit sequencing via power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Protocol sniffer, power-cut rig, cold-boot extraction tool, oscilloscope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1E9E5A"/>
          </a:solidFill>
          <a:ln>
            <a:solidFill>
              <a:srgbClr val="1E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100% rejection of every replay/rollback attempt, zero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SOLAR MESH HUB TAMPERING / THEFT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392B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Simulate physical hub theft — extract battery, radio, token queue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Attempt to inject/alter/replay tokens in the relay stream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Confirm hub never held a terminal signing key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Send all attempts to a mock settlement backend for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Physical hub unit, signal injection tool, mock settlement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0 forged or altered tokens accepted by 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SIDE-CHANNEL / PHYSICAL KEY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B8860B"/>
                </a:solidFill>
                <a:latin typeface="Calibri"/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1.  Monitor power draw and EM emissions during signing/PUF ops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2.  Capture ~10,000 operation traces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3.  Run differential power/EM correlation analysis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0B1F3A"/>
                </a:solidFill>
                <a:latin typeface="Calibri"/>
              </a:rPr>
              <a:t>4.  Flag any statistically significant key-bit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83080"/>
            <a:ext cx="4114800" cy="1371600"/>
          </a:xfrm>
          <a:prstGeom prst="roundRect">
            <a:avLst/>
          </a:prstGeom>
          <a:solidFill>
            <a:srgbClr val="2E2E2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INSTRUMENTS USED
Oscilloscope, EM near-field probe, side-channel analysis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37560"/>
            <a:ext cx="4114800" cy="1554480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 THRESHOLD
0 recoverable key bits across all 10,000 traces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All 6 Tests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40080" cy="640080"/>
          </a:xfrm>
          <a:prstGeom prst="roundRect">
            <a:avLst/>
          </a:prstGeom>
          <a:solidFill>
            <a:srgbClr val="7B2FBE"/>
          </a:solidFill>
          <a:ln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600200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PUF Cloning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0/2,000 clones succeed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13432"/>
            <a:ext cx="640080" cy="640080"/>
          </a:xfrm>
          <a:prstGeom prst="roundRect">
            <a:avLst/>
          </a:prstGeom>
          <a:solidFill>
            <a:srgbClr val="1E5FBE"/>
          </a:solidFill>
          <a:ln>
            <a:solidFill>
              <a:srgbClr val="1E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313432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ECC Forgery / Fault Injection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13432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0/5,000 forgeries; no key leak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640080" cy="640080"/>
          </a:xfrm>
          <a:prstGeom prst="roundRect">
            <a:avLst/>
          </a:prstGeom>
          <a:solidFill>
            <a:srgbClr val="E08A1E"/>
          </a:solidFill>
          <a:ln>
            <a:solidFill>
              <a:srgbClr val="E0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026664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Relay / Distance-Bounding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26664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100% rejected above 5ms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39896"/>
            <a:ext cx="640080" cy="640080"/>
          </a:xfrm>
          <a:prstGeom prst="roundRect">
            <a:avLst/>
          </a:prstGeom>
          <a:solidFill>
            <a:srgbClr val="1E9E5A"/>
          </a:solidFill>
          <a:ln>
            <a:solidFill>
              <a:srgbClr val="1E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739896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Double-Spend /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39896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100% rejected, 1,000 trials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53128"/>
            <a:ext cx="640080" cy="64008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453128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Hub Tampering / Theft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53128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0 forged tokens accepted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640080" cy="640080"/>
          </a:xfrm>
          <a:prstGeom prst="round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5166360"/>
            <a:ext cx="484632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A"/>
                </a:solidFill>
              </a:rPr>
              <a:t>Side-Channel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166360"/>
            <a:ext cx="5349240" cy="640080"/>
          </a:xfrm>
          <a:prstGeom prst="roundRect">
            <a:avLst/>
          </a:prstGeom>
          <a:solidFill>
            <a:srgbClr val="F7F3E8"/>
          </a:solidFill>
          <a:ln>
            <a:solidFill>
              <a:srgbClr val="F7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B1F3A"/>
                </a:solidFill>
              </a:rPr>
              <a:t>0 key bits recovered, 10,000 traces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Who Actually Runs This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TESTING FIRM'S TEAM  (covered by the $28,000 engagement fee)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789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Lab Test Lead / Principal Security Engineer — owns methodology, signs the report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Hardware/RF Test Engineer — Tests 3 &amp; 6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Embedded Security Test Engineer — Test 1 + fault-injection half of Test 2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Cryptography Analyst — forgery half of Test 2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Firmware/Protocol Test Engineer — Tests 4 &amp; 5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QA/Data Analyst &amp; Report Writer — owns the data pipeline, compiles final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OUR SIDE  (BETONIQ WEST LTD)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Agent 1 — Protocol &amp; Security Architect: technical liaison, hands over prototype, owns remediation work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Calibri"/>
              </a:rPr>
              <a:t>Tom Ugbodaga — Shareholder &amp; CEO: final sign-off authority before any production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6F2E"/>
                </a:solidFill>
                <a:latin typeface="Calibri"/>
              </a:rP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Exact Cost — Already Inside the $1M Kwati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926080" cy="54864"/>
          </a:xfrm>
          <a:prstGeom prst="rect">
            <a:avLst/>
          </a:prstGeom>
          <a:solidFill>
            <a:srgbClr val="8B6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555555"/>
                </a:solidFill>
                <a:latin typeface="Calibri"/>
              </a:rPr>
              <a:t>This is the existing Independent Security Validation line item, not a new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6868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>
                <a:solidFill>
                  <a:srgbClr val="0B1F3A"/>
                </a:solidFill>
              </a:rPr>
              <a:t>Independent third-party security testing partner (runs all 6 tests)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103120"/>
            <a:ext cx="2240280" cy="6400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$28,000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86868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>
                <a:solidFill>
                  <a:srgbClr val="0B1F3A"/>
                </a:solidFill>
              </a:rPr>
              <a:t>Staged field validation exercise, one pilot site per zone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2880360"/>
            <a:ext cx="2240280" cy="6400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$9,000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86868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>
                <a:solidFill>
                  <a:srgbClr val="0B1F3A"/>
                </a:solidFill>
              </a:rPr>
              <a:t>Remediation engineering buffer (pre Tranche 2/3 release)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3657600"/>
            <a:ext cx="2240280" cy="6400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$12,000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8686800" cy="731520"/>
          </a:xfrm>
          <a:prstGeom prst="roundRect">
            <a:avLst/>
          </a:prstGeom>
          <a:solidFill>
            <a:srgbClr val="8B6F2E"/>
          </a:solidFill>
          <a:ln>
            <a:solidFill>
              <a:srgbClr val="8B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TOTAL — INDEPENDENT SECURITY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4572000"/>
            <a:ext cx="2240280" cy="731520"/>
          </a:xfrm>
          <a:prstGeom prst="roundRect">
            <a:avLst/>
          </a:prstGeom>
          <a:solidFill>
            <a:srgbClr val="8B6F2E"/>
          </a:solidFill>
          <a:ln>
            <a:solidFill>
              <a:srgbClr val="8B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$49,000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55555"/>
                </a:solidFill>
                <a:latin typeface="Calibri"/>
              </a:rPr>
              <a:t>ZeroPay How It Works — Vol. 2  |  Attack Validation Lab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This report is what converts “we claim it's double-spend-proof”</a:t>
            </a:r>
          </a:p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into “an accredited third party independently verified it.”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8B6F2E"/>
                </a:solidFill>
                <a:latin typeface="Calibri"/>
              </a:rPr>
              <a:t>The exact artifact Kwati, CBN, and serious investors expect before real capital moves past Tranche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99999"/>
                </a:solidFill>
                <a:latin typeface="Calibri"/>
              </a:rPr>
              <a:t>BETONIQ WEST LTD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