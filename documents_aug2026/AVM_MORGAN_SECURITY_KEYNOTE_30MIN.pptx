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33"/>
    <p:sldId id="28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-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pen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260" y="-1"/>
            <a:ext cx="12810956" cy="720634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B1F3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NORTH-CENTRAL NIGERIA SECURITY SUMMIT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262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COLLABORATIVE APPROACHES TO STRENGTHENING
SECURITY IN NORTH-CENTRAL NIGERIA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Towards a People-Centred, Intelligence-Led and Sustainable Security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Air Vice Marshal Monday Riku Morgan (Rtd)  |  Former Chief of Defence Intelligence  |  30-Minute Keynote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One Ecosystem, Not Separate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49377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A mother in Benue sending her children to school,</a:t>
            </a: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wondering if they'll return safely.</a:t>
            </a:r>
          </a:p>
          <a:p>
            <a:pPr algn="l">
              <a:lnSpc>
                <a:spcPct val="125000"/>
              </a:lnSpc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A farmer in Plateau who fears the next sound may</a:t>
            </a: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be gunfire, not birdsong.</a:t>
            </a:r>
          </a:p>
          <a:p>
            <a:pPr algn="l">
              <a:lnSpc>
                <a:spcPct val="125000"/>
              </a:lnSpc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A traditional ruler in Niger State who sees armed men</a:t>
            </a: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enter the forest — but doesn't know whom to call.</a:t>
            </a:r>
          </a:p>
          <a:p>
            <a:pPr algn="l">
              <a:lnSpc>
                <a:spcPct val="125000"/>
              </a:lnSpc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A soldier redeployed again and again, without the</a:t>
            </a: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intelligence or mobility to prevent the next attack.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68112" cy="49377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37744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CENTRAL ARGUMENT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49377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North-Central Nigeria cannot defeat insecurity
through military operations alone.
It requires a permanent partnership between the
military, police, intelligence services, state and
local governments, traditional institutions,
communities, technology providers, and citizens.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North-Central Security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3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Benue • Kogi • Kwara • Nasarawa • Niger • Plateau • FCT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The bridge between North and South Nigeria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Major agricultural belts, forests, highways, energy infrastructure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Terrorism &amp; infiltration, banditry, kidnapping for ransom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Farmer-herder conflict, communal violence, arms trafficking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Illegal mining, rural criminality, armed group proliferation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Youth recruitment into criminal networks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ACLED recorded hundreds of security incidents and
substantial fatalities in Benue, Plateau and Niger
between Jan 2024 – Dec 2025.
Niger and parts of Kwara face terrorist activity and
cross-border movement of armed groups.
The enemy does not respect state boundaries.
Why should our response?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Central Problem — We Are Too Reactive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4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Attack
Occurs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74520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75688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People
Killed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93008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94176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Police
Alerted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11496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12664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Military
Mobilised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29984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31152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Attackers
Vanish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48472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49640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Community
Searched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966960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68128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We Wait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40"/>
            <a:ext cx="112471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7947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D4AF37"/>
                </a:solidFill>
                <a:latin typeface="Calibri"/>
              </a:rPr>
              <a:t>This is a cycle of reaction without prevention.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617720"/>
            <a:ext cx="4480560" cy="146304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4800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FROM:
“An attack has occurred.
What do we do?”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617720"/>
            <a:ext cx="4480560" cy="1463040"/>
          </a:xfrm>
          <a:prstGeom prst="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800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TO:
“What is the probability of an
attack, and what can we do
today to prevent it?”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ycl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51560"/>
            <a:ext cx="5577840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Security as Collective 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5 /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No single agency can do everything.
Together, they can know almost everything that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194560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Collect information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35808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035808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35808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Move it fast to those who need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77056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6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877056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Establish responsibility &amp; command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18304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718304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718304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Respond proportionately &amp; rapidly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59552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559552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559552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Analyse and prevent repetition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One Security Picture, Multiple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6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Armed
Forces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Police
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NSCDC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0175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NDLEA /
Customs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0175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State
Security
Councils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Local Govt
Structures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6177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Traditional
Institutions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6177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Community
&amp; Civil Society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417320"/>
            <a:ext cx="352044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“The intelligence value is created
when these pieces are fused
into ONE threat picture.”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Regional Security Intelligence &amp; Fusion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7 / 27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Where is the threat?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4028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4028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Who is responsible?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01752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What is their capability?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9476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What are they likely to do next?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57200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7200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What resource can respond fastest?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5120640" cy="475488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LIVING OPERATIONAL PICTURE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Attack locations &amp; kidnapping incidents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Suspicious movements &amp; criminal corridors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Conflict flashpoints &amp; abandoned settlements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Vulnerable highways, forests, difficult terrain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Illegal mining &amp; arms trafficking routes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Displacement concentrations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From Intelligence Collection to Intelligence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8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“How long does it take for a credible warning from a village to become an operational decision?”</a:t>
            </a:r>
          </a:p>
        </p:txBody>
      </p:sp>
      <p:sp>
        <p:nvSpPr>
          <p:cNvPr id="10" name="Chevron 9"/>
          <p:cNvSpPr/>
          <p:nvPr/>
        </p:nvSpPr>
        <p:spPr>
          <a:xfrm>
            <a:off x="457200" y="2377440"/>
            <a:ext cx="1508760" cy="1188720"/>
          </a:xfrm>
          <a:prstGeom prst="chevron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11" name="Chevron 10"/>
          <p:cNvSpPr/>
          <p:nvPr/>
        </p:nvSpPr>
        <p:spPr>
          <a:xfrm>
            <a:off x="2103120" y="2377440"/>
            <a:ext cx="1508760" cy="1188720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0B1F3A"/>
                </a:solidFill>
              </a:rPr>
              <a:t>Local Intel
Node</a:t>
            </a:r>
          </a:p>
        </p:txBody>
      </p:sp>
      <p:sp>
        <p:nvSpPr>
          <p:cNvPr id="12" name="Chevron 11"/>
          <p:cNvSpPr/>
          <p:nvPr/>
        </p:nvSpPr>
        <p:spPr>
          <a:xfrm>
            <a:off x="3749040" y="2377440"/>
            <a:ext cx="1508760" cy="1188720"/>
          </a:xfrm>
          <a:prstGeom prst="chevron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Fusion
Centre</a:t>
            </a:r>
          </a:p>
        </p:txBody>
      </p:sp>
      <p:sp>
        <p:nvSpPr>
          <p:cNvPr id="13" name="Chevron 12"/>
          <p:cNvSpPr/>
          <p:nvPr/>
        </p:nvSpPr>
        <p:spPr>
          <a:xfrm>
            <a:off x="5394960" y="2377440"/>
            <a:ext cx="1508760" cy="1188720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0B1F3A"/>
                </a:solidFill>
              </a:rPr>
              <a:t>Threat
Assessment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0880" y="2377440"/>
            <a:ext cx="1508760" cy="1188720"/>
          </a:xfrm>
          <a:prstGeom prst="chevron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Security
Agency</a:t>
            </a:r>
          </a:p>
        </p:txBody>
      </p:sp>
      <p:sp>
        <p:nvSpPr>
          <p:cNvPr id="15" name="Chevron 14"/>
          <p:cNvSpPr/>
          <p:nvPr/>
        </p:nvSpPr>
        <p:spPr>
          <a:xfrm>
            <a:off x="8686800" y="2377440"/>
            <a:ext cx="1508760" cy="1188720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0B1F3A"/>
                </a:solidFill>
              </a:rPr>
              <a:t>Rapid
Response</a:t>
            </a:r>
          </a:p>
        </p:txBody>
      </p:sp>
      <p:sp>
        <p:nvSpPr>
          <p:cNvPr id="16" name="Chevron 15"/>
          <p:cNvSpPr/>
          <p:nvPr/>
        </p:nvSpPr>
        <p:spPr>
          <a:xfrm>
            <a:off x="10332720" y="2377440"/>
            <a:ext cx="1508760" cy="1188720"/>
          </a:xfrm>
          <a:prstGeom prst="chevron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Confirmation
+ Follow-up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1247120" cy="1737360"/>
          </a:xfrm>
          <a:prstGeom prst="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The community must receive feedback. If people repeatedly provide information and
nothing happens, they stop reporting. If they see that lives are saved, trust grows.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y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COMMUNITY MUST BECOME THE FIRST SENSOR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B1F3A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Farmers • Hunters • Teachers • Traditional Rulers • Transporters • Religious Leaders • Health Workers • Market Women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 structured Community Early Warning and Early Response Network —
not a vigilante system, not a parallel intelligence service —
a disciplined, legally governed community information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Traditional Rulers in the Security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10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Know who lives in — and enters — their domain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Aware of families in conflict and land/resource disputes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Often the first to see radicalisation among youth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Know criminal routes and rising community tensions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Currently consulted mostly AFTER violence occurs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49377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STRUCTURED INTERFACE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148840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214884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Traditional Council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807208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2807208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Police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465576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3465576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DSS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123944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4123944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Military Liaison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782312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4782312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Local Government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5440680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544068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Community Reps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Security Corridors, Not Administrative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11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A criminal group does not stop at a state border. Neither should our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Kwara – Niger – Kainji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0312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Niger – Kaduna – FCT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Benue – Nasarawa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Benue – Taraba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Plateau – Bauchi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Kogi – Nasarawa – Benue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North-Central governors agreed in 2025 to pursue joint security operations. The next step: institutionalise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Rapid Response — The 30 to 60 Minute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12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 i="0">
                <a:solidFill>
                  <a:srgbClr val="D4AF37"/>
                </a:solidFill>
                <a:latin typeface="Calibri"/>
              </a:rPr>
              <a:t>30–60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92024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MINUTES CAN DETERMINE WHETHER AN INCIDENT
BECOMES A FAILED ATTACK OR A MASS-CASUALTY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Police rapid response units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Military quick reaction forces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Mobile security teams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Medical evacuation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3832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Aviation support where appropriate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Communications support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Community liaison officers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Pre-positioned, not reactive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263640"/>
            <a:ext cx="1115568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Technology Should Multiply Human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13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Unmanned Aerial
Surveillance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Satellite Imagery &amp;
Geospatial Intel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Secure
Communications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Digital Incident
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Vehicle &amp; Movement
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92608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Lawful Telecoms
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Biometric &amp;
Identity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48056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GIS Crime
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48056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Pattern
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 i="1">
                <a:solidFill>
                  <a:srgbClr val="D4AF37"/>
                </a:solidFill>
                <a:latin typeface="Calibri"/>
              </a:rPr>
              <a:t>“If a drone cannot transmit useful information to a commander who can act on it, it is merely an expensive flying camera.”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Forest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14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Provides concealment, mobility, temporary camps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Access to water and routes between communities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Sanctuary from conventional policing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FOREST SECURITY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Human Intelligence + Aerial Surveillance +
Geospatial Mapping + Community Information +
Controlled Access + Law Enforcement +
Sustained Presence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4846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E8EAEE"/>
                </a:solidFill>
                <a:latin typeface="Calibri"/>
              </a:rPr>
              <a:t>Goal: deny armed groups sanctuary, mobility,
supplies, communications, financing and
freedom of movement — without treating every
farmer or hunter as a suspect.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Separate the Criminal from the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15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Fulani pastoralist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37160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terrorist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8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Tiv farmer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029968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29968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militia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88336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An Idoma youth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688336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88336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criminal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46704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Muslim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34670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46704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terrorist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05072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Christian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00507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005072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militia 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traditional hunter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66344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6634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automatically a vigilante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864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Identify perpetrators by behaviour and evidence — never by ethnicity, religion or community.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Farmer-Herder Conflict as a Governance 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16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We cannot shoot our way out of every dispute. Some are criminal. Most are about: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1493520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Land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3600" y="1920240"/>
            <a:ext cx="1546860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63340" y="1920240"/>
            <a:ext cx="2026919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Grazing 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3139" y="1920240"/>
            <a:ext cx="2133599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Crop Destruction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9618" y="1920240"/>
            <a:ext cx="2080260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Cattle Rustling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06040"/>
            <a:ext cx="1760219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Migration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00299" y="2606040"/>
            <a:ext cx="2186940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Boundary Disputes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70119" y="2606040"/>
            <a:ext cx="2133599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Climate Pressure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11155680" cy="2286000"/>
          </a:xfrm>
          <a:prstGeom prst="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106070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Requires: functioning livestock management systems, negotiated grazing and stock routes,
conflict-resolution mechanisms, land-use planning, livestock identification, compensation
mechanisms, farmer-herder dialogue, and credible enforcement.
Where governance fails, criminality fills the vacuum.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Young People — The Most Important Long-Term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17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“What does a 17-year-old boy in a forgotten rural community see as his future?
If the answer is nothing, somebody else will offer him something.”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Vocational
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14600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Agriculture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514600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Technology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39312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Apprenticeships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39312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Sports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639312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Entrepreneurship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64024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Education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764024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Community
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764024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Targeted
Deradicalisation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SECTIONS 16 –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Women as Security Partners &amp; the Role of Local Government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18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4068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WOMEN AS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Know who has disappeared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Notice changed behaviour in children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Aware of unusual household visitors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Track displaced-people movement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Must be integrated operationally, not symbolically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4068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LOCAL GOVERNMENT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Security cannot be Abuja-centric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LGA links: Chairman + Police + DSS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+ Military Liaison + Traditional Rulers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+ Health, Emergency &amp; Community Reps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Closer to community = faster warning &amp; response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State Police — An Opportunity That Requires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19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The real question: how do we put competent officers close to the community
while preventing political abuse?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Complement, not replace,
the Nigeria Police 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860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National minimum
standards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860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Professional
recruitment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Independent complaints
mechanisms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8862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Clear rules of
engagement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8862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Legislative &amp;
judicial oversight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SECTIONS 19 –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Predictable Funding &amp; Personnel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20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4068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SECURITY 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846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Northern Nigerian Security Trust Fund
inaugurated July 2026 — a foundation,
not the finish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Must be: transparent + professionally
managed + audited + measurable.
“Every naira spent should answer:
what security capability did this create?”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44068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PERSONNEL WELFARE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Reliable communication &amp; accommodation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Medical care, food, transportation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Equipment maintenance &amp; rotation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Psychological support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“Morale is a combat capability.”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Three-Layer Security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21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4047" y="1554480"/>
            <a:ext cx="5943600" cy="1417320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LAYER 3 — FEDERAL</a:t>
            </a:r>
          </a:p>
          <a:p>
            <a:pPr algn="ctr"/>
            <a:r>
              <a:rPr sz="2000">
                <a:solidFill>
                  <a:srgbClr val="0B1F3A"/>
                </a:solidFill>
              </a:rPr>
              <a:t>Airpower • Special Operations • Heavy Mobility • Strategic Surveillance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9607" y="3154680"/>
            <a:ext cx="84124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2 — STATE</a:t>
            </a:r>
          </a:p>
          <a:p>
            <a:pPr algn="ctr"/>
            <a:r>
              <a:rPr sz="2000">
                <a:solidFill>
                  <a:srgbClr val="E8EAEE"/>
                </a:solidFill>
              </a:rPr>
              <a:t>Police • DSS • NSCDC • Analysis &amp; Coordination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167" y="4754880"/>
            <a:ext cx="1088136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1 — COMMUNITY</a:t>
            </a:r>
          </a:p>
          <a:p>
            <a:pPr algn="ctr"/>
            <a:r>
              <a:rPr sz="2000">
                <a:solidFill>
                  <a:srgbClr val="E8EAEE"/>
                </a:solidFill>
              </a:rPr>
              <a:t>Traditional Rulers • Citizens • Local Govt • Early 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three layers must operate as ONE system.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24-Hour Security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22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4406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D4AF37"/>
                </a:solidFill>
              </a:rPr>
              <a:t>00:00 – 06:00</a:t>
            </a:r>
          </a:p>
          <a:p>
            <a:pPr algn="ctr"/>
            <a:r>
              <a:rPr sz="1400" dirty="0">
                <a:solidFill>
                  <a:srgbClr val="FFFFFF"/>
                </a:solidFill>
              </a:rPr>
              <a:t>Intelligence
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D4AF37"/>
                </a:solidFill>
              </a:rPr>
              <a:t>06:00 – 12:00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Community Reporting &amp;
Operational Assessment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54406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D4AF37"/>
                </a:solidFill>
              </a:rPr>
              <a:t>12:00 – 18:00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Patrol, Surveillance &amp;
Preventive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4406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D4AF37"/>
                </a:solidFill>
              </a:rPr>
              <a:t>18:00 – 00:00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Night Security Posture &amp;
Rapid-Response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 i="1">
                <a:solidFill>
                  <a:srgbClr val="D4AF37"/>
                </a:solidFill>
                <a:latin typeface="Calibri"/>
              </a:rPr>
              <a:t>Security never sleeps simply because government offices have closed.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Should Happen in the Next 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23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1.  </a:t>
            </a:r>
            <a:r>
              <a:rPr sz="1300">
                <a:solidFill>
                  <a:srgbClr val="FFFFFF"/>
                </a:solidFill>
              </a:rPr>
              <a:t>Create a North-Central Security Coordination Secretariat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2.  </a:t>
            </a:r>
            <a:r>
              <a:rPr sz="1300">
                <a:solidFill>
                  <a:srgbClr val="FFFFFF"/>
                </a:solidFill>
              </a:rPr>
              <a:t>Establish a regional intelligence-fusion mechanism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3.  </a:t>
            </a:r>
            <a:r>
              <a:rPr sz="1300">
                <a:solidFill>
                  <a:srgbClr val="FFFFFF"/>
                </a:solidFill>
              </a:rPr>
              <a:t>Map all major criminal and terrorist corridors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4.  </a:t>
            </a:r>
            <a:r>
              <a:rPr sz="1300">
                <a:solidFill>
                  <a:srgbClr val="FFFFFF"/>
                </a:solidFill>
              </a:rPr>
              <a:t>Identify the 100 most vulnerable communities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3756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5.  </a:t>
            </a:r>
            <a:r>
              <a:rPr sz="1300">
                <a:solidFill>
                  <a:srgbClr val="FFFFFF"/>
                </a:solidFill>
              </a:rPr>
              <a:t>Create community early-warning networks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33756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6.  </a:t>
            </a:r>
            <a:r>
              <a:rPr sz="1300">
                <a:solidFill>
                  <a:srgbClr val="FFFFFF"/>
                </a:solidFill>
              </a:rPr>
              <a:t>Establish rapid-response protocols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7.  </a:t>
            </a:r>
            <a:r>
              <a:rPr sz="1300">
                <a:solidFill>
                  <a:srgbClr val="FFFFFF"/>
                </a:solidFill>
              </a:rPr>
              <a:t>Link governors' security councils digitally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34340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8.  </a:t>
            </a:r>
            <a:r>
              <a:rPr sz="1300">
                <a:solidFill>
                  <a:srgbClr val="FFFFFF"/>
                </a:solidFill>
              </a:rPr>
              <a:t>Common training for military, police &amp; liaisons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4924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9.  </a:t>
            </a:r>
            <a:r>
              <a:rPr sz="1300">
                <a:solidFill>
                  <a:srgbClr val="FFFFFF"/>
                </a:solidFill>
              </a:rPr>
              <a:t>Transparent regional security funding mechanism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34924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10.  </a:t>
            </a:r>
            <a:r>
              <a:rPr sz="1300">
                <a:solidFill>
                  <a:srgbClr val="FFFFFF"/>
                </a:solidFill>
              </a:rPr>
              <a:t>Publish measurable security indicators quarterly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North-Central Security Compact — Seven Commitments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24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D4AF37"/>
                </a:solidFill>
              </a:rPr>
              <a:t>1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Threat Picture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We share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D4AF37"/>
                </a:solidFill>
              </a:rPr>
              <a:t>2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Early-Warning System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We listen to communities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D4AF37"/>
                </a:solidFill>
              </a:rPr>
              <a:t>3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Rapid-Response Philosophy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We respond before massacres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37160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D4AF37"/>
                </a:solidFill>
              </a:rPr>
              <a:t>4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Professional Standard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Discipline, law, dignity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4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D4AF37"/>
                </a:solidFill>
              </a:rPr>
              <a:t>5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Regional Approach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No exploiting state 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74904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D4AF37"/>
                </a:solidFill>
              </a:rPr>
              <a:t>6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Development Agenda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Secure &amp; rebuild together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40"/>
            <a:ext cx="2697480" cy="2148840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0B1F3A"/>
                </a:solidFill>
              </a:rPr>
              <a:t>7</a:t>
            </a:r>
          </a:p>
          <a:p>
            <a:pPr algn="ctr"/>
            <a:r>
              <a:rPr sz="1300" b="1">
                <a:solidFill>
                  <a:srgbClr val="0B1F3A"/>
                </a:solidFill>
              </a:rPr>
              <a:t>One Measure of Success</a:t>
            </a:r>
          </a:p>
          <a:p>
            <a:pPr algn="ctr"/>
            <a:r>
              <a:rPr sz="1050">
                <a:solidFill>
                  <a:srgbClr val="0B1F3A"/>
                </a:solidFill>
              </a:rPr>
              <a:t>Safety &amp; dignity of the citizen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Success Should Look Like in Three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25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Kidnapping has fallen substantially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Attacks on rural communities are declining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Major highways are secure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Farmers can return to their farms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Displaced families are returning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Criminal sanctuaries are progressively denied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Intelligence moves faster, response times shorter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Communities trust security agencies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Security personnel are better supported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Networks dismantled via arrests &amp; prosecution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Biggest Change We Need Is 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26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troops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40680" y="1645920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95728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weapons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40680" y="2578608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395728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28416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operations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40680" y="3511296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328416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61104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money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40680" y="4443984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261104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93792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security personnel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440680" y="5376672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5193792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More trust between forces and people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B1F3A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1">
                <a:solidFill>
                  <a:srgbClr val="FFFFFF"/>
                </a:solidFill>
                <a:latin typeface="Calibri"/>
              </a:rPr>
              <a:t>“He simply wants to arrive alive.”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E8EAEE"/>
                </a:solidFill>
                <a:latin typeface="Calibri"/>
              </a:rPr>
              <a:t>That is the standard by which we must judge ourselves — and it is not beyond the capacity of Nigeria.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THANK YOU  —  Air Vice Marshal Monday Riku Morgan (Rtd)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28 /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127639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1.  Armed Conflict Location and Event Data Project (ACLED) — conflict and fatality data, Benue, Plateau and Niger States, January 2024 to December 2025.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2.  Northern Nigerian Security Trust Fund — inaugurated July 2026.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3.  Plan Colombia and associated community-intelligence and reintegration programmes, Colombia, 1990s to 2000s.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4.  Nyumba Kumi community policing initiative, Kenya.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5.  Barangay Peacekeeping Action Teams, Philippines.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6.  Joint Terrorism Analysis Centre (JTAC), United Kingdom.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7.  National Counterterrorism Center (NCTC), United States.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8.  Multi-Agency Centre (MAC), India — established following the 2008 Mumbai attacks.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9.  Israel's civil defence rapid-response and pre-positioning doctrine.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10.  Post-Good Friday Agreement youth reintegration programmes, Northern Ireland.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11.  Provincial policing powers debate, South Africa.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12.  Cross-border grazing and pastoralist dialogue initiatives across the Sahel, including the Kenya-Ethiopia grazing corridor agreements.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FFFF"/>
                </a:solidFill>
              </a:rPr>
              <a:t>13.  North-Central Nigeria Governors' Forum joint security operations agreement, 2025.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References (Harvard Style)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29 /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7639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50">
                <a:solidFill>
                  <a:srgbClr val="FFFFFF"/>
                </a:solidFill>
              </a:rPr>
              <a:t>ACLED (2026) Armed Conflict Location &amp; Event Data Project: Nigeria Regional Data, Benue, Plateau and Niger States, 2024-2025. Available at: https://acleddata.com (Accessed: 18 August 2026).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</a:rPr>
              <a:t>Federal Government of Nigeria (2026) Northern Nigerian Security Trust Fund: Inauguration Statement, July 2026. Abuja: Office of the National Security Adviser.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</a:rPr>
              <a:t>Government of Colombia, Ministry of Defence (2016) Plan Colombia: Lessons Learned in Community Intelligence and Reintegration. Bogotá: Ministry of Defence.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</a:rPr>
              <a:t>Government of Kenya, Ministry of Interior and Coordination of National Government (2013) Nyumba Kumi Community Policing Initiative. Nairobi: Government Printer.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</a:rPr>
              <a:t>Government of the Philippines, Department of the Interior and Local Government (2010) Barangay Peacekeeping Action Teams: Community-Based Security Handbook. Manila: DILG.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</a:rPr>
              <a:t>HM Government, Home Office (2015) Joint Terrorism Analysis Centre (JTAC): Roles and Responsibilities. London: The Stationery Office.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</a:rPr>
              <a:t>Office of the Director of National Intelligence (2021) National Counterterrorism Center: Mission and Structure. Washington, DC: ODNI.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</a:rPr>
              <a:t>Government of India, Ministry of Home Affairs (2009) Multi-Agency Centre (MAC): Post-26/11 Intelligence Reform. New Delhi: Government of India Press.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</a:rPr>
              <a:t>Israel Ministry of Defence, Home Front Command (2018) Civil Defence Rapid-Response Doctrine. Tel Aviv: Ministry of Defence.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</a:rPr>
              <a:t>Office of the First Minister and Deputy First Minister (2007) Good Friday Agreement Youth Reintegration Programmes: A Review. Belfast: OFMDFM.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</a:rPr>
              <a:t>Civilian Secretariat for Police Service, Republic of South Africa (2019) Provincial Policing Powers: Constitutional Review Discussion Paper. Pretoria: Government Printer.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</a:rPr>
              <a:t>Food and Agriculture Organization of the United Nations (2020) Cross-Border Grazing and Pastoralist Dialogue in the Sahel and Horn of Africa. Rome: FAO.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</a:rPr>
              <a:t>North-Central Nigeria Governors' Forum (2025) Joint Security Operations Agreement. Minna: North-Central Governors' Forum Secretariat.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2315</Words>
  <Application>Microsoft Office PowerPoint</Application>
  <PresentationFormat>Widescreen</PresentationFormat>
  <Paragraphs>391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TOM DEGGS</dc:creator>
  <cp:keywords/>
  <dc:description>generated using python-pptx</dc:description>
  <cp:lastModifiedBy>Tom Deggs</cp:lastModifiedBy>
  <cp:revision>2</cp:revision>
  <dcterms:created xsi:type="dcterms:W3CDTF">2013-01-27T09:14:16Z</dcterms:created>
  <dcterms:modified xsi:type="dcterms:W3CDTF">2026-08-15T14:36:10Z</dcterms:modified>
  <cp:category/>
</cp:coreProperties>
</file>