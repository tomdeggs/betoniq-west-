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B1F3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Ecosystem, Not Separate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 /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mother in Benue sending her children to school,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wondering if they'll return safely.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farmer in Plateau who fears the next sound may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be gunfire, not birdsong.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traditional ruler in Niger State who sees armed men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enter the forest — but doesn't know whom to call.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soldier redeployed again and again, without the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intelligence or mobility to prevent the next attack.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68112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CENTRAL ARGUMENT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North-Central Nigeria cannot defeat insecurity
through military operations alone.
It requires a permanent partnership between the
military, police, intelligence services, state and
local governments, traditional institutions,
communities, technology providers, and citizens.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3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The bridge between North and South Nigeria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Major agricultural belts, forests, highways, energy infrastructure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Terrorism &amp; infiltration, banditry, kidnapping for ransom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Farmer-herder conflict, communal violence, arms trafficking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Illegal mining, rural criminality, armed group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Youth recruitment into criminal networks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ACLED recorded hundreds of security incidents and
substantial fatalities in Benue, Plateau and Niger
between Jan 2024 – Dec 2025.
Niger and parts of Kwara face terrorist activity and
cross-border movement of armed groups.
The enemy does not respect state boundaries.
Why should our response?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Problem — 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4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
Occurs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People
Killed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Police
Alerted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Military
Mobilised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Attackers
Vanish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Community
Searched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We Wait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This is a cycle of reaction without prevention.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FROM:
“An attack has occurred.
What do we do?”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TO:
“What is the probability of an
attack, and what can we do
today to prevent it?”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as Collective 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5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No single agency can do everything.
Together, they can know almost everything that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Collect information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Move it fast to those who need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Establish responsibility &amp; command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Respond proportionately &amp; rapidly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Analyse and prevent repetition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Security Picture, Multiple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6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Armed
Forces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Police
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DSS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NSCDC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“The intelligence value is created
when these pieces are fused
into ONE threat picture.”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Regional Security Intelligence &amp; Fusion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7 / 27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Where is the threat?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Who is responsible?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is their capability?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are they likely to do next?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resource can respond fastest?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LIVING OPERATIONAL PICTURE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Attack locations &amp; kidnapping incidents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Suspicious movements &amp; criminal corridors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Conflict flashpoints &amp; abandoned settlements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Vulnerable highways, forests, difficult terrain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Illegal mining &amp; arms trafficking routes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Displacement concentrations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Intelligence Collection to Intelligence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8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“How long does it take for a credible warning from a village to become an operational decision?”</a:t>
            </a:r>
          </a:p>
        </p:txBody>
      </p:sp>
      <p:sp>
        <p:nvSpPr>
          <p:cNvPr id="10" name="Chevron 9"/>
          <p:cNvSpPr/>
          <p:nvPr/>
        </p:nvSpPr>
        <p:spPr>
          <a:xfrm>
            <a:off x="45720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Community</a:t>
            </a:r>
          </a:p>
        </p:txBody>
      </p:sp>
      <p:sp>
        <p:nvSpPr>
          <p:cNvPr id="11" name="Chevron 10"/>
          <p:cNvSpPr/>
          <p:nvPr/>
        </p:nvSpPr>
        <p:spPr>
          <a:xfrm>
            <a:off x="210312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Local Intel
Node</a:t>
            </a:r>
          </a:p>
        </p:txBody>
      </p:sp>
      <p:sp>
        <p:nvSpPr>
          <p:cNvPr id="12" name="Chevron 11"/>
          <p:cNvSpPr/>
          <p:nvPr/>
        </p:nvSpPr>
        <p:spPr>
          <a:xfrm>
            <a:off x="374904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Fusion
Centre</a:t>
            </a:r>
          </a:p>
        </p:txBody>
      </p:sp>
      <p:sp>
        <p:nvSpPr>
          <p:cNvPr id="13" name="Chevron 12"/>
          <p:cNvSpPr/>
          <p:nvPr/>
        </p:nvSpPr>
        <p:spPr>
          <a:xfrm>
            <a:off x="539496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Threat
Assessment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088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Security
Agency</a:t>
            </a:r>
          </a:p>
        </p:txBody>
      </p:sp>
      <p:sp>
        <p:nvSpPr>
          <p:cNvPr id="15" name="Chevron 14"/>
          <p:cNvSpPr/>
          <p:nvPr/>
        </p:nvSpPr>
        <p:spPr>
          <a:xfrm>
            <a:off x="868680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Rapid
Response</a:t>
            </a:r>
          </a:p>
        </p:txBody>
      </p:sp>
      <p:sp>
        <p:nvSpPr>
          <p:cNvPr id="16" name="Chevron 15"/>
          <p:cNvSpPr/>
          <p:nvPr/>
        </p:nvSpPr>
        <p:spPr>
          <a:xfrm>
            <a:off x="1033272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Confirmation
+ Follow-up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community must receive feedback. If people repeatedly provide information and
nothing happens, they stop reporting. If they see that lives are saved, trust grows.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COMMUNITY MUST BECOME THE FIRST SENSOR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B1F3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Farmers • Hunters • Teachers • Traditional Rulers • Transporters • Religious Leaders • Health Workers • Market Women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 structured Community Early Warning and Early Response Network —
not a vigilante system, not a parallel intelligence service —
a disciplined, legally governed community information network.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Traditional Rulers in the Security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10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lives in — and enters — their domain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families in conflict and land/resource disputes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Often the first to see radicalisation among youth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criminal routes and rising community tensions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Currently consulted mostly AFTER violence occurs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STRUCTURED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Traditional Council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Police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DSS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Military Liaison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Local Government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Community Reps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Corridors, Not Administrative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11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 criminal group does not stop at a state border. Neither should our response.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Kwara – Niger – Kainji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Niger – Kaduna – FCT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Nasarawa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Taraba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Plateau – Bauchi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Kogi – Nasarawa – Benue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North-Central governors agreed in 2025 to pursue joint security operations. The next step: institutionalise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Rapid Response — The 30 to 60 Minute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12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 b="1" i="0">
                <a:solidFill>
                  <a:srgbClr val="D4AF37"/>
                </a:solidFill>
                <a:latin typeface="Calibri"/>
              </a:rPr>
              <a:t>30–60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92024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MINUTES CAN DETERMINE WHETHER AN INCIDENT
BECOMES A FAILED ATTACK OR A MASS-CASUALTY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Police rapid response units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Military quick reaction forces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Mobile security teams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Medical evacuation 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Aviation support where appropriate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Communications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Community liaison officers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Pre-positioned, not reactive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263640"/>
            <a:ext cx="11155680" cy="3657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Technology Should Multiply Human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13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Unmanned Aerial
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Satellite Imagery &amp;
Geospatial Intel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Secure
Communications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2608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Digital Incident
Reporting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Vehicle &amp; Movement
Analytics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92608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Lawful Telecoms
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Biometric &amp;
Identity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48056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GIS Crime
Mapping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48056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AI Pattern
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“If a drone cannot transmit useful information to a commander who can act on it, it is merely an expensive flying camera.”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Forest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14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Provides concealment, mobility, temporary camps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Access to water and routes between communities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Sanctuary from conventional policing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FOREST SECURITY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031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Human Intelligence + Aerial Surveillance +
Geospatial Mapping + Community Information +
Controlled Access + Law Enforcement +
Sustained Presence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Goal: deny armed groups sanctuary, mobility,
supplies, communications, financing and
freedom of movement — without treating every
farmer or hunter as a suspect.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Separate the Criminal from the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15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Fulani pastoralist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37160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Tiv farmer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029968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An Idoma youth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688336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criminal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Muslim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46704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Christian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00507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 member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traditional hunter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663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automatically a vigilante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8640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Identify perpetrators by behaviour and evidence — never by ethnicity, religion or community.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Farmer-Herder Conflict as a Governance 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16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We cannot shoot our way out of every dispute. Some are criminal. Most are about: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149352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3600" y="1920240"/>
            <a:ext cx="154686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63340" y="1920240"/>
            <a:ext cx="202691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Grazing Routes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3139" y="1920240"/>
            <a:ext cx="213359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Crop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9618" y="1920240"/>
            <a:ext cx="208026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Cattle Rustling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06040"/>
            <a:ext cx="176021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00299" y="2606040"/>
            <a:ext cx="218694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Boundary Disputes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0119" y="2606040"/>
            <a:ext cx="213359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Climate Pressure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11155680" cy="2286000"/>
          </a:xfrm>
          <a:prstGeom prst="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106070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Requires: functioning livestock management systems, negotiated grazing and stock routes,
conflict-resolution mechanisms, land-use planning, livestock identification, compensation
mechanisms, farmer-herder dialogue, and credible enforcement.
Where governance fails, criminality fills the vacuum.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Young People — The Most Important Long-Term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17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“What does a 17-year-old boy in a forgotten rural community see as his future?
If the answer is nothing, somebody else will offer him something.”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Vocational
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Agriculture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Technology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Apprenticeships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Sports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Entrepreneurship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Education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Community
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Targeted
Deradicalisation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16 –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Women as Security Partners &amp; the Role of Local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18 /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WOMEN AS PARTNERS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has disappeared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Notice changed behaviour in children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unusual household visitors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Track displaced-people movement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Must be integrated operationally, not symbolically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LOCAL GOVERNMENT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Security cannot be Abuja-centric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LGA links: Chairman + Police + DSS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+ Military Liaison + Traditional Rulers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+ Health, Emergency &amp; Community Reps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Closer to community = faster warning &amp; response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State Police — An Opportunity That Requires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19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The real question: how do we put competent officers close to the community
while preventing political abuse?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Complement, not replace,
the Nigeria Police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2860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National minimum
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860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Professional
recruitment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862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Independent complaints
mechanisms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8862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Clear rules of
engagement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8862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Legislative &amp;
judicial oversight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19 –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Predictable Funding &amp; Personnel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20 /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SECURITY FUNDING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Northern Nigerian Security Trust Fund
inaugurated July 2026 — a foundation,
not the finish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Must be: transparent + professionally
managed + audited + measurable.
“Every naira spent should answer:
what security capability did this create?”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PERSONNEL WELFARE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Reliable communication &amp; accommodation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Medical care, food, transportation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Equipment maintenance &amp; rotation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Psychological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“Morale is a combat capability.”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Three-Layer Security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21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4047" y="1554480"/>
            <a:ext cx="5943600" cy="141732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LAYER 3 — FEDERAL</a:t>
            </a:r>
          </a:p>
          <a:p>
            <a:pPr algn="ctr"/>
            <a:r>
              <a:rPr sz="2000">
                <a:solidFill>
                  <a:srgbClr val="0B1F3A"/>
                </a:solidFill>
              </a:rPr>
              <a:t>Airpower • Special Operations • Heavy Mobility • Strategic 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9607" y="3154680"/>
            <a:ext cx="84124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 — STATE</a:t>
            </a:r>
          </a:p>
          <a:p>
            <a:pPr algn="ctr"/>
            <a:r>
              <a:rPr sz="2000">
                <a:solidFill>
                  <a:srgbClr val="E8EAEE"/>
                </a:solidFill>
              </a:rPr>
              <a:t>Police • DSS • NSCDC • Analysis &amp; Coordination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" y="4754880"/>
            <a:ext cx="1088136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 — COMMUNITY</a:t>
            </a:r>
          </a:p>
          <a:p>
            <a:pPr algn="ctr"/>
            <a:r>
              <a:rPr sz="2000">
                <a:solidFill>
                  <a:srgbClr val="E8EAEE"/>
                </a:solidFill>
              </a:rPr>
              <a:t>Traditional Rulers • Citizens • Local Govt • Early 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three layers must operate as ONE system.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24-Hour Security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22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D4AF37"/>
                </a:solidFill>
              </a:rPr>
              <a:t>00:00 – 06:00</a:t>
            </a:r>
          </a:p>
          <a:p>
            <a:pPr algn="ctr"/>
            <a:r>
              <a:rPr sz="1400" dirty="0">
                <a:solidFill>
                  <a:srgbClr val="FFFFFF"/>
                </a:solidFill>
              </a:rPr>
              <a:t>Intelligence
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D4AF37"/>
                </a:solidFill>
              </a:rPr>
              <a:t>06:00 – 12:00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Community Reporting &amp;
Operational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D4AF37"/>
                </a:solidFill>
              </a:rPr>
              <a:t>12:00 – 18:00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Patrol, Surveillance &amp;
Preventive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D4AF37"/>
                </a:solidFill>
              </a:rPr>
              <a:t>18:00 – 00:00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Night Security Posture &amp;
Rapid-Response 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Security never sleeps simply because government offices have closed.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Should Happen in the Next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23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1.  </a:t>
            </a:r>
            <a:r>
              <a:rPr sz="1300">
                <a:solidFill>
                  <a:srgbClr val="FFFFFF"/>
                </a:solidFill>
              </a:rPr>
              <a:t>Create a North-Central Security Coordination Secretariat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2.  </a:t>
            </a:r>
            <a:r>
              <a:rPr sz="1300">
                <a:solidFill>
                  <a:srgbClr val="FFFFFF"/>
                </a:solidFill>
              </a:rPr>
              <a:t>Establish a regional intelligence-fusion mechanism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3.  </a:t>
            </a:r>
            <a:r>
              <a:rPr sz="1300">
                <a:solidFill>
                  <a:srgbClr val="FFFFFF"/>
                </a:solidFill>
              </a:rPr>
              <a:t>Map all major criminal and terrorist corridors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4.  </a:t>
            </a:r>
            <a:r>
              <a:rPr sz="1300">
                <a:solidFill>
                  <a:srgbClr val="FFFFFF"/>
                </a:solidFill>
              </a:rPr>
              <a:t>Identify the 100 most vulnerable communities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5.  </a:t>
            </a:r>
            <a:r>
              <a:rPr sz="1300">
                <a:solidFill>
                  <a:srgbClr val="FFFFFF"/>
                </a:solidFill>
              </a:rPr>
              <a:t>Create community early-warning networks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33756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6.  </a:t>
            </a:r>
            <a:r>
              <a:rPr sz="1300">
                <a:solidFill>
                  <a:srgbClr val="FFFFFF"/>
                </a:solidFill>
              </a:rPr>
              <a:t>Establish rapid-response protocols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7.  </a:t>
            </a:r>
            <a:r>
              <a:rPr sz="1300">
                <a:solidFill>
                  <a:srgbClr val="FFFFFF"/>
                </a:solidFill>
              </a:rPr>
              <a:t>Link governors' security councils digitally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4340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8.  </a:t>
            </a:r>
            <a:r>
              <a:rPr sz="1300">
                <a:solidFill>
                  <a:srgbClr val="FFFFFF"/>
                </a:solidFill>
              </a:rPr>
              <a:t>Common training for military, police &amp; liaisons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9.  </a:t>
            </a:r>
            <a:r>
              <a:rPr sz="1300">
                <a:solidFill>
                  <a:srgbClr val="FFFFFF"/>
                </a:solidFill>
              </a:rPr>
              <a:t>Transparent regional security funding mechanism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34924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10.  </a:t>
            </a:r>
            <a:r>
              <a:rPr sz="1300">
                <a:solidFill>
                  <a:srgbClr val="FFFFFF"/>
                </a:solidFill>
              </a:rPr>
              <a:t>Publish measurable security indicators quarterly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Compact — Seven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24 / 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1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Threat Picture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We share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2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Early-Warning System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We listen to communities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3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Rapid-Response Philosophy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We respond before massacres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4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Professional Standard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Discipline, law, dignity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4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5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Regional Approach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No exploiting state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74904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6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Development Agenda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Secure &amp; rebuild together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49040"/>
            <a:ext cx="2697480" cy="214884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0B1F3A"/>
                </a:solidFill>
              </a:rPr>
              <a:t>7</a:t>
            </a:r>
          </a:p>
          <a:p>
            <a:pPr algn="ctr"/>
            <a:r>
              <a:rPr sz="1300" b="1">
                <a:solidFill>
                  <a:srgbClr val="0B1F3A"/>
                </a:solidFill>
              </a:rPr>
              <a:t>One Measure of Success</a:t>
            </a:r>
          </a:p>
          <a:p>
            <a:pPr algn="ctr"/>
            <a:r>
              <a:rPr sz="1050">
                <a:solidFill>
                  <a:srgbClr val="0B1F3A"/>
                </a:solidFill>
              </a:rPr>
              <a:t>Safety &amp; dignity of the citizen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Success Should Look Like in Three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25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Kidnapping has fallen substantially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Attacks on rural communities are declining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Major highways are secure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Farmers can return to their farms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Displaced families are returning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Criminal sanctuaries are progressively denied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Intelligence moves faster, response times shorter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Communities trust security agencies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Security personnel are better supported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Networks dismantled via arrests &amp; prosecution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Biggest Change We Need Is 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26 /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troops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40680" y="1645920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9572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weapons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578608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39572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operations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3511296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328416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prevention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61104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money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40680" y="4443984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4261104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security personnel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40680" y="5376672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5193792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More trust between forces and people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B1F3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That is the standard by which we must judge ourselves — and it is not beyond the capacity of Nigeria.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28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280160"/>
            <a:ext cx="11276395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050">
                <a:solidFill>
                  <a:srgbClr val="FFFFFF"/>
                </a:solidFill>
              </a:rPr>
              <a:t>ACLED (2026) Armed Conflict Location &amp; Event Data Project: Nigeria Regional Data, Benue, Plateau and Niger States, 2024-2025. Available at: https://acleddata.com (Accessed: 18 August 2026).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Federal Government of Nigeria (2026) Northern Nigerian Security Trust Fund: Inauguration Statement, July 2026. Abuja: Office of the National Security Adviser.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Government of Colombia, Ministry of Defence (2016) Plan Colombia: Lessons Learned in Community Intelligence and Reintegration. Bogotá: Ministry of Defence.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Government of Kenya, Ministry of Interior and Coordination of National Government (2013) Nyumba Kumi Community Policing Initiative. Nairobi: Government Printer.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Government of the Philippines, Department of the Interior and Local Government (2010) Barangay Peacekeeping Action Teams: Community-Based Security Handbook. Manila: DILG.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HM Government, Home Office (2015) Joint Terrorism Analysis Centre (JTAC): Roles and Responsibilities. London: The Stationery Office.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Office of the Director of National Intelligence (2021) National Counterterrorism Center: Mission and Structure. Washington, DC: ODNI.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Government of India, Ministry of Home Affairs (2009) Multi-Agency Centre (MAC): Post-26/11 Intelligence Reform. New Delhi: Government of India Press.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Israel Ministry of Defence, Home Front Command (2018) Civil Defence Rapid-Response Doctrine. Tel Aviv: Ministry of Defence.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Office of the First Minister and Deputy First Minister (2007) Good Friday Agreement Youth Reintegration Programmes: A Review. Belfast: OFMDFM.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Civilian Secretariat for Police Service, Republic of South Africa (2019) Provincial Policing Powers: Constitutional Review Discussion Paper. Pretoria: Government Printer.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Food and Agriculture Organization of the United Nations (2020) Cross-Border Grazing and Pastoralist Dialogue in the Sahel and Horn of Africa. Rome: FAO.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>
                <a:solidFill>
                  <a:srgbClr val="FFFFFF"/>
                </a:solidFill>
              </a:rPr>
              <a:t>North-Central Nigeria Governors' Forum (2025) Joint Security Operations Agreement. Minna: North-Central Governors' Forum Secretariat.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