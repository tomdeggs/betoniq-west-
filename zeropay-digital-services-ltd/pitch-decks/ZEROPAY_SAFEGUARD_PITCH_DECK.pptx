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</p:sldIdLst>
  <p:sldSz cx="9144000" cy="5148072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B102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48640" y="1463040"/>
            <a:ext cx="8046720" cy="1097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4400" b="1">
                <a:solidFill>
                  <a:srgbClr val="FFFFFF"/>
                </a:solidFill>
              </a:defRPr>
            </a:pPr>
            <a:r>
              <a:t>🛡  SafeGuard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48640" y="2377440"/>
            <a:ext cx="8046720" cy="914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000" i="1">
                <a:solidFill>
                  <a:srgbClr val="22D3EE"/>
                </a:solidFill>
              </a:defRPr>
            </a:pPr>
            <a:r>
              <a:t>ScamShield fraud/romance-scam detection and SafeLink anonymous trafficking-victim support.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48640" y="4389120"/>
            <a:ext cx="8046720" cy="5486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300">
                <a:solidFill>
                  <a:srgbClr val="9AA4BD"/>
                </a:solidFill>
              </a:defRPr>
            </a:pPr>
            <a:r>
              <a:t>Zeropay Digital Services Ltd — UK subsidiary of BETONIQ WEST LTD (RC 1496603)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B102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48640" y="365760"/>
            <a:ext cx="8046720" cy="1097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3200" b="1">
                <a:solidFill>
                  <a:srgbClr val="22D3EE"/>
                </a:solidFill>
              </a:defRPr>
            </a:pPr>
            <a:r>
              <a:t>The Problem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48640" y="1371600"/>
            <a:ext cx="8046720" cy="43891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000"/>
              </a:spcAft>
              <a:defRPr sz="2000">
                <a:solidFill>
                  <a:srgbClr val="FBBF24"/>
                </a:solidFill>
              </a:defRPr>
            </a:pPr>
            <a:r>
              <a:t>Romance and investment scams cost victims an estimated $10+ billion annually worldwide, and an estimated 27.6 million people are in situations of forced labor or trafficking (ILO/Walk Free).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48640" y="2743200"/>
            <a:ext cx="8046720" cy="43891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000"/>
              </a:spcAft>
              <a:defRPr sz="1600">
                <a:solidFill>
                  <a:srgbClr val="FFFFFF"/>
                </a:solidFill>
              </a:defRPr>
            </a:pPr>
            <a:r>
              <a:t>Victims of romance and investment fraud typically have no real-time warning system before money is sent, and trafficking victims often lack a safe, anonymous first step to seek help. SafeGuard is deliberately built as a prevention and victim-support tool, not a private enforcement tool.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B102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48640" y="365760"/>
            <a:ext cx="8046720" cy="1097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3200" b="1">
                <a:solidFill>
                  <a:srgbClr val="22D3EE"/>
                </a:solidFill>
              </a:defRPr>
            </a:pPr>
            <a:r>
              <a:t>How It Works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48640" y="1371600"/>
            <a:ext cx="8046720" cy="43891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000"/>
              </a:spcAft>
              <a:defRPr sz="1500">
                <a:solidFill>
                  <a:srgbClr val="FFFFFF"/>
                </a:solidFill>
              </a:defRPr>
            </a:pPr>
            <a:r>
              <a:t>•  ScamShield: NLP pattern-matching engine scores incoming message text against known scam tactics (urgency framing, fake investment returns, gift-card/wire requests).</a:t>
            </a:r>
          </a:p>
          <a:p>
            <a:pPr>
              <a:spcAft>
                <a:spcPts val="1000"/>
              </a:spcAft>
              <a:defRPr sz="1500">
                <a:solidFill>
                  <a:srgbClr val="FFFFFF"/>
                </a:solidFill>
              </a:defRPr>
            </a:pPr>
            <a:r>
              <a:t>•  ScamShield: perceptual image-hashing cross-references submitted profile photos against a crowdsourced reported-scammer database.</a:t>
            </a:r>
          </a:p>
          <a:p>
            <a:pPr>
              <a:spcAft>
                <a:spcPts val="1000"/>
              </a:spcAft>
              <a:defRPr sz="1500">
                <a:solidFill>
                  <a:srgbClr val="FFFFFF"/>
                </a:solidFill>
              </a:defRPr>
            </a:pPr>
            <a:r>
              <a:t>•  SafeLink: anonymous, non-attributable tip submission channel, routed directly to NAPTIP, IOM, and the National Human Trafficking Hotline.</a:t>
            </a:r>
          </a:p>
          <a:p>
            <a:pPr>
              <a:spcAft>
                <a:spcPts val="1000"/>
              </a:spcAft>
              <a:defRPr sz="1500">
                <a:solidFill>
                  <a:srgbClr val="FFFFFF"/>
                </a:solidFill>
              </a:defRPr>
            </a:pPr>
            <a:r>
              <a:t>•  SafeLink: location-based resource locator surfaces the nearest verified shelter or legal aid contact under time pressure.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B102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48640" y="365760"/>
            <a:ext cx="8046720" cy="1097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3200" b="1">
                <a:solidFill>
                  <a:srgbClr val="22D3EE"/>
                </a:solidFill>
              </a:defRPr>
            </a:pPr>
            <a:r>
              <a:t>Core Data Model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48640" y="1371600"/>
            <a:ext cx="8046720" cy="43891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000"/>
              </a:spcAft>
              <a:defRPr sz="1400">
                <a:solidFill>
                  <a:srgbClr val="FFFFFF"/>
                </a:solidFill>
              </a:defRPr>
            </a:pPr>
            <a:r>
              <a:t>•  ScamReport — Submitted message/profile pattern, similarity score against known tactics.</a:t>
            </a:r>
          </a:p>
          <a:p>
            <a:pPr>
              <a:spcAft>
                <a:spcPts val="1000"/>
              </a:spcAft>
              <a:defRPr sz="1400">
                <a:solidFill>
                  <a:srgbClr val="FFFFFF"/>
                </a:solidFill>
              </a:defRPr>
            </a:pPr>
            <a:r>
              <a:t>•  ReportedProfile — Crowdsourced record of a reported scammer photo/profile, cross-referenced across submissions.</a:t>
            </a:r>
          </a:p>
          <a:p>
            <a:pPr>
              <a:spcAft>
                <a:spcPts val="1000"/>
              </a:spcAft>
              <a:defRPr sz="1400">
                <a:solidFill>
                  <a:srgbClr val="FFFFFF"/>
                </a:solidFill>
              </a:defRPr>
            </a:pPr>
            <a:r>
              <a:t>•  TraffickingTip — Anonymized tip submission, routed to the appropriate hotline/agency.</a:t>
            </a:r>
          </a:p>
          <a:p>
            <a:pPr>
              <a:spcAft>
                <a:spcPts val="1000"/>
              </a:spcAft>
              <a:defRPr sz="1400">
                <a:solidFill>
                  <a:srgbClr val="FFFFFF"/>
                </a:solidFill>
              </a:defRPr>
            </a:pPr>
            <a:r>
              <a:t>•  ResourceLocator — Verified shelter, legal aid, and NGO support resource by location.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B102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48640" y="365760"/>
            <a:ext cx="8046720" cy="1097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3200" b="1">
                <a:solidFill>
                  <a:srgbClr val="22D3EE"/>
                </a:solidFill>
              </a:defRPr>
            </a:pPr>
            <a:r>
              <a:t>Security, Privacy &amp; Compliance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48640" y="1371600"/>
            <a:ext cx="8046720" cy="43891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000"/>
              </a:spcAft>
              <a:defRPr sz="1500">
                <a:solidFill>
                  <a:srgbClr val="FFFFFF"/>
                </a:solidFill>
              </a:defRPr>
            </a:pPr>
            <a:r>
              <a:t>•  SafeLink tips are architecturally anonymous by default — no persistent identifying metadata retained unless the reporter explicitly opts in.</a:t>
            </a:r>
          </a:p>
          <a:p>
            <a:pPr>
              <a:spcAft>
                <a:spcPts val="1000"/>
              </a:spcAft>
              <a:defRPr sz="1500">
                <a:solidFill>
                  <a:srgbClr val="FFFFFF"/>
                </a:solidFill>
              </a:defRPr>
            </a:pPr>
            <a:r>
              <a:t>•  ScamShield's reported-scammer database is moderated to prevent misuse for harassment; multiple corroborating reports required.</a:t>
            </a:r>
          </a:p>
          <a:p>
            <a:pPr>
              <a:spcAft>
                <a:spcPts val="1000"/>
              </a:spcAft>
              <a:defRPr sz="1500">
                <a:solidFill>
                  <a:srgbClr val="FFFFFF"/>
                </a:solidFill>
              </a:defRPr>
            </a:pPr>
            <a:r>
              <a:t>•  Explicit scope boundary: no surveillance, no narcotics-network targeting, no vigilante action — strictly prevention, detection, and routing to legitimate authorities.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B102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48640" y="365760"/>
            <a:ext cx="8046720" cy="1097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3200" b="1">
                <a:solidFill>
                  <a:srgbClr val="22D3EE"/>
                </a:solidFill>
              </a:defRPr>
            </a:pPr>
            <a:r>
              <a:t>Market Opportunity &amp; Funder Fit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48640" y="1371600"/>
            <a:ext cx="8046720" cy="43891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000"/>
              </a:spcAft>
              <a:defRPr sz="1500">
                <a:solidFill>
                  <a:srgbClr val="FFFFFF"/>
                </a:solidFill>
              </a:defRPr>
            </a:pPr>
            <a:r>
              <a:t>Global online fraud-prevention software market projected to exceed $80B by 2030. Target beachhead: consumer scam-pattern detection in Nigeria and UK diaspora corridors.</a:t>
            </a:r>
          </a:p>
          <a:p>
            <a:pPr>
              <a:spcAft>
                <a:spcPts val="1000"/>
              </a:spcAft>
              <a:defRPr sz="1500">
                <a:solidFill>
                  <a:srgbClr val="FFFFFF"/>
                </a:solidFill>
              </a:defRPr>
            </a:pPr>
          </a:p>
          <a:p>
            <a:pPr>
              <a:spcAft>
                <a:spcPts val="1000"/>
              </a:spcAft>
              <a:defRPr sz="1500">
                <a:solidFill>
                  <a:srgbClr val="FFFFFF"/>
                </a:solidFill>
              </a:defRPr>
            </a:pPr>
            <a:r>
              <a:t>Strong fit for anti-trafficking and consumer-protection funding: US J/TIP grants, EU Anti-Trafficking Action Grants, UNODC, and Google.org/Meta digital safety grants.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F3864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48640" y="1280160"/>
            <a:ext cx="8046720" cy="1097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3600" b="1">
                <a:solidFill>
                  <a:srgbClr val="FFFFFF"/>
                </a:solidFill>
              </a:defRPr>
            </a:pPr>
            <a:r>
              <a:t>The Ask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48640" y="2194560"/>
            <a:ext cx="8046720" cy="43891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000"/>
              </a:spcAft>
              <a:defRPr sz="2200">
                <a:solidFill>
                  <a:srgbClr val="22D3EE"/>
                </a:solidFill>
              </a:defRPr>
            </a:pPr>
            <a:r>
              <a:t>$130,000 grant to launch ScamShield public beta + SafeLink hotline integration, 12 months.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48640" y="3657600"/>
            <a:ext cx="8046720" cy="43891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000"/>
              </a:spcAft>
              <a:defRPr sz="1300">
                <a:solidFill>
                  <a:srgbClr val="CCDDFF"/>
                </a:solidFill>
              </a:defRPr>
            </a:pPr>
            <a:r>
              <a:t>Tom Ugbodaga — Shareholder &amp; CEO</a:t>
            </a:r>
          </a:p>
          <a:p>
            <a:pPr>
              <a:spcAft>
                <a:spcPts val="1000"/>
              </a:spcAft>
              <a:defRPr sz="1300">
                <a:solidFill>
                  <a:srgbClr val="CCDDFF"/>
                </a:solidFill>
              </a:defRPr>
            </a:pPr>
            <a:r>
              <a:t>MSc Computer Systems Security (University of Gloucestershire, England, 2011)</a:t>
            </a:r>
          </a:p>
          <a:p>
            <a:pPr>
              <a:spcAft>
                <a:spcPts val="1000"/>
              </a:spcAft>
              <a:defRPr sz="1300">
                <a:solidFill>
                  <a:srgbClr val="CCDDFF"/>
                </a:solidFill>
              </a:defRPr>
            </a:pPr>
            <a:r>
              <a:t>https://www.linkedin.com/in/tom-deggs-ugbodaga-2306692bb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