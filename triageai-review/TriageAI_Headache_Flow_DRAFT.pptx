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926080"/>
            <a:ext cx="1463040"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0972800" cy="1097280"/>
          </a:xfrm>
          <a:prstGeom prst="rect">
            <a:avLst/>
          </a:prstGeom>
          <a:noFill/>
        </p:spPr>
        <p:txBody>
          <a:bodyPr wrap="square" anchor="t" lIns="45720" rIns="45720" tIns="27432" bIns="27432">
            <a:spAutoFit/>
          </a:bodyPr>
          <a:lstStyle/>
          <a:p>
            <a:pPr algn="l">
              <a:spcAft>
                <a:spcPts val="500"/>
              </a:spcAft>
            </a:pPr>
            <a:r>
              <a:rPr sz="5400" b="1">
                <a:solidFill>
                  <a:srgbClr val="FFFFFF"/>
                </a:solidFill>
                <a:latin typeface="Calibri"/>
              </a:rPr>
              <a:t>Headache: the question flow</a:t>
            </a:r>
          </a:p>
        </p:txBody>
      </p:sp>
      <p:sp>
        <p:nvSpPr>
          <p:cNvPr id="5" name="TextBox 4"/>
          <p:cNvSpPr txBox="1"/>
          <p:nvPr/>
        </p:nvSpPr>
        <p:spPr>
          <a:xfrm>
            <a:off x="548640" y="2194560"/>
            <a:ext cx="10972800" cy="640080"/>
          </a:xfrm>
          <a:prstGeom prst="rect">
            <a:avLst/>
          </a:prstGeom>
          <a:noFill/>
        </p:spPr>
        <p:txBody>
          <a:bodyPr wrap="square" anchor="t" lIns="45720" rIns="45720" tIns="27432" bIns="27432">
            <a:spAutoFit/>
          </a:bodyPr>
          <a:lstStyle/>
          <a:p>
            <a:pPr algn="l">
              <a:spcAft>
                <a:spcPts val="500"/>
              </a:spcAft>
            </a:pPr>
            <a:r>
              <a:rPr sz="2400" b="0">
                <a:solidFill>
                  <a:srgbClr val="BFD4E6"/>
                </a:solidFill>
                <a:latin typeface="Calibri"/>
              </a:rPr>
              <a:t>A first draft for any reviewing clinician to correct</a:t>
            </a:r>
          </a:p>
        </p:txBody>
      </p:sp>
      <p:sp>
        <p:nvSpPr>
          <p:cNvPr id="6" name="TextBox 5"/>
          <p:cNvSpPr txBox="1"/>
          <p:nvPr/>
        </p:nvSpPr>
        <p:spPr>
          <a:xfrm>
            <a:off x="548640" y="3246120"/>
            <a:ext cx="10972800" cy="2377440"/>
          </a:xfrm>
          <a:prstGeom prst="rect">
            <a:avLst/>
          </a:prstGeom>
          <a:noFill/>
        </p:spPr>
        <p:txBody>
          <a:bodyPr wrap="square" anchor="t" lIns="45720" rIns="45720" tIns="27432" bIns="27432">
            <a:spAutoFit/>
          </a:bodyPr>
          <a:lstStyle/>
          <a:p>
            <a:pPr algn="l">
              <a:spcAft>
                <a:spcPts val="500"/>
              </a:spcAft>
            </a:pPr>
            <a:r>
              <a:rPr sz="1900" b="0">
                <a:solidFill>
                  <a:srgbClr val="FFFFFF"/>
                </a:solidFill>
                <a:latin typeface="Calibri"/>
              </a:rPr>
              <a:t>This is a proposal, not clinical guidance. Every question, every red flag and every outcome here is yours to change, delete or reorder.</a:t>
            </a:r>
          </a:p>
          <a:p>
            <a:pPr algn="l">
              <a:spcAft>
                <a:spcPts val="500"/>
              </a:spcAft>
            </a:pPr>
            <a:r>
              <a:rPr sz="1900" b="0">
                <a:solidFill>
                  <a:srgbClr val="FFFFFF"/>
                </a:solidFill>
                <a:latin typeface="Calibri"/>
              </a:rPr>
              <a:t>The aim: help a person with a headache decide how fast to seek care. It never names a cause or a diagnosis.</a:t>
            </a:r>
          </a:p>
          <a:p>
            <a:pPr algn="l">
              <a:spcAft>
                <a:spcPts val="500"/>
              </a:spcAft>
            </a:pPr>
            <a:r>
              <a:rPr sz="1900" b="0">
                <a:solidFill>
                  <a:srgbClr val="FFFFFF"/>
                </a:solidFill>
                <a:latin typeface="Calibri"/>
              </a:rPr>
              <a:t>Please mark anything unsafe, missing, badly worded, or wrongly ranked. Disagreement is the most useful feedback.</a:t>
            </a:r>
          </a:p>
        </p:txBody>
      </p:sp>
      <p:sp>
        <p:nvSpPr>
          <p:cNvPr id="7" name="TextBox 6"/>
          <p:cNvSpPr txBox="1"/>
          <p:nvPr/>
        </p:nvSpPr>
        <p:spPr>
          <a:xfrm>
            <a:off x="548640" y="5852160"/>
            <a:ext cx="10972800" cy="640080"/>
          </a:xfrm>
          <a:prstGeom prst="rect">
            <a:avLst/>
          </a:prstGeom>
          <a:noFill/>
        </p:spPr>
        <p:txBody>
          <a:bodyPr wrap="square" anchor="t" lIns="45720" rIns="45720" tIns="27432" bIns="27432">
            <a:spAutoFit/>
          </a:bodyPr>
          <a:lstStyle/>
          <a:p>
            <a:pPr algn="l">
              <a:spcAft>
                <a:spcPts val="500"/>
              </a:spcAft>
            </a:pPr>
            <a:r>
              <a:rPr sz="1300" b="0">
                <a:solidFill>
                  <a:srgbClr val="BFD4E6"/>
                </a:solidFill>
                <a:latin typeface="Calibri"/>
              </a:rPr>
              <a:t>Tom Ugbodaga, Managing Director, BETONIQ WEST LTD</a:t>
            </a:r>
          </a:p>
          <a:p>
            <a:pPr algn="l">
              <a:spcAft>
                <a:spcPts val="500"/>
              </a:spcAft>
            </a:pPr>
            <a:r>
              <a:rPr sz="1300" b="0">
                <a:solidFill>
                  <a:srgbClr val="BFD4E6"/>
                </a:solidFill>
                <a:latin typeface="Calibri"/>
              </a:rPr>
              <a:t>MSc Computer Systems Security, University of Gloucestershire (England, 2011)  |  linkedin.com/in/tom-deggs-ugbodaga-2306692bb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058400" cy="731520"/>
          </a:xfrm>
          <a:prstGeom prst="rect">
            <a:avLst/>
          </a:prstGeom>
          <a:noFill/>
        </p:spPr>
        <p:txBody>
          <a:bodyPr wrap="square" anchor="ctr" lIns="45720" rIns="45720" tIns="27432" bIns="27432">
            <a:spAutoFit/>
          </a:bodyPr>
          <a:lstStyle/>
          <a:p>
            <a:pPr algn="l">
              <a:spcAft>
                <a:spcPts val="500"/>
              </a:spcAft>
            </a:pPr>
            <a:r>
              <a:rPr sz="3000" b="1">
                <a:solidFill>
                  <a:srgbClr val="FFFFFF"/>
                </a:solidFill>
                <a:latin typeface="Calibri"/>
              </a:rPr>
              <a:t>How the flow works</a:t>
            </a:r>
          </a:p>
        </p:txBody>
      </p:sp>
      <p:sp>
        <p:nvSpPr>
          <p:cNvPr id="4" name="TextBox 3"/>
          <p:cNvSpPr txBox="1"/>
          <p:nvPr/>
        </p:nvSpPr>
        <p:spPr>
          <a:xfrm>
            <a:off x="10607040" y="365760"/>
            <a:ext cx="1280160" cy="457200"/>
          </a:xfrm>
          <a:prstGeom prst="rect">
            <a:avLst/>
          </a:prstGeom>
          <a:noFill/>
        </p:spPr>
        <p:txBody>
          <a:bodyPr wrap="square" anchor="t" lIns="45720" rIns="45720" tIns="27432" bIns="27432">
            <a:spAutoFit/>
          </a:bodyPr>
          <a:lstStyle/>
          <a:p>
            <a:pPr algn="r">
              <a:spcAft>
                <a:spcPts val="500"/>
              </a:spcAft>
            </a:pPr>
            <a:r>
              <a:rPr sz="1600" b="0">
                <a:solidFill>
                  <a:srgbClr val="BFD4E6"/>
                </a:solidFill>
                <a:latin typeface="Calibri"/>
              </a:rPr>
              <a:t>2 / 8</a:t>
            </a:r>
          </a:p>
        </p:txBody>
      </p:sp>
      <p:sp>
        <p:nvSpPr>
          <p:cNvPr id="5" name="Rectangle 4"/>
          <p:cNvSpPr/>
          <p:nvPr/>
        </p:nvSpPr>
        <p:spPr>
          <a:xfrm>
            <a:off x="0" y="6492240"/>
            <a:ext cx="12191695" cy="36576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11155680" cy="274320"/>
          </a:xfrm>
          <a:prstGeom prst="rect">
            <a:avLst/>
          </a:prstGeom>
          <a:noFill/>
        </p:spPr>
        <p:txBody>
          <a:bodyPr wrap="square" anchor="t" lIns="45720" rIns="45720" tIns="27432" bIns="27432">
            <a:spAutoFit/>
          </a:bodyPr>
          <a:lstStyle/>
          <a:p>
            <a:pPr algn="l">
              <a:spcAft>
                <a:spcPts val="500"/>
              </a:spcAft>
            </a:pPr>
            <a:r>
              <a:rPr sz="1100" b="0">
                <a:solidFill>
                  <a:srgbClr val="444F5A"/>
                </a:solidFill>
                <a:latin typeface="Calibri"/>
              </a:rPr>
              <a:t>TriageAI headache flow  |  DRAFT for clinician correction  |  Not medical advice  |  BETONIQ WEST LTD</a:t>
            </a:r>
          </a:p>
        </p:txBody>
      </p:sp>
      <p:sp>
        <p:nvSpPr>
          <p:cNvPr id="7" name="TextBox 6"/>
          <p:cNvSpPr txBox="1"/>
          <p:nvPr/>
        </p:nvSpPr>
        <p:spPr>
          <a:xfrm>
            <a:off x="548640" y="1207008"/>
            <a:ext cx="11064240" cy="457200"/>
          </a:xfrm>
          <a:prstGeom prst="rect">
            <a:avLst/>
          </a:prstGeom>
          <a:noFill/>
        </p:spPr>
        <p:txBody>
          <a:bodyPr wrap="square" anchor="t" lIns="45720" rIns="45720" tIns="27432" bIns="27432">
            <a:spAutoFit/>
          </a:bodyPr>
          <a:lstStyle/>
          <a:p>
            <a:pPr algn="l">
              <a:spcAft>
                <a:spcPts val="500"/>
              </a:spcAft>
            </a:pPr>
            <a:r>
              <a:rPr sz="1700" b="0">
                <a:solidFill>
                  <a:srgbClr val="0E7C86"/>
                </a:solidFill>
                <a:latin typeface="Calibri"/>
              </a:rPr>
              <a:t>Short yes/no questions, red flags first, one of three outcomes</a:t>
            </a:r>
          </a:p>
        </p:txBody>
      </p:sp>
      <p:sp>
        <p:nvSpPr>
          <p:cNvPr id="8" name="TextBox 7"/>
          <p:cNvSpPr txBox="1"/>
          <p:nvPr/>
        </p:nvSpPr>
        <p:spPr>
          <a:xfrm>
            <a:off x="548640" y="1783080"/>
            <a:ext cx="5760720" cy="4389120"/>
          </a:xfrm>
          <a:prstGeom prst="rect">
            <a:avLst/>
          </a:prstGeom>
          <a:noFill/>
        </p:spPr>
        <p:txBody>
          <a:bodyPr wrap="square" anchor="t" lIns="45720" rIns="45720" tIns="27432" bIns="27432">
            <a:spAutoFit/>
          </a:bodyPr>
          <a:lstStyle/>
          <a:p>
            <a:pPr algn="l">
              <a:spcAft>
                <a:spcPts val="500"/>
              </a:spcAft>
            </a:pPr>
            <a:r>
              <a:rPr sz="1700" b="0">
                <a:solidFill>
                  <a:srgbClr val="444F5A"/>
                </a:solidFill>
                <a:latin typeface="Calibri"/>
              </a:rPr>
              <a:t>1.  Red-flag questions come first. One "yes" stops the flow and gives the urgent outcome at once.</a:t>
            </a:r>
          </a:p>
          <a:p>
            <a:pPr algn="l">
              <a:spcAft>
                <a:spcPts val="500"/>
              </a:spcAft>
            </a:pPr>
            <a:r>
              <a:rPr sz="1700" b="0">
                <a:solidFill>
                  <a:srgbClr val="444F5A"/>
                </a:solidFill>
                <a:latin typeface="Calibri"/>
              </a:rPr>
              <a:t>2.  If all red flags are "no", it asks a few context questions (age group, pregnancy, how long).</a:t>
            </a:r>
          </a:p>
          <a:p>
            <a:pPr algn="l">
              <a:spcAft>
                <a:spcPts val="500"/>
              </a:spcAft>
            </a:pPr>
            <a:r>
              <a:rPr sz="1700" b="0">
                <a:solidFill>
                  <a:srgbClr val="444F5A"/>
                </a:solidFill>
                <a:latin typeface="Calibri"/>
              </a:rPr>
              <a:t>3.  It then gives one of three outcomes, always with warning signs to watch for.</a:t>
            </a:r>
          </a:p>
          <a:p>
            <a:pPr algn="l">
              <a:spcAft>
                <a:spcPts val="500"/>
              </a:spcAft>
            </a:pPr>
            <a:r>
              <a:rPr sz="1700" b="0">
                <a:solidFill>
                  <a:srgbClr val="444F5A"/>
                </a:solidFill>
                <a:latin typeface="Calibri"/>
              </a:rPr>
              <a:t>4.  Every screen carries: "This is a screening aid, not a diagnosis. If you are worried, seek care."</a:t>
            </a:r>
          </a:p>
          <a:p>
            <a:pPr algn="l">
              <a:spcAft>
                <a:spcPts val="500"/>
              </a:spcAft>
            </a:pPr>
            <a:r>
              <a:rPr sz="1700" b="0">
                <a:solidFill>
                  <a:srgbClr val="444F5A"/>
                </a:solidFill>
                <a:latin typeface="Calibri"/>
              </a:rPr>
              <a:t>5.  Built for SMS or USSD too: each question is a single short message answered 1 for yes, 2 for no.</a:t>
            </a:r>
          </a:p>
        </p:txBody>
      </p:sp>
      <p:sp>
        <p:nvSpPr>
          <p:cNvPr id="9" name="Rectangle 8"/>
          <p:cNvSpPr/>
          <p:nvPr/>
        </p:nvSpPr>
        <p:spPr>
          <a:xfrm>
            <a:off x="6675120" y="1783080"/>
            <a:ext cx="2286000" cy="1280160"/>
          </a:xfrm>
          <a:prstGeom prst="rect">
            <a:avLst/>
          </a:prstGeom>
          <a:solidFill>
            <a:srgbClr val="F2F6F9"/>
          </a:solidFill>
          <a:ln w="1905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828800"/>
            <a:ext cx="2103120" cy="1188720"/>
          </a:xfrm>
          <a:prstGeom prst="rect">
            <a:avLst/>
          </a:prstGeom>
          <a:noFill/>
        </p:spPr>
        <p:txBody>
          <a:bodyPr wrap="square" anchor="t" lIns="45720" rIns="45720" tIns="27432" bIns="27432">
            <a:spAutoFit/>
          </a:bodyPr>
          <a:lstStyle/>
          <a:p>
            <a:pPr algn="l">
              <a:spcAft>
                <a:spcPts val="500"/>
              </a:spcAft>
            </a:pPr>
            <a:r>
              <a:rPr sz="1400" b="1">
                <a:solidFill>
                  <a:srgbClr val="B42318"/>
                </a:solidFill>
                <a:latin typeface="Calibri"/>
              </a:rPr>
              <a:t>EMERGENCY</a:t>
            </a:r>
          </a:p>
          <a:p>
            <a:pPr algn="l">
              <a:spcAft>
                <a:spcPts val="500"/>
              </a:spcAft>
            </a:pPr>
            <a:r>
              <a:rPr sz="1400" b="1">
                <a:solidFill>
                  <a:srgbClr val="B42318"/>
                </a:solidFill>
                <a:latin typeface="Calibri"/>
              </a:rPr>
              <a:t>Go to the nearest emergency unit now</a:t>
            </a:r>
          </a:p>
        </p:txBody>
      </p:sp>
      <p:sp>
        <p:nvSpPr>
          <p:cNvPr id="11" name="Rectangle 10"/>
          <p:cNvSpPr/>
          <p:nvPr/>
        </p:nvSpPr>
        <p:spPr>
          <a:xfrm>
            <a:off x="6675120" y="3200400"/>
            <a:ext cx="2286000" cy="1280160"/>
          </a:xfrm>
          <a:prstGeom prst="rect">
            <a:avLst/>
          </a:prstGeom>
          <a:solidFill>
            <a:srgbClr val="F2F6F9"/>
          </a:solidFill>
          <a:ln w="19050">
            <a:solidFill>
              <a:srgbClr val="B4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3246120"/>
            <a:ext cx="2103120" cy="1188720"/>
          </a:xfrm>
          <a:prstGeom prst="rect">
            <a:avLst/>
          </a:prstGeom>
          <a:noFill/>
        </p:spPr>
        <p:txBody>
          <a:bodyPr wrap="square" anchor="t" lIns="45720" rIns="45720" tIns="27432" bIns="27432">
            <a:spAutoFit/>
          </a:bodyPr>
          <a:lstStyle/>
          <a:p>
            <a:pPr algn="l">
              <a:spcAft>
                <a:spcPts val="500"/>
              </a:spcAft>
            </a:pPr>
            <a:r>
              <a:rPr sz="1400" b="1">
                <a:solidFill>
                  <a:srgbClr val="B46A00"/>
                </a:solidFill>
                <a:latin typeface="Calibri"/>
              </a:rPr>
              <a:t>CLINIC TODAY</a:t>
            </a:r>
          </a:p>
          <a:p>
            <a:pPr algn="l">
              <a:spcAft>
                <a:spcPts val="500"/>
              </a:spcAft>
            </a:pPr>
            <a:r>
              <a:rPr sz="1400" b="1">
                <a:solidFill>
                  <a:srgbClr val="B46A00"/>
                </a:solidFill>
                <a:latin typeface="Calibri"/>
              </a:rPr>
              <a:t>See a clinician within 24 hours</a:t>
            </a:r>
          </a:p>
        </p:txBody>
      </p:sp>
      <p:sp>
        <p:nvSpPr>
          <p:cNvPr id="13" name="Rectangle 12"/>
          <p:cNvSpPr/>
          <p:nvPr/>
        </p:nvSpPr>
        <p:spPr>
          <a:xfrm>
            <a:off x="6675120" y="4617720"/>
            <a:ext cx="2286000" cy="1280160"/>
          </a:xfrm>
          <a:prstGeom prst="rect">
            <a:avLst/>
          </a:prstGeom>
          <a:solidFill>
            <a:srgbClr val="F2F6F9"/>
          </a:solidFill>
          <a:ln w="19050">
            <a:solidFill>
              <a:srgbClr val="1E7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4663440"/>
            <a:ext cx="2103120" cy="1188720"/>
          </a:xfrm>
          <a:prstGeom prst="rect">
            <a:avLst/>
          </a:prstGeom>
          <a:noFill/>
        </p:spPr>
        <p:txBody>
          <a:bodyPr wrap="square" anchor="t" lIns="45720" rIns="45720" tIns="27432" bIns="27432">
            <a:spAutoFit/>
          </a:bodyPr>
          <a:lstStyle/>
          <a:p>
            <a:pPr algn="l">
              <a:spcAft>
                <a:spcPts val="500"/>
              </a:spcAft>
            </a:pPr>
            <a:r>
              <a:rPr sz="1400" b="1">
                <a:solidFill>
                  <a:srgbClr val="1E7B3A"/>
                </a:solidFill>
                <a:latin typeface="Calibri"/>
              </a:rPr>
              <a:t>SELF-CARE</a:t>
            </a:r>
          </a:p>
          <a:p>
            <a:pPr algn="l">
              <a:spcAft>
                <a:spcPts val="500"/>
              </a:spcAft>
            </a:pPr>
            <a:r>
              <a:rPr sz="1400" b="1">
                <a:solidFill>
                  <a:srgbClr val="1E7B3A"/>
                </a:solidFill>
                <a:latin typeface="Calibri"/>
              </a:rPr>
              <a:t>Home care with clear warning signs</a:t>
            </a:r>
          </a:p>
        </p:txBody>
      </p:sp>
      <p:sp>
        <p:nvSpPr>
          <p:cNvPr id="15" name="TextBox 14"/>
          <p:cNvSpPr txBox="1"/>
          <p:nvPr/>
        </p:nvSpPr>
        <p:spPr>
          <a:xfrm>
            <a:off x="9144000" y="1828800"/>
            <a:ext cx="2743200" cy="4114800"/>
          </a:xfrm>
          <a:prstGeom prst="rect">
            <a:avLst/>
          </a:prstGeom>
          <a:noFill/>
        </p:spPr>
        <p:txBody>
          <a:bodyPr wrap="square" anchor="t" lIns="45720" rIns="45720" tIns="27432" bIns="27432">
            <a:spAutoFit/>
          </a:bodyPr>
          <a:lstStyle/>
          <a:p>
            <a:pPr algn="l">
              <a:spcAft>
                <a:spcPts val="500"/>
              </a:spcAft>
            </a:pPr>
            <a:r>
              <a:rPr sz="1400" b="0">
                <a:solidFill>
                  <a:srgbClr val="0B2A4A"/>
                </a:solidFill>
                <a:latin typeface="Calibri"/>
              </a:rPr>
              <a:t>Your call:</a:t>
            </a:r>
          </a:p>
          <a:p>
            <a:pPr algn="l">
              <a:spcAft>
                <a:spcPts val="500"/>
              </a:spcAft>
            </a:pPr>
            <a:r>
              <a:rPr sz="1400" b="0">
                <a:solidFill>
                  <a:srgbClr val="0B2A4A"/>
                </a:solidFill>
                <a:latin typeface="Calibri"/>
              </a:rPr>
              <a:t>Are three outcomes enough, or do you want a fourth, such as "see a clinician this week"?</a:t>
            </a:r>
          </a:p>
          <a:p>
            <a:pPr algn="l">
              <a:spcAft>
                <a:spcPts val="500"/>
              </a:spcAft>
            </a:pPr>
            <a:r>
              <a:rPr sz="1400" b="0">
                <a:solidFill>
                  <a:srgbClr val="0B2A4A"/>
                </a:solidFill>
                <a:latin typeface="Calibri"/>
              </a:rPr>
              <a:t>Should timings (now, 24 hours) be different?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058400" cy="731520"/>
          </a:xfrm>
          <a:prstGeom prst="rect">
            <a:avLst/>
          </a:prstGeom>
          <a:noFill/>
        </p:spPr>
        <p:txBody>
          <a:bodyPr wrap="square" anchor="ctr" lIns="45720" rIns="45720" tIns="27432" bIns="27432">
            <a:spAutoFit/>
          </a:bodyPr>
          <a:lstStyle/>
          <a:p>
            <a:pPr algn="l">
              <a:spcAft>
                <a:spcPts val="500"/>
              </a:spcAft>
            </a:pPr>
            <a:r>
              <a:rPr sz="3000" b="1">
                <a:solidFill>
                  <a:srgbClr val="FFFFFF"/>
                </a:solidFill>
                <a:latin typeface="Calibri"/>
              </a:rPr>
              <a:t>What the symptoms can look like</a:t>
            </a:r>
          </a:p>
        </p:txBody>
      </p:sp>
      <p:sp>
        <p:nvSpPr>
          <p:cNvPr id="4" name="TextBox 3"/>
          <p:cNvSpPr txBox="1"/>
          <p:nvPr/>
        </p:nvSpPr>
        <p:spPr>
          <a:xfrm>
            <a:off x="10607040" y="365760"/>
            <a:ext cx="1280160" cy="457200"/>
          </a:xfrm>
          <a:prstGeom prst="rect">
            <a:avLst/>
          </a:prstGeom>
          <a:noFill/>
        </p:spPr>
        <p:txBody>
          <a:bodyPr wrap="square" anchor="t" lIns="45720" rIns="45720" tIns="27432" bIns="27432">
            <a:spAutoFit/>
          </a:bodyPr>
          <a:lstStyle/>
          <a:p>
            <a:pPr algn="r">
              <a:spcAft>
                <a:spcPts val="500"/>
              </a:spcAft>
            </a:pPr>
            <a:r>
              <a:rPr sz="1600" b="0">
                <a:solidFill>
                  <a:srgbClr val="BFD4E6"/>
                </a:solidFill>
                <a:latin typeface="Calibri"/>
              </a:rPr>
              <a:t>3 / 8</a:t>
            </a:r>
          </a:p>
        </p:txBody>
      </p:sp>
      <p:sp>
        <p:nvSpPr>
          <p:cNvPr id="5" name="Rectangle 4"/>
          <p:cNvSpPr/>
          <p:nvPr/>
        </p:nvSpPr>
        <p:spPr>
          <a:xfrm>
            <a:off x="0" y="6492240"/>
            <a:ext cx="12191695" cy="36576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11155680" cy="274320"/>
          </a:xfrm>
          <a:prstGeom prst="rect">
            <a:avLst/>
          </a:prstGeom>
          <a:noFill/>
        </p:spPr>
        <p:txBody>
          <a:bodyPr wrap="square" anchor="t" lIns="45720" rIns="45720" tIns="27432" bIns="27432">
            <a:spAutoFit/>
          </a:bodyPr>
          <a:lstStyle/>
          <a:p>
            <a:pPr algn="l">
              <a:spcAft>
                <a:spcPts val="500"/>
              </a:spcAft>
            </a:pPr>
            <a:r>
              <a:rPr sz="1100" b="0">
                <a:solidFill>
                  <a:srgbClr val="444F5A"/>
                </a:solidFill>
                <a:latin typeface="Calibri"/>
              </a:rPr>
              <a:t>TriageAI headache flow  |  DRAFT for clinician correction  |  Not medical advice  |  BETONIQ WEST LTD</a:t>
            </a:r>
          </a:p>
        </p:txBody>
      </p:sp>
      <p:sp>
        <p:nvSpPr>
          <p:cNvPr id="7" name="TextBox 6"/>
          <p:cNvSpPr txBox="1"/>
          <p:nvPr/>
        </p:nvSpPr>
        <p:spPr>
          <a:xfrm>
            <a:off x="548640" y="1207008"/>
            <a:ext cx="11064240" cy="457200"/>
          </a:xfrm>
          <a:prstGeom prst="rect">
            <a:avLst/>
          </a:prstGeom>
          <a:noFill/>
        </p:spPr>
        <p:txBody>
          <a:bodyPr wrap="square" anchor="t" lIns="45720" rIns="45720" tIns="27432" bIns="27432">
            <a:spAutoFit/>
          </a:bodyPr>
          <a:lstStyle/>
          <a:p>
            <a:pPr algn="l">
              <a:spcAft>
                <a:spcPts val="500"/>
              </a:spcAft>
            </a:pPr>
            <a:r>
              <a:rPr sz="1700" b="0">
                <a:solidFill>
                  <a:srgbClr val="0E7C86"/>
                </a:solidFill>
                <a:latin typeface="Calibri"/>
              </a:rPr>
              <a:t>Illustrations to help a reviewer picture each warning sign. Not diagnostic images.</a:t>
            </a:r>
          </a:p>
        </p:txBody>
      </p:sp>
      <p:pic>
        <p:nvPicPr>
          <p:cNvPr id="8" name="Picture 7" descr="f_headache.png"/>
          <p:cNvPicPr>
            <a:picLocks noChangeAspect="1"/>
          </p:cNvPicPr>
          <p:nvPr/>
        </p:nvPicPr>
        <p:blipFill>
          <a:blip r:embed="rId2"/>
          <a:stretch>
            <a:fillRect/>
          </a:stretch>
        </p:blipFill>
        <p:spPr>
          <a:xfrm>
            <a:off x="548640" y="1783080"/>
            <a:ext cx="2651760" cy="2651760"/>
          </a:xfrm>
          <a:prstGeom prst="rect">
            <a:avLst/>
          </a:prstGeom>
        </p:spPr>
      </p:pic>
      <p:pic>
        <p:nvPicPr>
          <p:cNvPr id="9" name="Picture 8" descr="m_headache_a.png"/>
          <p:cNvPicPr>
            <a:picLocks noChangeAspect="1"/>
          </p:cNvPicPr>
          <p:nvPr/>
        </p:nvPicPr>
        <p:blipFill>
          <a:blip r:embed="rId3"/>
          <a:stretch>
            <a:fillRect/>
          </a:stretch>
        </p:blipFill>
        <p:spPr>
          <a:xfrm>
            <a:off x="3383280" y="1783080"/>
            <a:ext cx="2651760" cy="2651760"/>
          </a:xfrm>
          <a:prstGeom prst="rect">
            <a:avLst/>
          </a:prstGeom>
        </p:spPr>
      </p:pic>
      <p:pic>
        <p:nvPicPr>
          <p:cNvPr id="10" name="Picture 9" descr="f_neck.png"/>
          <p:cNvPicPr>
            <a:picLocks noChangeAspect="1"/>
          </p:cNvPicPr>
          <p:nvPr/>
        </p:nvPicPr>
        <p:blipFill>
          <a:blip r:embed="rId4"/>
          <a:stretch>
            <a:fillRect/>
          </a:stretch>
        </p:blipFill>
        <p:spPr>
          <a:xfrm>
            <a:off x="6217920" y="1783080"/>
            <a:ext cx="2651760" cy="2651760"/>
          </a:xfrm>
          <a:prstGeom prst="rect">
            <a:avLst/>
          </a:prstGeom>
        </p:spPr>
      </p:pic>
      <p:pic>
        <p:nvPicPr>
          <p:cNvPr id="11" name="Picture 10" descr="m_neck.png"/>
          <p:cNvPicPr>
            <a:picLocks noChangeAspect="1"/>
          </p:cNvPicPr>
          <p:nvPr/>
        </p:nvPicPr>
        <p:blipFill>
          <a:blip r:embed="rId5"/>
          <a:stretch>
            <a:fillRect/>
          </a:stretch>
        </p:blipFill>
        <p:spPr>
          <a:xfrm>
            <a:off x="9052560" y="1783080"/>
            <a:ext cx="2651760" cy="2651760"/>
          </a:xfrm>
          <a:prstGeom prst="rect">
            <a:avLst/>
          </a:prstGeom>
        </p:spPr>
      </p:pic>
      <p:sp>
        <p:nvSpPr>
          <p:cNvPr id="12" name="TextBox 11"/>
          <p:cNvSpPr txBox="1"/>
          <p:nvPr/>
        </p:nvSpPr>
        <p:spPr>
          <a:xfrm>
            <a:off x="548640" y="4526280"/>
            <a:ext cx="5486400" cy="548640"/>
          </a:xfrm>
          <a:prstGeom prst="rect">
            <a:avLst/>
          </a:prstGeom>
          <a:noFill/>
        </p:spPr>
        <p:txBody>
          <a:bodyPr wrap="square" anchor="t" lIns="45720" rIns="45720" tIns="27432" bIns="27432">
            <a:spAutoFit/>
          </a:bodyPr>
          <a:lstStyle/>
          <a:p>
            <a:pPr algn="l">
              <a:spcAft>
                <a:spcPts val="500"/>
              </a:spcAft>
            </a:pPr>
            <a:r>
              <a:rPr sz="1400" b="1">
                <a:solidFill>
                  <a:srgbClr val="0B2A4A"/>
                </a:solidFill>
                <a:latin typeface="Calibri"/>
              </a:rPr>
              <a:t>Severe headache: hands to the temples, pain behind the eyes, throbbing.</a:t>
            </a:r>
          </a:p>
        </p:txBody>
      </p:sp>
      <p:sp>
        <p:nvSpPr>
          <p:cNvPr id="13" name="TextBox 12"/>
          <p:cNvSpPr txBox="1"/>
          <p:nvPr/>
        </p:nvSpPr>
        <p:spPr>
          <a:xfrm>
            <a:off x="6217920" y="4526280"/>
            <a:ext cx="5486400" cy="548640"/>
          </a:xfrm>
          <a:prstGeom prst="rect">
            <a:avLst/>
          </a:prstGeom>
          <a:noFill/>
        </p:spPr>
        <p:txBody>
          <a:bodyPr wrap="square" anchor="t" lIns="45720" rIns="45720" tIns="27432" bIns="27432">
            <a:spAutoFit/>
          </a:bodyPr>
          <a:lstStyle/>
          <a:p>
            <a:pPr algn="l">
              <a:spcAft>
                <a:spcPts val="500"/>
              </a:spcAft>
            </a:pPr>
            <a:r>
              <a:rPr sz="1400" b="1">
                <a:solidFill>
                  <a:srgbClr val="0B2A4A"/>
                </a:solidFill>
                <a:latin typeface="Calibri"/>
              </a:rPr>
              <a:t>Stiff neck with fever: neck held rigid, flushed face, discomfort bending forward.</a:t>
            </a:r>
          </a:p>
        </p:txBody>
      </p:sp>
      <p:sp>
        <p:nvSpPr>
          <p:cNvPr id="14" name="TextBox 13"/>
          <p:cNvSpPr txBox="1"/>
          <p:nvPr/>
        </p:nvSpPr>
        <p:spPr>
          <a:xfrm>
            <a:off x="548640" y="5394960"/>
            <a:ext cx="11064240" cy="914400"/>
          </a:xfrm>
          <a:prstGeom prst="rect">
            <a:avLst/>
          </a:prstGeom>
          <a:noFill/>
        </p:spPr>
        <p:txBody>
          <a:bodyPr wrap="square" anchor="t" lIns="45720" rIns="45720" tIns="27432" bIns="27432">
            <a:spAutoFit/>
          </a:bodyPr>
          <a:lstStyle/>
          <a:p>
            <a:pPr algn="l">
              <a:spcAft>
                <a:spcPts val="500"/>
              </a:spcAft>
            </a:pPr>
            <a:r>
              <a:rPr sz="1400" b="0">
                <a:solidFill>
                  <a:srgbClr val="0B2A4A"/>
                </a:solidFill>
                <a:latin typeface="Calibri"/>
              </a:rPr>
              <a:t>Your call: do these show the right picture of each symptom? Which expression or posture is missing or misleading for the people we are trying to reach?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058400" cy="731520"/>
          </a:xfrm>
          <a:prstGeom prst="rect">
            <a:avLst/>
          </a:prstGeom>
          <a:noFill/>
        </p:spPr>
        <p:txBody>
          <a:bodyPr wrap="square" anchor="ctr" lIns="45720" rIns="45720" tIns="27432" bIns="27432">
            <a:spAutoFit/>
          </a:bodyPr>
          <a:lstStyle/>
          <a:p>
            <a:pPr algn="l">
              <a:spcAft>
                <a:spcPts val="500"/>
              </a:spcAft>
            </a:pPr>
            <a:r>
              <a:rPr sz="3000" b="1">
                <a:solidFill>
                  <a:srgbClr val="FFFFFF"/>
                </a:solidFill>
                <a:latin typeface="Calibri"/>
              </a:rPr>
              <a:t>Step 1: red-flag questions</a:t>
            </a:r>
          </a:p>
        </p:txBody>
      </p:sp>
      <p:sp>
        <p:nvSpPr>
          <p:cNvPr id="4" name="TextBox 3"/>
          <p:cNvSpPr txBox="1"/>
          <p:nvPr/>
        </p:nvSpPr>
        <p:spPr>
          <a:xfrm>
            <a:off x="10607040" y="365760"/>
            <a:ext cx="1280160" cy="457200"/>
          </a:xfrm>
          <a:prstGeom prst="rect">
            <a:avLst/>
          </a:prstGeom>
          <a:noFill/>
        </p:spPr>
        <p:txBody>
          <a:bodyPr wrap="square" anchor="t" lIns="45720" rIns="45720" tIns="27432" bIns="27432">
            <a:spAutoFit/>
          </a:bodyPr>
          <a:lstStyle/>
          <a:p>
            <a:pPr algn="r">
              <a:spcAft>
                <a:spcPts val="500"/>
              </a:spcAft>
            </a:pPr>
            <a:r>
              <a:rPr sz="1600" b="0">
                <a:solidFill>
                  <a:srgbClr val="BFD4E6"/>
                </a:solidFill>
                <a:latin typeface="Calibri"/>
              </a:rPr>
              <a:t>4 / 8</a:t>
            </a:r>
          </a:p>
        </p:txBody>
      </p:sp>
      <p:sp>
        <p:nvSpPr>
          <p:cNvPr id="5" name="Rectangle 4"/>
          <p:cNvSpPr/>
          <p:nvPr/>
        </p:nvSpPr>
        <p:spPr>
          <a:xfrm>
            <a:off x="0" y="6492240"/>
            <a:ext cx="12191695" cy="36576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11155680" cy="274320"/>
          </a:xfrm>
          <a:prstGeom prst="rect">
            <a:avLst/>
          </a:prstGeom>
          <a:noFill/>
        </p:spPr>
        <p:txBody>
          <a:bodyPr wrap="square" anchor="t" lIns="45720" rIns="45720" tIns="27432" bIns="27432">
            <a:spAutoFit/>
          </a:bodyPr>
          <a:lstStyle/>
          <a:p>
            <a:pPr algn="l">
              <a:spcAft>
                <a:spcPts val="500"/>
              </a:spcAft>
            </a:pPr>
            <a:r>
              <a:rPr sz="1100" b="0">
                <a:solidFill>
                  <a:srgbClr val="444F5A"/>
                </a:solidFill>
                <a:latin typeface="Calibri"/>
              </a:rPr>
              <a:t>TriageAI headache flow  |  DRAFT for clinician correction  |  Not medical advice  |  BETONIQ WEST LTD</a:t>
            </a:r>
          </a:p>
        </p:txBody>
      </p:sp>
      <p:sp>
        <p:nvSpPr>
          <p:cNvPr id="7" name="TextBox 6"/>
          <p:cNvSpPr txBox="1"/>
          <p:nvPr/>
        </p:nvSpPr>
        <p:spPr>
          <a:xfrm>
            <a:off x="548640" y="1207008"/>
            <a:ext cx="11064240" cy="457200"/>
          </a:xfrm>
          <a:prstGeom prst="rect">
            <a:avLst/>
          </a:prstGeom>
          <a:noFill/>
        </p:spPr>
        <p:txBody>
          <a:bodyPr wrap="square" anchor="t" lIns="45720" rIns="45720" tIns="27432" bIns="27432">
            <a:spAutoFit/>
          </a:bodyPr>
          <a:lstStyle/>
          <a:p>
            <a:pPr algn="l">
              <a:spcAft>
                <a:spcPts val="500"/>
              </a:spcAft>
            </a:pPr>
            <a:r>
              <a:rPr sz="1700" b="0">
                <a:solidFill>
                  <a:srgbClr val="0E7C86"/>
                </a:solidFill>
                <a:latin typeface="Calibri"/>
              </a:rPr>
              <a:t>Any "yes" leads straight to EMERGENCY. Please check this list hard.</a:t>
            </a:r>
          </a:p>
        </p:txBody>
      </p:sp>
      <p:sp>
        <p:nvSpPr>
          <p:cNvPr id="8" name="TextBox 7"/>
          <p:cNvSpPr txBox="1"/>
          <p:nvPr/>
        </p:nvSpPr>
        <p:spPr>
          <a:xfrm>
            <a:off x="548640" y="1737360"/>
            <a:ext cx="6949440" cy="4663440"/>
          </a:xfrm>
          <a:prstGeom prst="rect">
            <a:avLst/>
          </a:prstGeom>
          <a:noFill/>
        </p:spPr>
        <p:txBody>
          <a:bodyPr wrap="square" anchor="t" lIns="45720" rIns="45720" tIns="27432" bIns="27432">
            <a:spAutoFit/>
          </a:bodyPr>
          <a:lstStyle/>
          <a:p>
            <a:pPr algn="l">
              <a:spcAft>
                <a:spcPts val="500"/>
              </a:spcAft>
            </a:pPr>
            <a:r>
              <a:rPr sz="1500" b="0">
                <a:solidFill>
                  <a:srgbClr val="444F5A"/>
                </a:solidFill>
                <a:latin typeface="Calibri"/>
              </a:rPr>
              <a:t>1.  Did it come on suddenly and reach full pain within a minute (like a thunderclap)?</a:t>
            </a:r>
          </a:p>
          <a:p>
            <a:pPr algn="l">
              <a:spcAft>
                <a:spcPts val="500"/>
              </a:spcAft>
            </a:pPr>
            <a:r>
              <a:rPr sz="1500" b="0">
                <a:solidFill>
                  <a:srgbClr val="444F5A"/>
                </a:solidFill>
                <a:latin typeface="Calibri"/>
              </a:rPr>
              <a:t>2.  Is it the worst headache you have ever had?</a:t>
            </a:r>
          </a:p>
          <a:p>
            <a:pPr algn="l">
              <a:spcAft>
                <a:spcPts val="500"/>
              </a:spcAft>
            </a:pPr>
            <a:r>
              <a:rPr sz="1500" b="0">
                <a:solidFill>
                  <a:srgbClr val="444F5A"/>
                </a:solidFill>
                <a:latin typeface="Calibri"/>
              </a:rPr>
              <a:t>3.  Do you have a stiff neck, or a fever with the headache?</a:t>
            </a:r>
          </a:p>
          <a:p>
            <a:pPr algn="l">
              <a:spcAft>
                <a:spcPts val="500"/>
              </a:spcAft>
            </a:pPr>
            <a:r>
              <a:rPr sz="1500" b="0">
                <a:solidFill>
                  <a:srgbClr val="444F5A"/>
                </a:solidFill>
                <a:latin typeface="Calibri"/>
              </a:rPr>
              <a:t>4.  Any weakness, numbness, face drooping, trouble speaking or confusion?</a:t>
            </a:r>
          </a:p>
          <a:p>
            <a:pPr algn="l">
              <a:spcAft>
                <a:spcPts val="500"/>
              </a:spcAft>
            </a:pPr>
            <a:r>
              <a:rPr sz="1500" b="0">
                <a:solidFill>
                  <a:srgbClr val="444F5A"/>
                </a:solidFill>
                <a:latin typeface="Calibri"/>
              </a:rPr>
              <a:t>5.  Any new loss of vision, double vision, or a seizure?</a:t>
            </a:r>
          </a:p>
          <a:p>
            <a:pPr algn="l">
              <a:spcAft>
                <a:spcPts val="500"/>
              </a:spcAft>
            </a:pPr>
            <a:r>
              <a:rPr sz="1500" b="0">
                <a:solidFill>
                  <a:srgbClr val="444F5A"/>
                </a:solidFill>
                <a:latin typeface="Calibri"/>
              </a:rPr>
              <a:t>6.  Did it follow a head injury or a fall?</a:t>
            </a:r>
          </a:p>
          <a:p>
            <a:pPr algn="l">
              <a:spcAft>
                <a:spcPts val="500"/>
              </a:spcAft>
            </a:pPr>
            <a:r>
              <a:rPr sz="1500" b="0">
                <a:solidFill>
                  <a:srgbClr val="444F5A"/>
                </a:solidFill>
                <a:latin typeface="Calibri"/>
              </a:rPr>
              <a:t>7.  Have you fainted, or are you very drowsy and hard to wake?</a:t>
            </a:r>
          </a:p>
          <a:p>
            <a:pPr algn="l">
              <a:spcAft>
                <a:spcPts val="500"/>
              </a:spcAft>
            </a:pPr>
            <a:r>
              <a:rPr sz="1500" b="0">
                <a:solidFill>
                  <a:srgbClr val="444F5A"/>
                </a:solidFill>
                <a:latin typeface="Calibri"/>
              </a:rPr>
              <a:t>8.  Are you pregnant (or just given birth) with a severe headache, swelling or visual changes?</a:t>
            </a:r>
          </a:p>
        </p:txBody>
      </p:sp>
      <p:sp>
        <p:nvSpPr>
          <p:cNvPr id="9" name="Rectangle 8"/>
          <p:cNvSpPr/>
          <p:nvPr/>
        </p:nvSpPr>
        <p:spPr>
          <a:xfrm>
            <a:off x="7863840" y="1783080"/>
            <a:ext cx="3840480" cy="4480560"/>
          </a:xfrm>
          <a:prstGeom prst="rect">
            <a:avLst/>
          </a:prstGeom>
          <a:solidFill>
            <a:srgbClr val="F2F6F9"/>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828800"/>
            <a:ext cx="3566160" cy="365760"/>
          </a:xfrm>
          <a:prstGeom prst="rect">
            <a:avLst/>
          </a:prstGeom>
          <a:noFill/>
        </p:spPr>
        <p:txBody>
          <a:bodyPr wrap="square" anchor="t" lIns="45720" rIns="45720" tIns="27432" bIns="27432">
            <a:spAutoFit/>
          </a:bodyPr>
          <a:lstStyle/>
          <a:p>
            <a:pPr algn="l">
              <a:spcAft>
                <a:spcPts val="500"/>
              </a:spcAft>
            </a:pPr>
            <a:r>
              <a:rPr sz="1600" b="1">
                <a:solidFill>
                  <a:srgbClr val="0E7C86"/>
                </a:solidFill>
                <a:latin typeface="Calibri"/>
              </a:rPr>
              <a:t>Questions for you</a:t>
            </a:r>
          </a:p>
        </p:txBody>
      </p:sp>
      <p:sp>
        <p:nvSpPr>
          <p:cNvPr id="11" name="TextBox 10"/>
          <p:cNvSpPr txBox="1"/>
          <p:nvPr/>
        </p:nvSpPr>
        <p:spPr>
          <a:xfrm>
            <a:off x="8001000" y="2286000"/>
            <a:ext cx="3566160" cy="3931920"/>
          </a:xfrm>
          <a:prstGeom prst="rect">
            <a:avLst/>
          </a:prstGeom>
          <a:noFill/>
        </p:spPr>
        <p:txBody>
          <a:bodyPr wrap="square" anchor="t" lIns="45720" rIns="45720" tIns="27432" bIns="27432">
            <a:spAutoFit/>
          </a:bodyPr>
          <a:lstStyle/>
          <a:p>
            <a:pPr algn="l">
              <a:spcAft>
                <a:spcPts val="500"/>
              </a:spcAft>
            </a:pPr>
            <a:r>
              <a:rPr sz="1400" b="0">
                <a:solidFill>
                  <a:srgbClr val="444F5A"/>
                </a:solidFill>
                <a:latin typeface="Calibri"/>
              </a:rPr>
              <a:t>Is anything on this list wrong or missing?</a:t>
            </a:r>
          </a:p>
          <a:p>
            <a:pPr algn="l">
              <a:spcAft>
                <a:spcPts val="500"/>
              </a:spcAft>
            </a:pPr>
            <a:r>
              <a:rPr sz="1400" b="0">
                <a:solidFill>
                  <a:srgbClr val="444F5A"/>
                </a:solidFill>
                <a:latin typeface="Calibri"/>
              </a:rPr>
              <a:t>Should "known HIV or on chemotherapy" or "age over 50 with a new headache" be red flags?</a:t>
            </a:r>
          </a:p>
          <a:p>
            <a:pPr algn="l">
              <a:spcAft>
                <a:spcPts val="500"/>
              </a:spcAft>
            </a:pPr>
            <a:r>
              <a:rPr sz="1400" b="0">
                <a:solidFill>
                  <a:srgbClr val="444F5A"/>
                </a:solidFill>
                <a:latin typeface="Calibri"/>
              </a:rPr>
              <a:t>Is the pregnancy question worded safely?</a:t>
            </a:r>
          </a:p>
          <a:p>
            <a:pPr algn="l">
              <a:spcAft>
                <a:spcPts val="500"/>
              </a:spcAft>
            </a:pPr>
            <a:r>
              <a:rPr sz="1400" b="0">
                <a:solidFill>
                  <a:srgbClr val="444F5A"/>
                </a:solidFill>
                <a:latin typeface="Calibri"/>
              </a:rPr>
              <a:t>Are 8 red flags too many for an SMS 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058400" cy="731520"/>
          </a:xfrm>
          <a:prstGeom prst="rect">
            <a:avLst/>
          </a:prstGeom>
          <a:noFill/>
        </p:spPr>
        <p:txBody>
          <a:bodyPr wrap="square" anchor="ctr" lIns="45720" rIns="45720" tIns="27432" bIns="27432">
            <a:spAutoFit/>
          </a:bodyPr>
          <a:lstStyle/>
          <a:p>
            <a:pPr algn="l">
              <a:spcAft>
                <a:spcPts val="500"/>
              </a:spcAft>
            </a:pPr>
            <a:r>
              <a:rPr sz="3000" b="1">
                <a:solidFill>
                  <a:srgbClr val="FFFFFF"/>
                </a:solidFill>
                <a:latin typeface="Calibri"/>
              </a:rPr>
              <a:t>Emergency signs shown visually</a:t>
            </a:r>
          </a:p>
        </p:txBody>
      </p:sp>
      <p:sp>
        <p:nvSpPr>
          <p:cNvPr id="4" name="TextBox 3"/>
          <p:cNvSpPr txBox="1"/>
          <p:nvPr/>
        </p:nvSpPr>
        <p:spPr>
          <a:xfrm>
            <a:off x="10607040" y="365760"/>
            <a:ext cx="1280160" cy="457200"/>
          </a:xfrm>
          <a:prstGeom prst="rect">
            <a:avLst/>
          </a:prstGeom>
          <a:noFill/>
        </p:spPr>
        <p:txBody>
          <a:bodyPr wrap="square" anchor="t" lIns="45720" rIns="45720" tIns="27432" bIns="27432">
            <a:spAutoFit/>
          </a:bodyPr>
          <a:lstStyle/>
          <a:p>
            <a:pPr algn="r">
              <a:spcAft>
                <a:spcPts val="500"/>
              </a:spcAft>
            </a:pPr>
            <a:r>
              <a:rPr sz="1600" b="0">
                <a:solidFill>
                  <a:srgbClr val="BFD4E6"/>
                </a:solidFill>
                <a:latin typeface="Calibri"/>
              </a:rPr>
              <a:t>5 / 8</a:t>
            </a:r>
          </a:p>
        </p:txBody>
      </p:sp>
      <p:sp>
        <p:nvSpPr>
          <p:cNvPr id="5" name="Rectangle 4"/>
          <p:cNvSpPr/>
          <p:nvPr/>
        </p:nvSpPr>
        <p:spPr>
          <a:xfrm>
            <a:off x="0" y="6492240"/>
            <a:ext cx="12191695" cy="36576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11155680" cy="274320"/>
          </a:xfrm>
          <a:prstGeom prst="rect">
            <a:avLst/>
          </a:prstGeom>
          <a:noFill/>
        </p:spPr>
        <p:txBody>
          <a:bodyPr wrap="square" anchor="t" lIns="45720" rIns="45720" tIns="27432" bIns="27432">
            <a:spAutoFit/>
          </a:bodyPr>
          <a:lstStyle/>
          <a:p>
            <a:pPr algn="l">
              <a:spcAft>
                <a:spcPts val="500"/>
              </a:spcAft>
            </a:pPr>
            <a:r>
              <a:rPr sz="1100" b="0">
                <a:solidFill>
                  <a:srgbClr val="444F5A"/>
                </a:solidFill>
                <a:latin typeface="Calibri"/>
              </a:rPr>
              <a:t>TriageAI headache flow  |  DRAFT for clinician correction  |  Not medical advice  |  BETONIQ WEST LTD</a:t>
            </a:r>
          </a:p>
        </p:txBody>
      </p:sp>
      <p:sp>
        <p:nvSpPr>
          <p:cNvPr id="7" name="TextBox 6"/>
          <p:cNvSpPr txBox="1"/>
          <p:nvPr/>
        </p:nvSpPr>
        <p:spPr>
          <a:xfrm>
            <a:off x="548640" y="1207008"/>
            <a:ext cx="11064240" cy="457200"/>
          </a:xfrm>
          <a:prstGeom prst="rect">
            <a:avLst/>
          </a:prstGeom>
          <a:noFill/>
        </p:spPr>
        <p:txBody>
          <a:bodyPr wrap="square" anchor="t" lIns="45720" rIns="45720" tIns="27432" bIns="27432">
            <a:spAutoFit/>
          </a:bodyPr>
          <a:lstStyle/>
          <a:p>
            <a:pPr algn="l">
              <a:spcAft>
                <a:spcPts val="500"/>
              </a:spcAft>
            </a:pPr>
            <a:r>
              <a:rPr sz="1700" b="0">
                <a:solidFill>
                  <a:srgbClr val="0E7C86"/>
                </a:solidFill>
                <a:latin typeface="Calibri"/>
              </a:rPr>
              <a:t>A "yes" to any of these sends the person straight to EMERGENCY</a:t>
            </a:r>
          </a:p>
        </p:txBody>
      </p:sp>
      <p:pic>
        <p:nvPicPr>
          <p:cNvPr id="8" name="Picture 7" descr="f_stroke.png"/>
          <p:cNvPicPr>
            <a:picLocks noChangeAspect="1"/>
          </p:cNvPicPr>
          <p:nvPr/>
        </p:nvPicPr>
        <p:blipFill>
          <a:blip r:embed="rId2"/>
          <a:stretch>
            <a:fillRect/>
          </a:stretch>
        </p:blipFill>
        <p:spPr>
          <a:xfrm>
            <a:off x="548640" y="1783080"/>
            <a:ext cx="2651760" cy="2651760"/>
          </a:xfrm>
          <a:prstGeom prst="rect">
            <a:avLst/>
          </a:prstGeom>
        </p:spPr>
      </p:pic>
      <p:pic>
        <p:nvPicPr>
          <p:cNvPr id="9" name="Picture 8" descr="m_stroke.png"/>
          <p:cNvPicPr>
            <a:picLocks noChangeAspect="1"/>
          </p:cNvPicPr>
          <p:nvPr/>
        </p:nvPicPr>
        <p:blipFill>
          <a:blip r:embed="rId3"/>
          <a:stretch>
            <a:fillRect/>
          </a:stretch>
        </p:blipFill>
        <p:spPr>
          <a:xfrm>
            <a:off x="3383280" y="1783080"/>
            <a:ext cx="2651760" cy="2651760"/>
          </a:xfrm>
          <a:prstGeom prst="rect">
            <a:avLst/>
          </a:prstGeom>
        </p:spPr>
      </p:pic>
      <p:pic>
        <p:nvPicPr>
          <p:cNvPr id="10" name="Picture 9" descr="f_chest.png"/>
          <p:cNvPicPr>
            <a:picLocks noChangeAspect="1"/>
          </p:cNvPicPr>
          <p:nvPr/>
        </p:nvPicPr>
        <p:blipFill>
          <a:blip r:embed="rId4"/>
          <a:stretch>
            <a:fillRect/>
          </a:stretch>
        </p:blipFill>
        <p:spPr>
          <a:xfrm>
            <a:off x="6217920" y="1783080"/>
            <a:ext cx="2651760" cy="2651760"/>
          </a:xfrm>
          <a:prstGeom prst="rect">
            <a:avLst/>
          </a:prstGeom>
        </p:spPr>
      </p:pic>
      <p:pic>
        <p:nvPicPr>
          <p:cNvPr id="11" name="Picture 10" descr="m_chest_b.png"/>
          <p:cNvPicPr>
            <a:picLocks noChangeAspect="1"/>
          </p:cNvPicPr>
          <p:nvPr/>
        </p:nvPicPr>
        <p:blipFill>
          <a:blip r:embed="rId5"/>
          <a:stretch>
            <a:fillRect/>
          </a:stretch>
        </p:blipFill>
        <p:spPr>
          <a:xfrm>
            <a:off x="9052560" y="1783080"/>
            <a:ext cx="2651760" cy="2651760"/>
          </a:xfrm>
          <a:prstGeom prst="rect">
            <a:avLst/>
          </a:prstGeom>
        </p:spPr>
      </p:pic>
      <p:sp>
        <p:nvSpPr>
          <p:cNvPr id="12" name="TextBox 11"/>
          <p:cNvSpPr txBox="1"/>
          <p:nvPr/>
        </p:nvSpPr>
        <p:spPr>
          <a:xfrm>
            <a:off x="548640" y="4526280"/>
            <a:ext cx="5486400" cy="548640"/>
          </a:xfrm>
          <a:prstGeom prst="rect">
            <a:avLst/>
          </a:prstGeom>
          <a:noFill/>
        </p:spPr>
        <p:txBody>
          <a:bodyPr wrap="square" anchor="t" lIns="45720" rIns="45720" tIns="27432" bIns="27432">
            <a:spAutoFit/>
          </a:bodyPr>
          <a:lstStyle/>
          <a:p>
            <a:pPr algn="l">
              <a:spcAft>
                <a:spcPts val="500"/>
              </a:spcAft>
            </a:pPr>
            <a:r>
              <a:rPr sz="1400" b="1">
                <a:solidFill>
                  <a:srgbClr val="B42318"/>
                </a:solidFill>
                <a:latin typeface="Calibri"/>
              </a:rPr>
              <a:t>Face drooping, one arm weak, confusion: possible stroke signs.</a:t>
            </a:r>
          </a:p>
        </p:txBody>
      </p:sp>
      <p:sp>
        <p:nvSpPr>
          <p:cNvPr id="13" name="TextBox 12"/>
          <p:cNvSpPr txBox="1"/>
          <p:nvPr/>
        </p:nvSpPr>
        <p:spPr>
          <a:xfrm>
            <a:off x="6217920" y="4526280"/>
            <a:ext cx="5486400" cy="548640"/>
          </a:xfrm>
          <a:prstGeom prst="rect">
            <a:avLst/>
          </a:prstGeom>
          <a:noFill/>
        </p:spPr>
        <p:txBody>
          <a:bodyPr wrap="square" anchor="t" lIns="45720" rIns="45720" tIns="27432" bIns="27432">
            <a:spAutoFit/>
          </a:bodyPr>
          <a:lstStyle/>
          <a:p>
            <a:pPr algn="l">
              <a:spcAft>
                <a:spcPts val="500"/>
              </a:spcAft>
            </a:pPr>
            <a:r>
              <a:rPr sz="1400" b="1">
                <a:solidFill>
                  <a:srgbClr val="B42318"/>
                </a:solidFill>
                <a:latin typeface="Calibri"/>
              </a:rPr>
              <a:t>Chest tightness, a squeezing band across the chest: seek urgent care.</a:t>
            </a:r>
          </a:p>
        </p:txBody>
      </p:sp>
      <p:sp>
        <p:nvSpPr>
          <p:cNvPr id="14" name="TextBox 13"/>
          <p:cNvSpPr txBox="1"/>
          <p:nvPr/>
        </p:nvSpPr>
        <p:spPr>
          <a:xfrm>
            <a:off x="548640" y="5394960"/>
            <a:ext cx="11064240" cy="914400"/>
          </a:xfrm>
          <a:prstGeom prst="rect">
            <a:avLst/>
          </a:prstGeom>
          <a:noFill/>
        </p:spPr>
        <p:txBody>
          <a:bodyPr wrap="square" anchor="t" lIns="45720" rIns="45720" tIns="27432" bIns="27432">
            <a:spAutoFit/>
          </a:bodyPr>
          <a:lstStyle/>
          <a:p>
            <a:pPr algn="l">
              <a:spcAft>
                <a:spcPts val="500"/>
              </a:spcAft>
            </a:pPr>
            <a:r>
              <a:rPr sz="1400" b="0">
                <a:solidFill>
                  <a:srgbClr val="0B2A4A"/>
                </a:solidFill>
                <a:latin typeface="Calibri"/>
              </a:rPr>
              <a:t>Your call: should chest tightness appear in a headache flow at all, or only as a separate flow? Are the stroke signs shown clear enough for a non-medical person?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058400" cy="731520"/>
          </a:xfrm>
          <a:prstGeom prst="rect">
            <a:avLst/>
          </a:prstGeom>
          <a:noFill/>
        </p:spPr>
        <p:txBody>
          <a:bodyPr wrap="square" anchor="ctr" lIns="45720" rIns="45720" tIns="27432" bIns="27432">
            <a:spAutoFit/>
          </a:bodyPr>
          <a:lstStyle/>
          <a:p>
            <a:pPr algn="l">
              <a:spcAft>
                <a:spcPts val="500"/>
              </a:spcAft>
            </a:pPr>
            <a:r>
              <a:rPr sz="3000" b="1">
                <a:solidFill>
                  <a:srgbClr val="FFFFFF"/>
                </a:solidFill>
                <a:latin typeface="Calibri"/>
              </a:rPr>
              <a:t>Step 2: if every red flag is "no"</a:t>
            </a:r>
          </a:p>
        </p:txBody>
      </p:sp>
      <p:sp>
        <p:nvSpPr>
          <p:cNvPr id="4" name="TextBox 3"/>
          <p:cNvSpPr txBox="1"/>
          <p:nvPr/>
        </p:nvSpPr>
        <p:spPr>
          <a:xfrm>
            <a:off x="10607040" y="365760"/>
            <a:ext cx="1280160" cy="457200"/>
          </a:xfrm>
          <a:prstGeom prst="rect">
            <a:avLst/>
          </a:prstGeom>
          <a:noFill/>
        </p:spPr>
        <p:txBody>
          <a:bodyPr wrap="square" anchor="t" lIns="45720" rIns="45720" tIns="27432" bIns="27432">
            <a:spAutoFit/>
          </a:bodyPr>
          <a:lstStyle/>
          <a:p>
            <a:pPr algn="r">
              <a:spcAft>
                <a:spcPts val="500"/>
              </a:spcAft>
            </a:pPr>
            <a:r>
              <a:rPr sz="1600" b="0">
                <a:solidFill>
                  <a:srgbClr val="BFD4E6"/>
                </a:solidFill>
                <a:latin typeface="Calibri"/>
              </a:rPr>
              <a:t>6 / 8</a:t>
            </a:r>
          </a:p>
        </p:txBody>
      </p:sp>
      <p:sp>
        <p:nvSpPr>
          <p:cNvPr id="5" name="Rectangle 4"/>
          <p:cNvSpPr/>
          <p:nvPr/>
        </p:nvSpPr>
        <p:spPr>
          <a:xfrm>
            <a:off x="0" y="6492240"/>
            <a:ext cx="12191695" cy="36576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11155680" cy="274320"/>
          </a:xfrm>
          <a:prstGeom prst="rect">
            <a:avLst/>
          </a:prstGeom>
          <a:noFill/>
        </p:spPr>
        <p:txBody>
          <a:bodyPr wrap="square" anchor="t" lIns="45720" rIns="45720" tIns="27432" bIns="27432">
            <a:spAutoFit/>
          </a:bodyPr>
          <a:lstStyle/>
          <a:p>
            <a:pPr algn="l">
              <a:spcAft>
                <a:spcPts val="500"/>
              </a:spcAft>
            </a:pPr>
            <a:r>
              <a:rPr sz="1100" b="0">
                <a:solidFill>
                  <a:srgbClr val="444F5A"/>
                </a:solidFill>
                <a:latin typeface="Calibri"/>
              </a:rPr>
              <a:t>TriageAI headache flow  |  DRAFT for clinician correction  |  Not medical advice  |  BETONIQ WEST LTD</a:t>
            </a:r>
          </a:p>
        </p:txBody>
      </p:sp>
      <p:sp>
        <p:nvSpPr>
          <p:cNvPr id="7" name="TextBox 6"/>
          <p:cNvSpPr txBox="1"/>
          <p:nvPr/>
        </p:nvSpPr>
        <p:spPr>
          <a:xfrm>
            <a:off x="548640" y="1207008"/>
            <a:ext cx="11064240" cy="457200"/>
          </a:xfrm>
          <a:prstGeom prst="rect">
            <a:avLst/>
          </a:prstGeom>
          <a:noFill/>
        </p:spPr>
        <p:txBody>
          <a:bodyPr wrap="square" anchor="t" lIns="45720" rIns="45720" tIns="27432" bIns="27432">
            <a:spAutoFit/>
          </a:bodyPr>
          <a:lstStyle/>
          <a:p>
            <a:pPr algn="l">
              <a:spcAft>
                <a:spcPts val="500"/>
              </a:spcAft>
            </a:pPr>
            <a:r>
              <a:rPr sz="1700" b="0">
                <a:solidFill>
                  <a:srgbClr val="0E7C86"/>
                </a:solidFill>
                <a:latin typeface="Calibri"/>
              </a:rPr>
              <a:t>A few context questions decide between CLINIC TODAY and SELF-CARE</a:t>
            </a:r>
          </a:p>
        </p:txBody>
      </p:sp>
      <p:sp>
        <p:nvSpPr>
          <p:cNvPr id="8" name="TextBox 7"/>
          <p:cNvSpPr txBox="1"/>
          <p:nvPr/>
        </p:nvSpPr>
        <p:spPr>
          <a:xfrm>
            <a:off x="548640" y="1737360"/>
            <a:ext cx="5852160" cy="4572000"/>
          </a:xfrm>
          <a:prstGeom prst="rect">
            <a:avLst/>
          </a:prstGeom>
          <a:noFill/>
        </p:spPr>
        <p:txBody>
          <a:bodyPr wrap="square" anchor="t" lIns="45720" rIns="45720" tIns="27432" bIns="27432">
            <a:spAutoFit/>
          </a:bodyPr>
          <a:lstStyle/>
          <a:p>
            <a:pPr algn="l">
              <a:spcAft>
                <a:spcPts val="500"/>
              </a:spcAft>
            </a:pPr>
            <a:r>
              <a:rPr sz="1500" b="0">
                <a:solidFill>
                  <a:srgbClr val="444F5A"/>
                </a:solidFill>
                <a:latin typeface="Calibri"/>
              </a:rPr>
              <a:t>A.  How long have you had this headache?</a:t>
            </a:r>
          </a:p>
          <a:p>
            <a:pPr algn="l">
              <a:spcAft>
                <a:spcPts val="500"/>
              </a:spcAft>
            </a:pPr>
            <a:r>
              <a:rPr sz="1500" b="0">
                <a:solidFill>
                  <a:srgbClr val="444F5A"/>
                </a:solidFill>
                <a:latin typeface="Calibri"/>
              </a:rPr>
              <a:t>     Under 24 hours  |  1 to 3 days  |  more than 3 days</a:t>
            </a:r>
          </a:p>
          <a:p>
            <a:pPr algn="l">
              <a:spcAft>
                <a:spcPts val="500"/>
              </a:spcAft>
            </a:pPr>
            <a:r>
              <a:rPr sz="1500" b="0">
                <a:solidFill>
                  <a:srgbClr val="444F5A"/>
                </a:solidFill>
                <a:latin typeface="Calibri"/>
              </a:rPr>
              <a:t>B.  Is it getting worse day by day, or waking you from sleep?</a:t>
            </a:r>
          </a:p>
          <a:p>
            <a:pPr algn="l">
              <a:spcAft>
                <a:spcPts val="500"/>
              </a:spcAft>
            </a:pPr>
            <a:r>
              <a:rPr sz="1500" b="0">
                <a:solidFill>
                  <a:srgbClr val="444F5A"/>
                </a:solidFill>
                <a:latin typeface="Calibri"/>
              </a:rPr>
              <a:t>C.  Do you have vomiting that will not stop, or cannot keep fluids down?</a:t>
            </a:r>
          </a:p>
          <a:p>
            <a:pPr algn="l">
              <a:spcAft>
                <a:spcPts val="500"/>
              </a:spcAft>
            </a:pPr>
            <a:r>
              <a:rPr sz="1500" b="0">
                <a:solidFill>
                  <a:srgbClr val="444F5A"/>
                </a:solidFill>
                <a:latin typeface="Calibri"/>
              </a:rPr>
              <a:t>D.  Are you over 50 with a headache that is new for you?</a:t>
            </a:r>
          </a:p>
          <a:p>
            <a:pPr algn="l">
              <a:spcAft>
                <a:spcPts val="500"/>
              </a:spcAft>
            </a:pPr>
            <a:r>
              <a:rPr sz="1500" b="0">
                <a:solidFill>
                  <a:srgbClr val="444F5A"/>
                </a:solidFill>
                <a:latin typeface="Calibri"/>
              </a:rPr>
              <a:t>E.  Do you have a long-term illness or a weak immune system?</a:t>
            </a:r>
          </a:p>
          <a:p>
            <a:pPr algn="l">
              <a:spcAft>
                <a:spcPts val="500"/>
              </a:spcAft>
            </a:pPr>
            <a:r>
              <a:rPr sz="1500" b="0">
                <a:solidFill>
                  <a:srgbClr val="444F5A"/>
                </a:solidFill>
                <a:latin typeface="Calibri"/>
              </a:rPr>
              <a:t>F.  Is the pain stopping you doing normal daily things?</a:t>
            </a:r>
          </a:p>
        </p:txBody>
      </p:sp>
      <p:sp>
        <p:nvSpPr>
          <p:cNvPr id="9" name="Rectangle 8"/>
          <p:cNvSpPr/>
          <p:nvPr/>
        </p:nvSpPr>
        <p:spPr>
          <a:xfrm>
            <a:off x="6766560" y="1783080"/>
            <a:ext cx="4937760" cy="2011680"/>
          </a:xfrm>
          <a:prstGeom prst="rect">
            <a:avLst/>
          </a:prstGeom>
          <a:solidFill>
            <a:srgbClr val="F2F6F9"/>
          </a:solidFill>
          <a:ln w="19050">
            <a:solidFill>
              <a:srgbClr val="B4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828800"/>
            <a:ext cx="4754880" cy="1920240"/>
          </a:xfrm>
          <a:prstGeom prst="rect">
            <a:avLst/>
          </a:prstGeom>
          <a:noFill/>
        </p:spPr>
        <p:txBody>
          <a:bodyPr wrap="square" anchor="t" lIns="45720" rIns="45720" tIns="27432" bIns="27432">
            <a:spAutoFit/>
          </a:bodyPr>
          <a:lstStyle/>
          <a:p>
            <a:pPr algn="l">
              <a:spcAft>
                <a:spcPts val="500"/>
              </a:spcAft>
            </a:pPr>
            <a:r>
              <a:rPr sz="1400" b="1">
                <a:solidFill>
                  <a:srgbClr val="B46A00"/>
                </a:solidFill>
                <a:latin typeface="Calibri"/>
              </a:rPr>
              <a:t>CLINIC TODAY if any of:</a:t>
            </a:r>
          </a:p>
          <a:p>
            <a:pPr algn="l">
              <a:spcAft>
                <a:spcPts val="500"/>
              </a:spcAft>
            </a:pPr>
            <a:r>
              <a:rPr sz="1400" b="1">
                <a:solidFill>
                  <a:srgbClr val="B46A00"/>
                </a:solidFill>
                <a:latin typeface="Calibri"/>
              </a:rPr>
              <a:t>B yes  |  C yes  |  D yes  |  E yes  |  A is more than 3 days  |  F yes with fever</a:t>
            </a:r>
          </a:p>
        </p:txBody>
      </p:sp>
      <p:sp>
        <p:nvSpPr>
          <p:cNvPr id="11" name="Rectangle 10"/>
          <p:cNvSpPr/>
          <p:nvPr/>
        </p:nvSpPr>
        <p:spPr>
          <a:xfrm>
            <a:off x="6766560" y="3931920"/>
            <a:ext cx="4937760" cy="1463040"/>
          </a:xfrm>
          <a:prstGeom prst="rect">
            <a:avLst/>
          </a:prstGeom>
          <a:solidFill>
            <a:srgbClr val="F2F6F9"/>
          </a:solidFill>
          <a:ln w="19050">
            <a:solidFill>
              <a:srgbClr val="1E7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977639"/>
            <a:ext cx="4754880" cy="1371600"/>
          </a:xfrm>
          <a:prstGeom prst="rect">
            <a:avLst/>
          </a:prstGeom>
          <a:noFill/>
        </p:spPr>
        <p:txBody>
          <a:bodyPr wrap="square" anchor="t" lIns="45720" rIns="45720" tIns="27432" bIns="27432">
            <a:spAutoFit/>
          </a:bodyPr>
          <a:lstStyle/>
          <a:p>
            <a:pPr algn="l">
              <a:spcAft>
                <a:spcPts val="500"/>
              </a:spcAft>
            </a:pPr>
            <a:r>
              <a:rPr sz="1400" b="1">
                <a:solidFill>
                  <a:srgbClr val="1E7B3A"/>
                </a:solidFill>
                <a:latin typeface="Calibri"/>
              </a:rPr>
              <a:t>SELF-CARE if:</a:t>
            </a:r>
          </a:p>
          <a:p>
            <a:pPr algn="l">
              <a:spcAft>
                <a:spcPts val="500"/>
              </a:spcAft>
            </a:pPr>
            <a:r>
              <a:rPr sz="1400" b="1">
                <a:solidFill>
                  <a:srgbClr val="1E7B3A"/>
                </a:solidFill>
                <a:latin typeface="Calibri"/>
              </a:rPr>
              <a:t>none of the above apply</a:t>
            </a:r>
          </a:p>
        </p:txBody>
      </p:sp>
      <p:sp>
        <p:nvSpPr>
          <p:cNvPr id="13" name="TextBox 12"/>
          <p:cNvSpPr txBox="1"/>
          <p:nvPr/>
        </p:nvSpPr>
        <p:spPr>
          <a:xfrm>
            <a:off x="6766560" y="5486400"/>
            <a:ext cx="4937760" cy="914400"/>
          </a:xfrm>
          <a:prstGeom prst="rect">
            <a:avLst/>
          </a:prstGeom>
          <a:noFill/>
        </p:spPr>
        <p:txBody>
          <a:bodyPr wrap="square" anchor="t" lIns="45720" rIns="45720" tIns="27432" bIns="27432">
            <a:spAutoFit/>
          </a:bodyPr>
          <a:lstStyle/>
          <a:p>
            <a:pPr algn="l">
              <a:spcAft>
                <a:spcPts val="500"/>
              </a:spcAft>
            </a:pPr>
            <a:r>
              <a:rPr sz="1400" b="0">
                <a:solidFill>
                  <a:srgbClr val="0B2A4A"/>
                </a:solidFill>
                <a:latin typeface="Calibri"/>
              </a:rPr>
              <a:t>Your call: are these thresholds sensible, and is anything missing for children?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058400" cy="731520"/>
          </a:xfrm>
          <a:prstGeom prst="rect">
            <a:avLst/>
          </a:prstGeom>
          <a:noFill/>
        </p:spPr>
        <p:txBody>
          <a:bodyPr wrap="square" anchor="ctr" lIns="45720" rIns="45720" tIns="27432" bIns="27432">
            <a:spAutoFit/>
          </a:bodyPr>
          <a:lstStyle/>
          <a:p>
            <a:pPr algn="l">
              <a:spcAft>
                <a:spcPts val="500"/>
              </a:spcAft>
            </a:pPr>
            <a:r>
              <a:rPr sz="3000" b="1">
                <a:solidFill>
                  <a:srgbClr val="FFFFFF"/>
                </a:solidFill>
                <a:latin typeface="Calibri"/>
              </a:rPr>
              <a:t>Step 3: what the person sees</a:t>
            </a:r>
          </a:p>
        </p:txBody>
      </p:sp>
      <p:sp>
        <p:nvSpPr>
          <p:cNvPr id="4" name="TextBox 3"/>
          <p:cNvSpPr txBox="1"/>
          <p:nvPr/>
        </p:nvSpPr>
        <p:spPr>
          <a:xfrm>
            <a:off x="10607040" y="365760"/>
            <a:ext cx="1280160" cy="457200"/>
          </a:xfrm>
          <a:prstGeom prst="rect">
            <a:avLst/>
          </a:prstGeom>
          <a:noFill/>
        </p:spPr>
        <p:txBody>
          <a:bodyPr wrap="square" anchor="t" lIns="45720" rIns="45720" tIns="27432" bIns="27432">
            <a:spAutoFit/>
          </a:bodyPr>
          <a:lstStyle/>
          <a:p>
            <a:pPr algn="r">
              <a:spcAft>
                <a:spcPts val="500"/>
              </a:spcAft>
            </a:pPr>
            <a:r>
              <a:rPr sz="1600" b="0">
                <a:solidFill>
                  <a:srgbClr val="BFD4E6"/>
                </a:solidFill>
                <a:latin typeface="Calibri"/>
              </a:rPr>
              <a:t>7 / 8</a:t>
            </a:r>
          </a:p>
        </p:txBody>
      </p:sp>
      <p:sp>
        <p:nvSpPr>
          <p:cNvPr id="5" name="Rectangle 4"/>
          <p:cNvSpPr/>
          <p:nvPr/>
        </p:nvSpPr>
        <p:spPr>
          <a:xfrm>
            <a:off x="0" y="6492240"/>
            <a:ext cx="12191695" cy="36576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11155680" cy="274320"/>
          </a:xfrm>
          <a:prstGeom prst="rect">
            <a:avLst/>
          </a:prstGeom>
          <a:noFill/>
        </p:spPr>
        <p:txBody>
          <a:bodyPr wrap="square" anchor="t" lIns="45720" rIns="45720" tIns="27432" bIns="27432">
            <a:spAutoFit/>
          </a:bodyPr>
          <a:lstStyle/>
          <a:p>
            <a:pPr algn="l">
              <a:spcAft>
                <a:spcPts val="500"/>
              </a:spcAft>
            </a:pPr>
            <a:r>
              <a:rPr sz="1100" b="0">
                <a:solidFill>
                  <a:srgbClr val="444F5A"/>
                </a:solidFill>
                <a:latin typeface="Calibri"/>
              </a:rPr>
              <a:t>TriageAI headache flow  |  DRAFT for clinician correction  |  Not medical advice  |  BETONIQ WEST LTD</a:t>
            </a:r>
          </a:p>
        </p:txBody>
      </p:sp>
      <p:sp>
        <p:nvSpPr>
          <p:cNvPr id="7" name="TextBox 6"/>
          <p:cNvSpPr txBox="1"/>
          <p:nvPr/>
        </p:nvSpPr>
        <p:spPr>
          <a:xfrm>
            <a:off x="548640" y="1207008"/>
            <a:ext cx="11064240" cy="457200"/>
          </a:xfrm>
          <a:prstGeom prst="rect">
            <a:avLst/>
          </a:prstGeom>
          <a:noFill/>
        </p:spPr>
        <p:txBody>
          <a:bodyPr wrap="square" anchor="t" lIns="45720" rIns="45720" tIns="27432" bIns="27432">
            <a:spAutoFit/>
          </a:bodyPr>
          <a:lstStyle/>
          <a:p>
            <a:pPr algn="l">
              <a:spcAft>
                <a:spcPts val="500"/>
              </a:spcAft>
            </a:pPr>
            <a:r>
              <a:rPr sz="1700" b="0">
                <a:solidFill>
                  <a:srgbClr val="0E7C86"/>
                </a:solidFill>
                <a:latin typeface="Calibri"/>
              </a:rPr>
              <a:t>Wording is as important as logic. Please rewrite it freely.</a:t>
            </a:r>
          </a:p>
        </p:txBody>
      </p:sp>
      <p:sp>
        <p:nvSpPr>
          <p:cNvPr id="8" name="Rectangle 7"/>
          <p:cNvSpPr/>
          <p:nvPr/>
        </p:nvSpPr>
        <p:spPr>
          <a:xfrm>
            <a:off x="548640" y="1737360"/>
            <a:ext cx="11064240" cy="1234440"/>
          </a:xfrm>
          <a:prstGeom prst="rect">
            <a:avLst/>
          </a:prstGeom>
          <a:solidFill>
            <a:srgbClr val="F2F6F9"/>
          </a:solidFill>
          <a:ln w="1905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83080"/>
            <a:ext cx="10789920" cy="1188720"/>
          </a:xfrm>
          <a:prstGeom prst="rect">
            <a:avLst/>
          </a:prstGeom>
          <a:noFill/>
        </p:spPr>
        <p:txBody>
          <a:bodyPr wrap="square" anchor="t" lIns="45720" rIns="45720" tIns="27432" bIns="27432">
            <a:spAutoFit/>
          </a:bodyPr>
          <a:lstStyle/>
          <a:p>
            <a:pPr algn="l">
              <a:spcAft>
                <a:spcPts val="500"/>
              </a:spcAft>
            </a:pPr>
            <a:r>
              <a:rPr sz="1400" b="0">
                <a:solidFill>
                  <a:srgbClr val="444F5A"/>
                </a:solidFill>
                <a:latin typeface="Calibri"/>
              </a:rPr>
              <a:t>EMERGENCY</a:t>
            </a:r>
          </a:p>
          <a:p>
            <a:pPr algn="l">
              <a:spcAft>
                <a:spcPts val="500"/>
              </a:spcAft>
            </a:pPr>
            <a:r>
              <a:rPr sz="1400" b="0">
                <a:solidFill>
                  <a:srgbClr val="444F5A"/>
                </a:solidFill>
                <a:latin typeface="Calibri"/>
              </a:rPr>
              <a:t>"Your answers suggest you should get urgent medical care now. Go to the nearest emergency unit or call emergency services. Do not wait. Do not drive yourself if you feel unwell."</a:t>
            </a:r>
          </a:p>
        </p:txBody>
      </p:sp>
      <p:sp>
        <p:nvSpPr>
          <p:cNvPr id="10" name="Rectangle 9"/>
          <p:cNvSpPr/>
          <p:nvPr/>
        </p:nvSpPr>
        <p:spPr>
          <a:xfrm>
            <a:off x="548640" y="3108960"/>
            <a:ext cx="11064240" cy="1234440"/>
          </a:xfrm>
          <a:prstGeom prst="rect">
            <a:avLst/>
          </a:prstGeom>
          <a:solidFill>
            <a:srgbClr val="F2F6F9"/>
          </a:solidFill>
          <a:ln w="19050">
            <a:solidFill>
              <a:srgbClr val="B4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54680"/>
            <a:ext cx="10789920" cy="1188720"/>
          </a:xfrm>
          <a:prstGeom prst="rect">
            <a:avLst/>
          </a:prstGeom>
          <a:noFill/>
        </p:spPr>
        <p:txBody>
          <a:bodyPr wrap="square" anchor="t" lIns="45720" rIns="45720" tIns="27432" bIns="27432">
            <a:spAutoFit/>
          </a:bodyPr>
          <a:lstStyle/>
          <a:p>
            <a:pPr algn="l">
              <a:spcAft>
                <a:spcPts val="500"/>
              </a:spcAft>
            </a:pPr>
            <a:r>
              <a:rPr sz="1400" b="0">
                <a:solidFill>
                  <a:srgbClr val="444F5A"/>
                </a:solidFill>
                <a:latin typeface="Calibri"/>
              </a:rPr>
              <a:t>CLINIC TODAY</a:t>
            </a:r>
          </a:p>
          <a:p>
            <a:pPr algn="l">
              <a:spcAft>
                <a:spcPts val="500"/>
              </a:spcAft>
            </a:pPr>
            <a:r>
              <a:rPr sz="1400" b="0">
                <a:solidFill>
                  <a:srgbClr val="444F5A"/>
                </a:solidFill>
                <a:latin typeface="Calibri"/>
              </a:rPr>
              <a:t>"Please see a doctor or nurse within 24 hours. If you get a stiff neck, confusion, weakness, vision change or a sudden severe worsening, go to emergency care at once."</a:t>
            </a:r>
          </a:p>
        </p:txBody>
      </p:sp>
      <p:sp>
        <p:nvSpPr>
          <p:cNvPr id="12" name="Rectangle 11"/>
          <p:cNvSpPr/>
          <p:nvPr/>
        </p:nvSpPr>
        <p:spPr>
          <a:xfrm>
            <a:off x="548640" y="4480560"/>
            <a:ext cx="11064240" cy="1234440"/>
          </a:xfrm>
          <a:prstGeom prst="rect">
            <a:avLst/>
          </a:prstGeom>
          <a:solidFill>
            <a:srgbClr val="F2F6F9"/>
          </a:solidFill>
          <a:ln w="19050">
            <a:solidFill>
              <a:srgbClr val="1E7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526280"/>
            <a:ext cx="10789920" cy="1188720"/>
          </a:xfrm>
          <a:prstGeom prst="rect">
            <a:avLst/>
          </a:prstGeom>
          <a:noFill/>
        </p:spPr>
        <p:txBody>
          <a:bodyPr wrap="square" anchor="t" lIns="45720" rIns="45720" tIns="27432" bIns="27432">
            <a:spAutoFit/>
          </a:bodyPr>
          <a:lstStyle/>
          <a:p>
            <a:pPr algn="l">
              <a:spcAft>
                <a:spcPts val="500"/>
              </a:spcAft>
            </a:pPr>
            <a:r>
              <a:rPr sz="1400" b="0">
                <a:solidFill>
                  <a:srgbClr val="444F5A"/>
                </a:solidFill>
                <a:latin typeface="Calibri"/>
              </a:rPr>
              <a:t>SELF-CARE</a:t>
            </a:r>
          </a:p>
          <a:p>
            <a:pPr algn="l">
              <a:spcAft>
                <a:spcPts val="500"/>
              </a:spcAft>
            </a:pPr>
            <a:r>
              <a:rPr sz="1400" b="0">
                <a:solidFill>
                  <a:srgbClr val="444F5A"/>
                </a:solidFill>
                <a:latin typeface="Calibri"/>
              </a:rPr>
              <a:t>"This does not look like an emergency. Rest, drink fluids and take your usual pain relief as directed on the pack. See a clinician if it lasts more than 3 days or gets worse, or if any warning sign appears."</a:t>
            </a:r>
          </a:p>
        </p:txBody>
      </p:sp>
      <p:sp>
        <p:nvSpPr>
          <p:cNvPr id="14" name="TextBox 13"/>
          <p:cNvSpPr txBox="1"/>
          <p:nvPr/>
        </p:nvSpPr>
        <p:spPr>
          <a:xfrm>
            <a:off x="548640" y="5806440"/>
            <a:ext cx="11064240" cy="640080"/>
          </a:xfrm>
          <a:prstGeom prst="rect">
            <a:avLst/>
          </a:prstGeom>
          <a:noFill/>
        </p:spPr>
        <p:txBody>
          <a:bodyPr wrap="square" anchor="t" lIns="45720" rIns="45720" tIns="27432" bIns="27432">
            <a:spAutoFit/>
          </a:bodyPr>
          <a:lstStyle/>
          <a:p>
            <a:pPr algn="l">
              <a:spcAft>
                <a:spcPts val="500"/>
              </a:spcAft>
            </a:pPr>
            <a:r>
              <a:rPr sz="1400" b="1">
                <a:solidFill>
                  <a:srgbClr val="0B2A4A"/>
                </a:solidFill>
                <a:latin typeface="Calibri"/>
              </a:rPr>
              <a:t>Your call: should the SELF-CARE text mention any specific medicine, or never? We lean towards never, so the app does not advise on drugs.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058400" cy="731520"/>
          </a:xfrm>
          <a:prstGeom prst="rect">
            <a:avLst/>
          </a:prstGeom>
          <a:noFill/>
        </p:spPr>
        <p:txBody>
          <a:bodyPr wrap="square" anchor="ctr" lIns="45720" rIns="45720" tIns="27432" bIns="27432">
            <a:spAutoFit/>
          </a:bodyPr>
          <a:lstStyle/>
          <a:p>
            <a:pPr algn="l">
              <a:spcAft>
                <a:spcPts val="500"/>
              </a:spcAft>
            </a:pPr>
            <a:r>
              <a:rPr sz="3000" b="1">
                <a:solidFill>
                  <a:srgbClr val="FFFFFF"/>
                </a:solidFill>
                <a:latin typeface="Calibri"/>
              </a:rPr>
              <a:t>What we are asking, and what we will not do</a:t>
            </a:r>
          </a:p>
        </p:txBody>
      </p:sp>
      <p:sp>
        <p:nvSpPr>
          <p:cNvPr id="4" name="TextBox 3"/>
          <p:cNvSpPr txBox="1"/>
          <p:nvPr/>
        </p:nvSpPr>
        <p:spPr>
          <a:xfrm>
            <a:off x="10607040" y="365760"/>
            <a:ext cx="1280160" cy="457200"/>
          </a:xfrm>
          <a:prstGeom prst="rect">
            <a:avLst/>
          </a:prstGeom>
          <a:noFill/>
        </p:spPr>
        <p:txBody>
          <a:bodyPr wrap="square" anchor="t" lIns="45720" rIns="45720" tIns="27432" bIns="27432">
            <a:spAutoFit/>
          </a:bodyPr>
          <a:lstStyle/>
          <a:p>
            <a:pPr algn="r">
              <a:spcAft>
                <a:spcPts val="500"/>
              </a:spcAft>
            </a:pPr>
            <a:r>
              <a:rPr sz="1600" b="0">
                <a:solidFill>
                  <a:srgbClr val="BFD4E6"/>
                </a:solidFill>
                <a:latin typeface="Calibri"/>
              </a:rPr>
              <a:t>8 / 8</a:t>
            </a:r>
          </a:p>
        </p:txBody>
      </p:sp>
      <p:sp>
        <p:nvSpPr>
          <p:cNvPr id="5" name="Rectangle 4"/>
          <p:cNvSpPr/>
          <p:nvPr/>
        </p:nvSpPr>
        <p:spPr>
          <a:xfrm>
            <a:off x="0" y="6492240"/>
            <a:ext cx="12191695" cy="36576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9672"/>
            <a:ext cx="11155680" cy="274320"/>
          </a:xfrm>
          <a:prstGeom prst="rect">
            <a:avLst/>
          </a:prstGeom>
          <a:noFill/>
        </p:spPr>
        <p:txBody>
          <a:bodyPr wrap="square" anchor="t" lIns="45720" rIns="45720" tIns="27432" bIns="27432">
            <a:spAutoFit/>
          </a:bodyPr>
          <a:lstStyle/>
          <a:p>
            <a:pPr algn="l">
              <a:spcAft>
                <a:spcPts val="500"/>
              </a:spcAft>
            </a:pPr>
            <a:r>
              <a:rPr sz="1100" b="0">
                <a:solidFill>
                  <a:srgbClr val="444F5A"/>
                </a:solidFill>
                <a:latin typeface="Calibri"/>
              </a:rPr>
              <a:t>TriageAI headache flow  |  DRAFT for clinician correction  |  Not medical advice  |  BETONIQ WEST LTD</a:t>
            </a:r>
          </a:p>
        </p:txBody>
      </p:sp>
      <p:sp>
        <p:nvSpPr>
          <p:cNvPr id="7" name="TextBox 6"/>
          <p:cNvSpPr txBox="1"/>
          <p:nvPr/>
        </p:nvSpPr>
        <p:spPr>
          <a:xfrm>
            <a:off x="548640" y="1207008"/>
            <a:ext cx="11064240" cy="457200"/>
          </a:xfrm>
          <a:prstGeom prst="rect">
            <a:avLst/>
          </a:prstGeom>
          <a:noFill/>
        </p:spPr>
        <p:txBody>
          <a:bodyPr wrap="square" anchor="t" lIns="45720" rIns="45720" tIns="27432" bIns="27432">
            <a:spAutoFit/>
          </a:bodyPr>
          <a:lstStyle/>
          <a:p>
            <a:pPr algn="l">
              <a:spcAft>
                <a:spcPts val="500"/>
              </a:spcAft>
            </a:pPr>
            <a:r>
              <a:rPr sz="1700" b="0">
                <a:solidFill>
                  <a:srgbClr val="0E7C86"/>
                </a:solidFill>
                <a:latin typeface="Calibri"/>
              </a:rPr>
              <a:t>Your corrections shape the next version</a:t>
            </a:r>
          </a:p>
        </p:txBody>
      </p:sp>
      <p:sp>
        <p:nvSpPr>
          <p:cNvPr id="8" name="TextBox 7"/>
          <p:cNvSpPr txBox="1"/>
          <p:nvPr/>
        </p:nvSpPr>
        <p:spPr>
          <a:xfrm>
            <a:off x="548640" y="1737360"/>
            <a:ext cx="5669280" cy="4572000"/>
          </a:xfrm>
          <a:prstGeom prst="rect">
            <a:avLst/>
          </a:prstGeom>
          <a:noFill/>
        </p:spPr>
        <p:txBody>
          <a:bodyPr wrap="square" anchor="t" lIns="45720" rIns="45720" tIns="27432" bIns="27432">
            <a:spAutoFit/>
          </a:bodyPr>
          <a:lstStyle/>
          <a:p>
            <a:pPr algn="l">
              <a:spcAft>
                <a:spcPts val="500"/>
              </a:spcAft>
            </a:pPr>
            <a:r>
              <a:rPr sz="1600" b="0">
                <a:solidFill>
                  <a:srgbClr val="444F5A"/>
                </a:solidFill>
                <a:latin typeface="Calibri"/>
              </a:rPr>
              <a:t>Please tell us:</a:t>
            </a:r>
          </a:p>
          <a:p>
            <a:pPr algn="l">
              <a:spcAft>
                <a:spcPts val="500"/>
              </a:spcAft>
            </a:pPr>
            <a:r>
              <a:rPr sz="1600" b="0">
                <a:solidFill>
                  <a:srgbClr val="444F5A"/>
                </a:solidFill>
                <a:latin typeface="Calibri"/>
              </a:rPr>
              <a:t>1.  Which red flag or question is unsafe, missing or wrongly worded?</a:t>
            </a:r>
          </a:p>
          <a:p>
            <a:pPr algn="l">
              <a:spcAft>
                <a:spcPts val="500"/>
              </a:spcAft>
            </a:pPr>
            <a:r>
              <a:rPr sz="1600" b="0">
                <a:solidFill>
                  <a:srgbClr val="444F5A"/>
                </a:solidFill>
                <a:latin typeface="Calibri"/>
              </a:rPr>
              <a:t>2.  Are the three outcomes and their timings right?</a:t>
            </a:r>
          </a:p>
          <a:p>
            <a:pPr algn="l">
              <a:spcAft>
                <a:spcPts val="500"/>
              </a:spcAft>
            </a:pPr>
            <a:r>
              <a:rPr sz="1600" b="0">
                <a:solidFill>
                  <a:srgbClr val="444F5A"/>
                </a:solidFill>
                <a:latin typeface="Calibri"/>
              </a:rPr>
              <a:t>3.  Which patients should the app refuse to triage at all, such as young children?</a:t>
            </a:r>
          </a:p>
          <a:p>
            <a:pPr algn="l">
              <a:spcAft>
                <a:spcPts val="500"/>
              </a:spcAft>
            </a:pPr>
            <a:r>
              <a:rPr sz="1600" b="0">
                <a:solidFill>
                  <a:srgbClr val="444F5A"/>
                </a:solidFill>
                <a:latin typeface="Calibri"/>
              </a:rPr>
              <a:t>4.  The single most important change to make first.</a:t>
            </a:r>
          </a:p>
        </p:txBody>
      </p:sp>
      <p:sp>
        <p:nvSpPr>
          <p:cNvPr id="9" name="Rectangle 8"/>
          <p:cNvSpPr/>
          <p:nvPr/>
        </p:nvSpPr>
        <p:spPr>
          <a:xfrm>
            <a:off x="6583680" y="1783080"/>
            <a:ext cx="5120640" cy="4114800"/>
          </a:xfrm>
          <a:prstGeom prst="rect">
            <a:avLst/>
          </a:prstGeom>
          <a:solidFill>
            <a:srgbClr val="F2F6F9"/>
          </a:solidFill>
          <a:ln w="1905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1828800"/>
            <a:ext cx="4754880" cy="457200"/>
          </a:xfrm>
          <a:prstGeom prst="rect">
            <a:avLst/>
          </a:prstGeom>
          <a:noFill/>
        </p:spPr>
        <p:txBody>
          <a:bodyPr wrap="square" anchor="t" lIns="45720" rIns="45720" tIns="27432" bIns="27432">
            <a:spAutoFit/>
          </a:bodyPr>
          <a:lstStyle/>
          <a:p>
            <a:pPr algn="l">
              <a:spcAft>
                <a:spcPts val="500"/>
              </a:spcAft>
            </a:pPr>
            <a:r>
              <a:rPr sz="1600" b="1">
                <a:solidFill>
                  <a:srgbClr val="B42318"/>
                </a:solidFill>
                <a:latin typeface="Calibri"/>
              </a:rPr>
              <a:t>What we will not do</a:t>
            </a:r>
          </a:p>
        </p:txBody>
      </p:sp>
      <p:sp>
        <p:nvSpPr>
          <p:cNvPr id="11" name="TextBox 10"/>
          <p:cNvSpPr txBox="1"/>
          <p:nvPr/>
        </p:nvSpPr>
        <p:spPr>
          <a:xfrm>
            <a:off x="6766560" y="2331720"/>
            <a:ext cx="4754880" cy="3474720"/>
          </a:xfrm>
          <a:prstGeom prst="rect">
            <a:avLst/>
          </a:prstGeom>
          <a:noFill/>
        </p:spPr>
        <p:txBody>
          <a:bodyPr wrap="square" anchor="t" lIns="45720" rIns="45720" tIns="27432" bIns="27432">
            <a:spAutoFit/>
          </a:bodyPr>
          <a:lstStyle/>
          <a:p>
            <a:pPr algn="l">
              <a:spcAft>
                <a:spcPts val="500"/>
              </a:spcAft>
            </a:pPr>
            <a:r>
              <a:rPr sz="1500" b="0">
                <a:solidFill>
                  <a:srgbClr val="444F5A"/>
                </a:solidFill>
                <a:latin typeface="Calibri"/>
              </a:rPr>
              <a:t>Name or suggest a diagnosis.</a:t>
            </a:r>
          </a:p>
          <a:p>
            <a:pPr algn="l">
              <a:spcAft>
                <a:spcPts val="500"/>
              </a:spcAft>
            </a:pPr>
            <a:r>
              <a:rPr sz="1500" b="0">
                <a:solidFill>
                  <a:srgbClr val="444F5A"/>
                </a:solidFill>
                <a:latin typeface="Calibri"/>
              </a:rPr>
              <a:t>Advise on medicines or doses.</a:t>
            </a:r>
          </a:p>
          <a:p>
            <a:pPr algn="l">
              <a:spcAft>
                <a:spcPts val="500"/>
              </a:spcAft>
            </a:pPr>
            <a:r>
              <a:rPr sz="1500" b="0">
                <a:solidFill>
                  <a:srgbClr val="444F5A"/>
                </a:solidFill>
                <a:latin typeface="Calibri"/>
              </a:rPr>
              <a:t>Publish anything until you have reviewed it.</a:t>
            </a:r>
          </a:p>
          <a:p>
            <a:pPr algn="l">
              <a:spcAft>
                <a:spcPts val="500"/>
              </a:spcAft>
            </a:pPr>
            <a:r>
              <a:rPr sz="1500" b="0">
                <a:solidFill>
                  <a:srgbClr val="444F5A"/>
                </a:solidFill>
                <a:latin typeface="Calibri"/>
              </a:rPr>
              <a:t>Use your name publicly without your written agreement.</a:t>
            </a:r>
          </a:p>
        </p:txBody>
      </p:sp>
      <p:sp>
        <p:nvSpPr>
          <p:cNvPr id="12" name="TextBox 11"/>
          <p:cNvSpPr txBox="1"/>
          <p:nvPr/>
        </p:nvSpPr>
        <p:spPr>
          <a:xfrm>
            <a:off x="548640" y="5852160"/>
            <a:ext cx="11155680" cy="548640"/>
          </a:xfrm>
          <a:prstGeom prst="rect">
            <a:avLst/>
          </a:prstGeom>
          <a:noFill/>
        </p:spPr>
        <p:txBody>
          <a:bodyPr wrap="square" anchor="t" lIns="45720" rIns="45720" tIns="27432" bIns="27432">
            <a:spAutoFit/>
          </a:bodyPr>
          <a:lstStyle/>
          <a:p>
            <a:pPr algn="l">
              <a:spcAft>
                <a:spcPts val="500"/>
              </a:spcAft>
            </a:pPr>
            <a:r>
              <a:rPr sz="1600" b="1">
                <a:solidFill>
                  <a:srgbClr val="0B2A4A"/>
                </a:solidFill>
                <a:latin typeface="Calibri"/>
              </a:rPr>
              <a:t>Reply by voice note, message or a marked-up copy. A few honest lines is plenty.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