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TriageAI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BFD4E6"/>
                </a:solidFill>
                <a:latin typeface="Calibri"/>
              </a:rPr>
              <a:t>A rule-based symptom triage and blood-panel screening 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Work in progress. Prepared for an honest professional review.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We are asking for your critical judgment on safety, wording and clinical sense.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This deck is the whole review: 6 pages, about 10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FD4E6"/>
                </a:solidFill>
                <a:latin typeface="Calibri"/>
              </a:rPr>
              <a:t>Tom Ugbodaga, Managing Director, BETONIQ WEST LTD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FD4E6"/>
                </a:solidFill>
                <a:latin typeface="Calibri"/>
              </a:rPr>
              <a:t>MSc Computer Systems Security, University of Gloucestershire (England, 2011)  |  linkedin.com/in/tom-deggs-ugbodaga-2306692bb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it is, and what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65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BFD4E6"/>
                </a:solidFill>
                <a:latin typeface="Calibri"/>
              </a:rPr>
              <a:t>2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44F5A"/>
                </a:solidFill>
                <a:latin typeface="Calibri"/>
              </a:rPr>
              <a:t>TriageAI  |  Work in progress  |  Prepared for clinical review  |  BETONIQ WEST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C86"/>
                </a:solidFill>
                <a:latin typeface="Calibri"/>
              </a:rPr>
              <a:t>The problem we are trying to help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F5A"/>
                </a:solidFill>
                <a:latin typeface="Calibri"/>
              </a:rPr>
              <a:t>Many people have no easy way to judge whether a symptom needs urgent care, a clinic visit, or home care.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F5A"/>
                </a:solidFill>
                <a:latin typeface="Calibri"/>
              </a:rPr>
              <a:t>Many also receive blood results that are filed without anyone checking for early warning markers.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F5A"/>
                </a:solidFill>
                <a:latin typeface="Calibri"/>
              </a:rPr>
              <a:t>TriageAI is a first-step aid for both. It points a person towards the right level of 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2560320" cy="3291840"/>
          </a:xfrm>
          <a:prstGeom prst="rect">
            <a:avLst/>
          </a:prstGeom>
          <a:solidFill>
            <a:srgbClr val="F2F6F9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0" y="1828800"/>
            <a:ext cx="2468880" cy="3291840"/>
          </a:xfrm>
          <a:prstGeom prst="rect">
            <a:avLst/>
          </a:prstGeom>
          <a:solidFill>
            <a:srgbClr val="F2F6F9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22860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 screening aid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Rule-based: every rule can be read and checked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Designed for SMS or simple web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92024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IT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377440"/>
            <a:ext cx="21945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 diagnosis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 replacement for a clinician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 black-box AI model deciding anything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2A4A"/>
                </a:solidFill>
                <a:latin typeface="Calibri"/>
              </a:rPr>
              <a:t>Every output carries the line: "Screening aid only, not a diagnosis. Always consult a qualified clinician."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Module 1: symptom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65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BFD4E6"/>
                </a:solidFill>
                <a:latin typeface="Calibri"/>
              </a:rPr>
              <a:t>3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44F5A"/>
                </a:solidFill>
                <a:latin typeface="Calibri"/>
              </a:rPr>
              <a:t>TriageAI  |  Work in progress  |  Prepared for clinical review  |  BETONIQ WEST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C86"/>
                </a:solidFill>
                <a:latin typeface="Calibri"/>
              </a:rPr>
              <a:t>How it decides today (exactly as built)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F5A"/>
                </a:solidFill>
                <a:latin typeface="Calibri"/>
              </a:rPr>
              <a:t>The patient types their symptoms. The tool looks for set phrases.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5486400" cy="1325880"/>
          </a:xfrm>
          <a:prstGeom prst="rect">
            <a:avLst/>
          </a:prstGeom>
          <a:solidFill>
            <a:srgbClr val="F2F6F9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2318"/>
                </a:solidFill>
                <a:latin typeface="Calibri"/>
              </a:rPr>
              <a:t>URGENT: seek care within the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52120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F5A"/>
                </a:solidFill>
                <a:latin typeface="Calibri"/>
              </a:rPr>
              <a:t>chest pain  |  difficulty breathing  |  severe bleeding  |  loss of consciousness  |  stroke symptoms  |  severe abdominal pain  |  high fever with rash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5486400" cy="1051560"/>
          </a:xfrm>
          <a:prstGeom prst="rect">
            <a:avLst/>
          </a:prstGeom>
          <a:solidFill>
            <a:srgbClr val="F2F6F9"/>
          </a:solidFill>
          <a:ln w="15875"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6A00"/>
                </a:solidFill>
                <a:latin typeface="Calibri"/>
              </a:rPr>
              <a:t>MODERATE: see a clinic in 24 to 48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5212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F5A"/>
                </a:solidFill>
                <a:latin typeface="Calibri"/>
              </a:rPr>
              <a:t>persistent cough  |  high fever  |  vomiting  |  severe headache  |  unexplained weight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5486400" cy="731520"/>
          </a:xfrm>
          <a:prstGeom prst="rect">
            <a:avLst/>
          </a:prstGeom>
          <a:solidFill>
            <a:srgbClr val="F2F6F9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20640"/>
            <a:ext cx="5212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ROUTINE: anything else, by 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A4A"/>
                </a:solidFill>
                <a:latin typeface="Calibri"/>
              </a:rPr>
              <a:t>Known limits we want you to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It matches exact phrases only. "My chest is tight" or "I can't breathe properly" would not match, and would be rated Routine.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Only 12 phrases in total. No age, sex, pregnancy, duration or severity questions.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It always suggests one clinic. There is no real location logic yet.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The wording and the tiers have not been reviewed by a clinician.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Module 2: blood-panel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65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BFD4E6"/>
                </a:solidFill>
                <a:latin typeface="Calibri"/>
              </a:rPr>
              <a:t>4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44F5A"/>
                </a:solidFill>
                <a:latin typeface="Calibri"/>
              </a:rPr>
              <a:t>TriageAI  |  Work in progress  |  Prepared for clinical review  |  BETONIQ WEST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C86"/>
                </a:solidFill>
                <a:latin typeface="Calibri"/>
              </a:rPr>
              <a:t>Compares entered values to fixed reference ranges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Marker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Range used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Flag rule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WBC (x10^9/L)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4.0 to 11.0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Outside range: flag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PSA (ng/mL)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0.0 to 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Outside range: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CEA (ng/mL)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0.0 to 2.5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Outside range: flag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CA-125 (U/mL)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0.0 to 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Outside range: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AFP (ng/mL)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0.0 to 10.0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F5A"/>
                          </a:solidFill>
                          <a:latin typeface="Calibri"/>
                        </a:rPr>
                        <a:t>Outside range: flag</a:t>
                      </a:r>
                    </a:p>
                  </a:txBody>
                  <a:tcPr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A4A"/>
                </a:solidFill>
                <a:latin typeface="Calibri"/>
              </a:rPr>
              <a:t>Questions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31720"/>
            <a:ext cx="438912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Are these ranges appropriate, and are these the right five markers?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Single fixed ranges ignore age, sex and lab method. Is that acceptable for a screening flag, or unsafe?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Is tumour-marker flagging on its own misleading, since these markers can rise for benign reasons?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Is the output wording right: "flagged for specialist review"?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Safeguards and what we have not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65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BFD4E6"/>
                </a:solidFill>
                <a:latin typeface="Calibri"/>
              </a:rPr>
              <a:t>5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44F5A"/>
                </a:solidFill>
                <a:latin typeface="Calibri"/>
              </a:rPr>
              <a:t>TriageAI  |  Work in progress  |  Prepared for clinical review  |  BETONIQ WEST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C86"/>
                </a:solidFill>
                <a:latin typeface="Calibri"/>
              </a:rPr>
              <a:t>Please be as critical as you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Calibri"/>
              </a:rPr>
              <a:t>In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486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A disclaimer on every result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The clinician makes the final judgment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account, name or personal health data is requested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Counters start from zero and count real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2318"/>
                </a:solidFill>
                <a:latin typeface="Calibri"/>
              </a:rPr>
              <a:t>Not yet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clinical validation or testing with real patients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review of the urgent and moderate lists by a doctor or nurse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handling of children, pregnancy or chronic conditions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local-language or pidgin phrasing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44F5A"/>
                </a:solidFill>
                <a:latin typeface="Calibri"/>
              </a:rPr>
              <a:t>No real clinic directory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2412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we are asking of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65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BFD4E6"/>
                </a:solidFill>
                <a:latin typeface="Calibri"/>
              </a:rPr>
              <a:t>6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9672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44F5A"/>
                </a:solidFill>
                <a:latin typeface="Calibri"/>
              </a:rPr>
              <a:t>TriageAI  |  Work in progress  |  Prepared for clinical review  |  BETONIQ WEST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C86"/>
                </a:solidFill>
                <a:latin typeface="Calibri"/>
              </a:rPr>
              <a:t>A few lines of honest feedback is plenty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F5A"/>
                </a:solidFill>
                <a:latin typeface="Calibri"/>
              </a:rPr>
              <a:t>1.  Is anything on pages 3 and 4 unsafe, wrong or misleading?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F5A"/>
                </a:solidFill>
                <a:latin typeface="Calibri"/>
              </a:rPr>
              <a:t>2.  What important symptoms or red flags are missing?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F5A"/>
                </a:solidFill>
                <a:latin typeface="Calibri"/>
              </a:rPr>
              <a:t>3.  Is the wording clear and appropriate for ordinary patients?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F5A"/>
                </a:solidFill>
                <a:latin typeface="Calibri"/>
              </a:rPr>
              <a:t>4.  Would you consider this safe as a first-step aid, with changes, or not at all?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F5A"/>
                </a:solidFill>
                <a:latin typeface="Calibri"/>
              </a:rPr>
              <a:t>5.  What is the single most important thing to fix first?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828800"/>
            <a:ext cx="4023360" cy="3017520"/>
          </a:xfrm>
          <a:prstGeom prst="rect">
            <a:avLst/>
          </a:prstGeom>
          <a:solidFill>
            <a:srgbClr val="F2F6F9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C86"/>
                </a:solidFill>
                <a:latin typeface="Calibri"/>
              </a:rPr>
              <a:t>How to reply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23160"/>
            <a:ext cx="36576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A voice note, a message or a marked-up copy of this deck, whichever is easiest.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Contact: Tom Ugbodaga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F5A"/>
                </a:solidFill>
                <a:latin typeface="Calibri"/>
              </a:rPr>
              <a:t>betoniqwestltd@gmail.com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2A4A"/>
                </a:solidFill>
                <a:latin typeface="Calibri"/>
              </a:rPr>
              <a:t>Thank you for your time and your honesty.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