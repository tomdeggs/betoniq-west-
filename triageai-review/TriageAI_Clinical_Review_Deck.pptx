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246120"/>
            <a:ext cx="1463040" cy="6400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>
                <a:solidFill>
                  <a:srgbClr val="FFFFFF"/>
                </a:solidFill>
                <a:latin typeface="Calibri"/>
              </a:rPr>
              <a:t>TriageAI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BFD4E6"/>
                </a:solidFill>
                <a:latin typeface="Calibri"/>
              </a:rPr>
              <a:t>A rule-based symptom triage and blood-panel screening aid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66160"/>
            <a:ext cx="109728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Work in progress. Prepared for an honest professional review.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We are asking for your critical judgment on safety, wording and clinical sense.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This deck is the whole review: 6 pages, about 10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064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FD4E6"/>
                </a:solidFill>
                <a:latin typeface="Calibri"/>
              </a:rPr>
              <a:t>Tom Ugbodaga, Managing Director, BETONIQ WEST LTD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BFD4E6"/>
                </a:solidFill>
                <a:latin typeface="Calibri"/>
              </a:rPr>
              <a:t>MSc Computer Systems Security, University of Gloucestershire (England, 2011)  |  linkedin.com/in/tom-deggs-ugbodaga-2306692bb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24128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What it is, and what it is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65760"/>
            <a:ext cx="12801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600" b="0">
                <a:solidFill>
                  <a:srgbClr val="BFD4E6"/>
                </a:solidFill>
                <a:latin typeface="Calibri"/>
              </a:rPr>
              <a:t>2 /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9672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444F5A"/>
                </a:solidFill>
                <a:latin typeface="Calibri"/>
              </a:rPr>
              <a:t>TriageAI  |  Work in progress  |  Prepared for clinical review  |  BETONIQ WEST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E7C86"/>
                </a:solidFill>
                <a:latin typeface="Calibri"/>
              </a:rPr>
              <a:t>The problem we are trying to help with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548640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444F5A"/>
                </a:solidFill>
                <a:latin typeface="Calibri"/>
              </a:rPr>
              <a:t>Many people have no easy way to judge whether a symptom needs urgent care, a clinic visit, or home care.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44F5A"/>
                </a:solidFill>
                <a:latin typeface="Calibri"/>
              </a:rPr>
              <a:t>Many also receive blood results that are filed without anyone checking for early warning markers.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44F5A"/>
                </a:solidFill>
                <a:latin typeface="Calibri"/>
              </a:rPr>
              <a:t>TriageAI is a first-step aid for both. It points a person towards the right level of care.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2560320" cy="3291840"/>
          </a:xfrm>
          <a:prstGeom prst="rect">
            <a:avLst/>
          </a:prstGeom>
          <a:solidFill>
            <a:srgbClr val="F2F6F9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35440" y="1828800"/>
            <a:ext cx="2468880" cy="3291840"/>
          </a:xfrm>
          <a:prstGeom prst="rect">
            <a:avLst/>
          </a:prstGeom>
          <a:solidFill>
            <a:srgbClr val="F2F6F9"/>
          </a:solidFill>
          <a:ln w="15875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C86"/>
                </a:solidFill>
                <a:latin typeface="Calibri"/>
              </a:rPr>
              <a:t>IT 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228600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F5A"/>
                </a:solidFill>
                <a:latin typeface="Calibri"/>
              </a:rPr>
              <a:t>A screening aid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F5A"/>
                </a:solidFill>
                <a:latin typeface="Calibri"/>
              </a:rPr>
              <a:t>Rule-based: every rule can be read and checked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F5A"/>
                </a:solidFill>
                <a:latin typeface="Calibri"/>
              </a:rPr>
              <a:t>Designed for SMS or simple web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2600" y="192024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42318"/>
                </a:solidFill>
                <a:latin typeface="Calibri"/>
              </a:rPr>
              <a:t>IT IS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2377440"/>
            <a:ext cx="21945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F5A"/>
                </a:solidFill>
                <a:latin typeface="Calibri"/>
              </a:rPr>
              <a:t>A diagnosis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F5A"/>
                </a:solidFill>
                <a:latin typeface="Calibri"/>
              </a:rPr>
              <a:t>A replacement for a clinician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F5A"/>
                </a:solidFill>
                <a:latin typeface="Calibri"/>
              </a:rPr>
              <a:t>A black-box AI model deciding anything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949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2A4A"/>
                </a:solidFill>
                <a:latin typeface="Calibri"/>
              </a:rPr>
              <a:t>Every output carries the line: "Screening aid only, not a diagnosis. Always consult a qualified clinician."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24128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Module 1: symptom triage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65760"/>
            <a:ext cx="12801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600" b="0">
                <a:solidFill>
                  <a:srgbClr val="BFD4E6"/>
                </a:solidFill>
                <a:latin typeface="Calibri"/>
              </a:rPr>
              <a:t>3 /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9672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444F5A"/>
                </a:solidFill>
                <a:latin typeface="Calibri"/>
              </a:rPr>
              <a:t>TriageAI  |  Work in progress  |  Prepared for clinical review  |  BETONIQ WEST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E7C86"/>
                </a:solidFill>
                <a:latin typeface="Calibri"/>
              </a:rPr>
              <a:t>How it decides today (exactly as built)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444F5A"/>
                </a:solidFill>
                <a:latin typeface="Calibri"/>
              </a:rPr>
              <a:t>The patient types their symptoms. The tool looks for set phrases.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23160"/>
            <a:ext cx="5486400" cy="1325880"/>
          </a:xfrm>
          <a:prstGeom prst="rect">
            <a:avLst/>
          </a:prstGeom>
          <a:solidFill>
            <a:srgbClr val="F2F6F9"/>
          </a:solidFill>
          <a:ln w="15875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46888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42318"/>
                </a:solidFill>
                <a:latin typeface="Calibri"/>
              </a:rPr>
              <a:t>URGENT: seek care within the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34640"/>
            <a:ext cx="52120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F5A"/>
                </a:solidFill>
                <a:latin typeface="Calibri"/>
              </a:rPr>
              <a:t>chest pain  |  difficulty breathing  |  severe bleeding  |  loss of consciousness  |  stroke symptoms  |  severe abdominal pain  |  high fever with rash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886200"/>
            <a:ext cx="5486400" cy="1051560"/>
          </a:xfrm>
          <a:prstGeom prst="rect">
            <a:avLst/>
          </a:prstGeom>
          <a:solidFill>
            <a:srgbClr val="F2F6F9"/>
          </a:solidFill>
          <a:ln w="15875">
            <a:solidFill>
              <a:srgbClr val="B4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46A00"/>
                </a:solidFill>
                <a:latin typeface="Calibri"/>
              </a:rPr>
              <a:t>MODERATE: see a clinic in 24 to 48 hours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297680"/>
            <a:ext cx="52120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44F5A"/>
                </a:solidFill>
                <a:latin typeface="Calibri"/>
              </a:rPr>
              <a:t>persistent cough  |  high fever  |  vomiting  |  severe headache  |  unexplained weight loss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074920"/>
            <a:ext cx="5486400" cy="731520"/>
          </a:xfrm>
          <a:prstGeom prst="rect">
            <a:avLst/>
          </a:prstGeom>
          <a:solidFill>
            <a:srgbClr val="F2F6F9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120640"/>
            <a:ext cx="52120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C86"/>
                </a:solidFill>
                <a:latin typeface="Calibri"/>
              </a:rPr>
              <a:t>ROUTINE: anything else, by default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828800"/>
            <a:ext cx="5303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2A4A"/>
                </a:solidFill>
                <a:latin typeface="Calibri"/>
              </a:rPr>
              <a:t>Known limits we want you to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331720"/>
            <a:ext cx="530352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F5A"/>
                </a:solidFill>
                <a:latin typeface="Calibri"/>
              </a:rPr>
              <a:t>It matches exact phrases only. "My chest is tight" or "I can't breathe properly" would not match, and would be rated Routine.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F5A"/>
                </a:solidFill>
                <a:latin typeface="Calibri"/>
              </a:rPr>
              <a:t>Only 12 phrases in total. No age, sex, pregnancy, duration or severity questions.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F5A"/>
                </a:solidFill>
                <a:latin typeface="Calibri"/>
              </a:rPr>
              <a:t>It always suggests one clinic. There is no real location logic yet.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F5A"/>
                </a:solidFill>
                <a:latin typeface="Calibri"/>
              </a:rPr>
              <a:t>The wording and the tiers have not been reviewed by a clinician.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24128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Module 2: blood-panel screening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65760"/>
            <a:ext cx="12801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600" b="0">
                <a:solidFill>
                  <a:srgbClr val="BFD4E6"/>
                </a:solidFill>
                <a:latin typeface="Calibri"/>
              </a:rPr>
              <a:t>4 /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9672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444F5A"/>
                </a:solidFill>
                <a:latin typeface="Calibri"/>
              </a:rPr>
              <a:t>TriageAI  |  Work in progress  |  Prepared for clinical review  |  BETONIQ WEST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E7C86"/>
                </a:solidFill>
                <a:latin typeface="Calibri"/>
              </a:rPr>
              <a:t>Compares entered values to fixed reference ranges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20240"/>
          <a:ext cx="64008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Marker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Range used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Flag rule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WBC (x10^9/L)</a:t>
                      </a:r>
                    </a:p>
                  </a:txBody>
                  <a:tcPr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4.0 to 11.0</a:t>
                      </a:r>
                    </a:p>
                  </a:txBody>
                  <a:tcPr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Outside range: flag</a:t>
                      </a:r>
                    </a:p>
                  </a:txBody>
                  <a:tcPr>
                    <a:solidFill>
                      <a:srgbClr val="F2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PSA (ng/mL)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0.0 to 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Outside range: flag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CEA (ng/mL)</a:t>
                      </a:r>
                    </a:p>
                  </a:txBody>
                  <a:tcPr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0.0 to 2.5</a:t>
                      </a:r>
                    </a:p>
                  </a:txBody>
                  <a:tcPr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Outside range: flag</a:t>
                      </a:r>
                    </a:p>
                  </a:txBody>
                  <a:tcPr>
                    <a:solidFill>
                      <a:srgbClr val="F2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CA-125 (U/mL)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0.0 to 35.0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Outside range: flag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AFP (ng/mL)</a:t>
                      </a:r>
                    </a:p>
                  </a:txBody>
                  <a:tcPr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0.0 to 10.0</a:t>
                      </a:r>
                    </a:p>
                  </a:txBody>
                  <a:tcPr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Outside range: flag</a:t>
                      </a:r>
                    </a:p>
                  </a:txBody>
                  <a:tcPr>
                    <a:solidFill>
                      <a:srgbClr val="F2F6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0" y="1828800"/>
            <a:ext cx="4389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2A4A"/>
                </a:solidFill>
                <a:latin typeface="Calibri"/>
              </a:rPr>
              <a:t>Questions for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331720"/>
            <a:ext cx="438912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F5A"/>
                </a:solidFill>
                <a:latin typeface="Calibri"/>
              </a:rPr>
              <a:t>Are these ranges appropriate, and are these the right five markers?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F5A"/>
                </a:solidFill>
                <a:latin typeface="Calibri"/>
              </a:rPr>
              <a:t>Single fixed ranges ignore age, sex and lab method. Is that acceptable for a screening flag, or unsafe?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F5A"/>
                </a:solidFill>
                <a:latin typeface="Calibri"/>
              </a:rPr>
              <a:t>Is tumour-marker flagging on its own misleading, since these markers can rise for benign reasons?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F5A"/>
                </a:solidFill>
                <a:latin typeface="Calibri"/>
              </a:rPr>
              <a:t>Is the output wording right: "flagged for specialist review"?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24128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Built for one country and one language at a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65760"/>
            <a:ext cx="12801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600" b="0">
                <a:solidFill>
                  <a:srgbClr val="BFD4E6"/>
                </a:solidFill>
                <a:latin typeface="Calibri"/>
              </a:rPr>
              <a:t>5 /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9672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444F5A"/>
                </a:solidFill>
                <a:latin typeface="Calibri"/>
              </a:rPr>
              <a:t>TriageAI  |  Work in progress  |  Prepared for clinical review  |  BETONIQ WEST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E7C86"/>
                </a:solidFill>
                <a:latin typeface="Calibri"/>
              </a:rPr>
              <a:t>Each version is localised, not a single global app</a:t>
            </a:r>
          </a:p>
        </p:txBody>
      </p:sp>
      <p:pic>
        <p:nvPicPr>
          <p:cNvPr id="8" name="Picture 7" descr="f_heada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2286000" cy="2286000"/>
          </a:xfrm>
          <a:prstGeom prst="rect">
            <a:avLst/>
          </a:prstGeom>
        </p:spPr>
      </p:pic>
      <p:pic>
        <p:nvPicPr>
          <p:cNvPr id="9" name="Picture 8" descr="m_chest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1828800"/>
            <a:ext cx="2286000" cy="2286000"/>
          </a:xfrm>
          <a:prstGeom prst="rect">
            <a:avLst/>
          </a:prstGeom>
        </p:spPr>
      </p:pic>
      <p:pic>
        <p:nvPicPr>
          <p:cNvPr id="10" name="Picture 9" descr="f_stro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8800"/>
            <a:ext cx="2286000" cy="228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206240"/>
            <a:ext cx="73152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44F5A"/>
                </a:solidFill>
                <a:latin typeface="Calibri"/>
              </a:rPr>
              <a:t>Illustrations like these appear next to each question, so a person with low literacy can recognise the symptom.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828800"/>
            <a:ext cx="3566160" cy="3749039"/>
          </a:xfrm>
          <a:prstGeom prst="rect">
            <a:avLst/>
          </a:prstGeom>
          <a:solidFill>
            <a:srgbClr val="F2F6F9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874519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C86"/>
                </a:solidFill>
                <a:latin typeface="Calibri"/>
              </a:rPr>
              <a:t>One country, one language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331720"/>
            <a:ext cx="3291840" cy="3200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44F5A"/>
                </a:solidFill>
                <a:latin typeface="Calibri"/>
              </a:rPr>
              <a:t>Local emergency numbers and clinics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44F5A"/>
                </a:solidFill>
                <a:latin typeface="Calibri"/>
              </a:rPr>
              <a:t>Local language and phrasing, such as pidgin where suited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44F5A"/>
                </a:solidFill>
                <a:latin typeface="Calibri"/>
              </a:rPr>
              <a:t>Local medical guidance reviewed by clinicians who practise there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37760"/>
            <a:ext cx="73152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2A4A"/>
                </a:solidFill>
                <a:latin typeface="Calibri"/>
              </a:rPr>
              <a:t>Your call: what must change for your country or language? Which local terms for these symptoms do patients actually use?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24128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Safeguards and what we have not 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65760"/>
            <a:ext cx="12801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600" b="0">
                <a:solidFill>
                  <a:srgbClr val="BFD4E6"/>
                </a:solidFill>
                <a:latin typeface="Calibri"/>
              </a:rPr>
              <a:t>6 /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9672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444F5A"/>
                </a:solidFill>
                <a:latin typeface="Calibri"/>
              </a:rPr>
              <a:t>TriageAI  |  Work in progress  |  Prepared for clinical review  |  BETONIQ WEST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E7C86"/>
                </a:solidFill>
                <a:latin typeface="Calibri"/>
              </a:rPr>
              <a:t>Please be as critical as you like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E7C86"/>
                </a:solidFill>
                <a:latin typeface="Calibri"/>
              </a:rPr>
              <a:t>In 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5486400" cy="3657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444F5A"/>
                </a:solidFill>
                <a:latin typeface="Calibri"/>
              </a:rPr>
              <a:t>A disclaimer on every result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44F5A"/>
                </a:solidFill>
                <a:latin typeface="Calibri"/>
              </a:rPr>
              <a:t>The clinician makes the final judgment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44F5A"/>
                </a:solidFill>
                <a:latin typeface="Calibri"/>
              </a:rPr>
              <a:t>No account, name or personal health data is requested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44F5A"/>
                </a:solidFill>
                <a:latin typeface="Calibri"/>
              </a:rPr>
              <a:t>Counters start from zero and count real use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5303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B42318"/>
                </a:solidFill>
                <a:latin typeface="Calibri"/>
              </a:rPr>
              <a:t>Not yet done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530352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444F5A"/>
                </a:solidFill>
                <a:latin typeface="Calibri"/>
              </a:rPr>
              <a:t>No clinical validation or testing with real patients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44F5A"/>
                </a:solidFill>
                <a:latin typeface="Calibri"/>
              </a:rPr>
              <a:t>No review of the urgent and moderate lists by a doctor or nurse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44F5A"/>
                </a:solidFill>
                <a:latin typeface="Calibri"/>
              </a:rPr>
              <a:t>No handling of children, pregnancy or chronic conditions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44F5A"/>
                </a:solidFill>
                <a:latin typeface="Calibri"/>
              </a:rPr>
              <a:t>No local-language or pidgin phrasing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444F5A"/>
                </a:solidFill>
                <a:latin typeface="Calibri"/>
              </a:rPr>
              <a:t>No real clinic directory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24128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What we are asking of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65760"/>
            <a:ext cx="12801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600" b="0">
                <a:solidFill>
                  <a:srgbClr val="BFD4E6"/>
                </a:solidFill>
                <a:latin typeface="Calibri"/>
              </a:rPr>
              <a:t>7 /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9672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444F5A"/>
                </a:solidFill>
                <a:latin typeface="Calibri"/>
              </a:rPr>
              <a:t>TriageAI  |  Work in progress  |  Prepared for clinical review  |  BETONIQ WEST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E7C86"/>
                </a:solidFill>
                <a:latin typeface="Calibri"/>
              </a:rPr>
              <a:t>A few lines of honest feedback is plenty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676656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444F5A"/>
                </a:solidFill>
                <a:latin typeface="Calibri"/>
              </a:rPr>
              <a:t>1.  Is anything on pages 3 and 4 unsafe, wrong or misleading?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444F5A"/>
                </a:solidFill>
                <a:latin typeface="Calibri"/>
              </a:rPr>
              <a:t>2.  What important symptoms or red flags are missing?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444F5A"/>
                </a:solidFill>
                <a:latin typeface="Calibri"/>
              </a:rPr>
              <a:t>3.  Is the wording clear and appropriate for ordinary patients?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444F5A"/>
                </a:solidFill>
                <a:latin typeface="Calibri"/>
              </a:rPr>
              <a:t>4.  Would you consider this safe as a first-step aid, with changes, or not at all?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444F5A"/>
                </a:solidFill>
                <a:latin typeface="Calibri"/>
              </a:rPr>
              <a:t>5.  What is the single most important thing to fix first?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1828800"/>
            <a:ext cx="4023360" cy="3017520"/>
          </a:xfrm>
          <a:prstGeom prst="rect">
            <a:avLst/>
          </a:prstGeom>
          <a:solidFill>
            <a:srgbClr val="F2F6F9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19202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C86"/>
                </a:solidFill>
                <a:latin typeface="Calibri"/>
              </a:rPr>
              <a:t>How to reply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423160"/>
            <a:ext cx="365760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F5A"/>
                </a:solidFill>
                <a:latin typeface="Calibri"/>
              </a:rPr>
              <a:t>A voice note, a message or a marked-up copy of this deck, whichever is easiest.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F5A"/>
                </a:solidFill>
                <a:latin typeface="Calibri"/>
              </a:rPr>
              <a:t>Contact: Tom Ugbodaga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44F5A"/>
                </a:solidFill>
                <a:latin typeface="Calibri"/>
              </a:rPr>
              <a:t>betoniqwestltd@gmail.com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60720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B2A4A"/>
                </a:solidFill>
                <a:latin typeface="Calibri"/>
              </a:rPr>
              <a:t>Thank you for your time and your honesty.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