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84" r:id="rId34"/>
    <p:sldId id="258" r:id="rId4"/>
    <p:sldId id="259" r:id="rId5"/>
    <p:sldId id="260" r:id="rId6"/>
    <p:sldId id="261" r:id="rId7"/>
    <p:sldId id="262" r:id="rId8"/>
    <p:sldId id="263" r:id="rId9"/>
    <p:sldId id="285" r:id="rId35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-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0.xml"/><Relationship Id="rId20" Type="http://schemas.openxmlformats.org/officeDocument/2006/relationships/slide" Target="slides/slide21.xml"/><Relationship Id="rId21" Type="http://schemas.openxmlformats.org/officeDocument/2006/relationships/slide" Target="slides/slide22.xml"/><Relationship Id="rId22" Type="http://schemas.openxmlformats.org/officeDocument/2006/relationships/slide" Target="slides/slide23.xml"/><Relationship Id="rId23" Type="http://schemas.openxmlformats.org/officeDocument/2006/relationships/slide" Target="slides/slide24.xml"/><Relationship Id="rId24" Type="http://schemas.openxmlformats.org/officeDocument/2006/relationships/slide" Target="slides/slide25.xml"/><Relationship Id="rId25" Type="http://schemas.openxmlformats.org/officeDocument/2006/relationships/slide" Target="slides/slide26.xml"/><Relationship Id="rId26" Type="http://schemas.openxmlformats.org/officeDocument/2006/relationships/slide" Target="slides/slide27.xml"/><Relationship Id="rId27" Type="http://schemas.openxmlformats.org/officeDocument/2006/relationships/slide" Target="slides/slide28.xml"/><Relationship Id="rId28" Type="http://schemas.openxmlformats.org/officeDocument/2006/relationships/slide" Target="slides/slide29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30.xml"/><Relationship Id="rId34" Type="http://schemas.openxmlformats.org/officeDocument/2006/relationships/slide" Target="slides/slide3.xml"/><Relationship Id="rId35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open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19260" y="-1"/>
            <a:ext cx="12810956" cy="720634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-619260" y="-1"/>
            <a:ext cx="12810956" cy="7206343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31920"/>
            <a:ext cx="12191695" cy="2926080"/>
          </a:xfrm>
          <a:prstGeom prst="rect">
            <a:avLst/>
          </a:prstGeom>
          <a:solidFill>
            <a:srgbClr val="0EA5E9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NORTH-CENTRAL NIGERIA SECURITY SUMMIT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2628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COLLABORATIVE APPROACHES TO STRENGTHENING
SECURITY IN NORTH-CENTRAL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Towards a People-Centred, Intelligence-Led and Sustainable Security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Air Vice Marshal Monday Riku Morgan (Rtd)  |  Former Chief of Defence Intelligence  |  30-Minute Keynote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OPENING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One Ecosystem, Not Separate Problems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mother in Benue sending her children to school,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wondering if they'll return safely.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farmer in Plateau who fears the next sound may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be gunfire, not birdsong.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traditional ruler in Niger State who sees armed men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enter the forest — but doesn't know whom to call.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soldier redeployed again and again, without the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intelligence or mobility to prevent the next attack.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468112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2377440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CENTRAL ARGUMENT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743200"/>
            <a:ext cx="49377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North-Central Nigeria cannot defeat insecurity
through military operations alone.
It requires a permanent partnership between the
military, police, intelligence services, state and
local governments, traditional institutions,
communities, technology providers, and citizens.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02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Opening — The Scale of the Crisis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Human Cost, In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3 / 30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03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57200" y="1568400"/>
            <a:ext cx="3849600" cy="2286000"/>
          </a:xfrm>
          <a:prstGeom prst="rect">
            <a:avLst/>
          </a:prstGeom>
          <a:solidFill>
            <a:srgbClr val="0B1F3A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4000" b="1">
                <a:solidFill>
                  <a:srgbClr val="D4AF37"/>
                </a:solidFill>
                <a:latin typeface="Calibri"/>
              </a:rPr>
              <a:t>140+</a:t>
            </a:r>
          </a:p>
          <a:p>
            <a:r>
              <a:rPr sz="1500" b="0">
                <a:solidFill>
                  <a:srgbClr val="FFFFFF"/>
                </a:solidFill>
                <a:latin typeface="Calibri"/>
              </a:rPr>
              <a:t>Killed, Plateau State, Dec 2023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59200" y="1568400"/>
            <a:ext cx="3849600" cy="2286000"/>
          </a:xfrm>
          <a:prstGeom prst="rect">
            <a:avLst/>
          </a:prstGeom>
          <a:solidFill>
            <a:srgbClr val="0B1F3A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4000" b="1">
                <a:solidFill>
                  <a:srgbClr val="D4AF37"/>
                </a:solidFill>
                <a:latin typeface="Calibri"/>
              </a:rPr>
              <a:t>1,043</a:t>
            </a:r>
          </a:p>
          <a:p>
            <a:r>
              <a:rPr sz="1500" b="0">
                <a:solidFill>
                  <a:srgbClr val="FFFFFF"/>
                </a:solidFill>
                <a:latin typeface="Calibri"/>
              </a:rPr>
              <a:t>Killed in Benue, May 2023–2025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61200" y="1568400"/>
            <a:ext cx="3849600" cy="2286000"/>
          </a:xfrm>
          <a:prstGeom prst="rect">
            <a:avLst/>
          </a:prstGeom>
          <a:solidFill>
            <a:srgbClr val="0B1F3A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4000" b="1">
                <a:solidFill>
                  <a:srgbClr val="D4AF37"/>
                </a:solidFill>
                <a:latin typeface="Calibri"/>
              </a:rPr>
              <a:t>160</a:t>
            </a:r>
          </a:p>
          <a:p>
            <a:r>
              <a:rPr sz="1500" b="0">
                <a:solidFill>
                  <a:srgbClr val="FFFFFF"/>
                </a:solidFill>
                <a:latin typeface="Calibri"/>
              </a:rPr>
              <a:t>Killed in one night — Yelwata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006800"/>
            <a:ext cx="3849600" cy="2286000"/>
          </a:xfrm>
          <a:prstGeom prst="rect">
            <a:avLst/>
          </a:prstGeom>
          <a:solidFill>
            <a:srgbClr val="0B1F3A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4000" b="1">
                <a:solidFill>
                  <a:srgbClr val="D4AF37"/>
                </a:solidFill>
                <a:latin typeface="Calibri"/>
              </a:rPr>
              <a:t>500,182</a:t>
            </a:r>
          </a:p>
          <a:p>
            <a:r>
              <a:rPr sz="1500" b="0">
                <a:solidFill>
                  <a:srgbClr val="FFFFFF"/>
                </a:solidFill>
                <a:latin typeface="Calibri"/>
              </a:rPr>
              <a:t>Displaced, Benue camps, Dec 2024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59200" y="4006800"/>
            <a:ext cx="3849600" cy="2286000"/>
          </a:xfrm>
          <a:prstGeom prst="rect">
            <a:avLst/>
          </a:prstGeom>
          <a:solidFill>
            <a:srgbClr val="0B1F3A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4000" b="1">
                <a:solidFill>
                  <a:srgbClr val="D4AF37"/>
                </a:solidFill>
                <a:latin typeface="Calibri"/>
              </a:rPr>
              <a:t>1,378,124</a:t>
            </a:r>
          </a:p>
          <a:p>
            <a:r>
              <a:rPr sz="1500" b="0">
                <a:solidFill>
                  <a:srgbClr val="FFFFFF"/>
                </a:solidFill>
                <a:latin typeface="Calibri"/>
              </a:rPr>
              <a:t>IDPs, NC &amp; NW combined, Oct 2025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61200" y="4006800"/>
            <a:ext cx="3849600" cy="2286000"/>
          </a:xfrm>
          <a:prstGeom prst="rect">
            <a:avLst/>
          </a:prstGeom>
          <a:solidFill>
            <a:srgbClr val="0B1F3A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4000" b="1">
                <a:solidFill>
                  <a:srgbClr val="D4AF37"/>
                </a:solidFill>
                <a:latin typeface="Calibri"/>
              </a:rPr>
              <a:t>9</a:t>
            </a:r>
          </a:p>
          <a:p>
            <a:r>
              <a:rPr sz="1500" b="0">
                <a:solidFill>
                  <a:srgbClr val="FFFFFF"/>
                </a:solidFill>
                <a:latin typeface="Calibri"/>
              </a:rPr>
              <a:t>Charged with terrorism, Yelwata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Security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4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Benue • Kogi • Kwara • Nasarawa • Niger • Plateau • FCT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bridge between North and South Nigeria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Major agricultural belts, forests, highways, energy infrastructure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Beyond farmer-herder disputes: organised banditry, kidnapping, cattle rustling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Communal militias, reprisal attacks, illegal arms proliferation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Illegal mining, rural criminality, armed group proliferation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We define this as: North-Central Agro-Pastoral Security &amp; Territorial Conflict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ACLED recorded hundreds of security incidents and
substantial fatalities in Benue, Plateau and Niger
between Jan 2024 – Dec 2025.
Niger and parts of Kwara face terrorist activity and
cross-border movement of armed groups.
The enemy does not respect state boundaries.
Why should our response?
Criminal conduct — not ethnicity —
is the diagnosis.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04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Central Problem — We Are Too Reactive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5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Attack
Occurs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87452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7568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People
Killed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93008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694176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Police
Alerted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11496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312664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Military
Mobilised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9984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931152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Attackers
Vanish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348472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54964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Community
Searched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96696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16812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We Wait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20440"/>
            <a:ext cx="11247120" cy="5486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79476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D4AF37"/>
                </a:solidFill>
                <a:latin typeface="Calibri"/>
              </a:rPr>
              <a:t>This is a cycle of reaction without prevention.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4617720"/>
            <a:ext cx="4480560" cy="146304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55448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FROM:
“An attack has occurred.
What do we do?”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617720"/>
            <a:ext cx="4480560" cy="146304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224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TO:
“What is the probability of an
attack, and what can we do
today to prevent it?”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05</a:t>
            </a:r>
          </a:p>
        </p:txBody>
      </p:sp>
      <p:pic>
        <p:nvPicPr>
          <p:cNvPr id="31" name="Picture 30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ycl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51560"/>
            <a:ext cx="5577840" cy="557784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675120" y="1051560"/>
            <a:ext cx="5577840" cy="557784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Security as Collective Responsibility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6 /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852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 single agency can do everything.
Together, they can know almost everything that matters.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194560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194560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Collect information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35808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035808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SHARE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035808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Move it fast to those who need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77056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3877056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DECIDE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877056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Establish responsibility &amp; command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18304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718304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718304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Respond proportionately &amp; rapidly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559552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5559552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LEARN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5559552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Analyse and prevent repetition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06</a:t>
            </a:r>
          </a:p>
        </p:txBody>
      </p:sp>
      <p:pic>
        <p:nvPicPr>
          <p:cNvPr id="30" name="Picture 29" descr="emble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One Security Picture, Multiple Capabilities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7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Armed
Forces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Police
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DSS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NSCDC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NDLEA /
Customs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State
Security
Councils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Local Govt
Structures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Traditional
Institutions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Community
&amp; Civil Society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1417320"/>
            <a:ext cx="352044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“The intelligence value is created
when these pieces are fused
into ONE threat picture.”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07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Regional Security Intelligence &amp; Fusion Centre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8 / 30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46304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6304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Where is the threat?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4028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4028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Who is responsible?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01752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01752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What is their capability?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79476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9476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What are they likely to do next?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57200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57200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What resource can respond fastest?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LIVING OPERATIONAL PICTURE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Attack locations &amp; kidnapping incidents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Suspicious movements &amp; criminal corridors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Conflict flashpoints &amp; abandoned settlements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Vulnerable highways, forests, difficult terrain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Illegal mining &amp; arms trafficking routes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Displacement concentrations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08</a:t>
            </a:r>
          </a:p>
        </p:txBody>
      </p:sp>
      <p:pic>
        <p:nvPicPr>
          <p:cNvPr id="25" name="Picture 24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From Intelligence Collection to Intelligence 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9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“How long does it take for a credible warning from a village to become an operational decision?”</a:t>
            </a:r>
          </a:p>
        </p:txBody>
      </p:sp>
      <p:sp>
        <p:nvSpPr>
          <p:cNvPr id="10" name="Chevron 9"/>
          <p:cNvSpPr/>
          <p:nvPr/>
        </p:nvSpPr>
        <p:spPr>
          <a:xfrm>
            <a:off x="45720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Community</a:t>
            </a:r>
          </a:p>
        </p:txBody>
      </p:sp>
      <p:sp>
        <p:nvSpPr>
          <p:cNvPr id="11" name="Chevron 10"/>
          <p:cNvSpPr/>
          <p:nvPr/>
        </p:nvSpPr>
        <p:spPr>
          <a:xfrm>
            <a:off x="210312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Local Intel
Node</a:t>
            </a:r>
          </a:p>
        </p:txBody>
      </p:sp>
      <p:sp>
        <p:nvSpPr>
          <p:cNvPr id="12" name="Chevron 11"/>
          <p:cNvSpPr/>
          <p:nvPr/>
        </p:nvSpPr>
        <p:spPr>
          <a:xfrm>
            <a:off x="374904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Fusion
Centre</a:t>
            </a:r>
          </a:p>
        </p:txBody>
      </p:sp>
      <p:sp>
        <p:nvSpPr>
          <p:cNvPr id="13" name="Chevron 12"/>
          <p:cNvSpPr/>
          <p:nvPr/>
        </p:nvSpPr>
        <p:spPr>
          <a:xfrm>
            <a:off x="539496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Threat
Assessment</a:t>
            </a:r>
          </a:p>
        </p:txBody>
      </p:sp>
      <p:sp>
        <p:nvSpPr>
          <p:cNvPr id="14" name="Chevron 13"/>
          <p:cNvSpPr/>
          <p:nvPr/>
        </p:nvSpPr>
        <p:spPr>
          <a:xfrm>
            <a:off x="704088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B8860B"/>
                </a:solidFill>
              </a:rPr>
              <a:t>Security
Agency</a:t>
            </a:r>
          </a:p>
        </p:txBody>
      </p:sp>
      <p:sp>
        <p:nvSpPr>
          <p:cNvPr id="15" name="Chevron 14"/>
          <p:cNvSpPr/>
          <p:nvPr/>
        </p:nvSpPr>
        <p:spPr>
          <a:xfrm>
            <a:off x="868680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Rapid
Response</a:t>
            </a:r>
          </a:p>
        </p:txBody>
      </p:sp>
      <p:sp>
        <p:nvSpPr>
          <p:cNvPr id="16" name="Chevron 15"/>
          <p:cNvSpPr/>
          <p:nvPr/>
        </p:nvSpPr>
        <p:spPr>
          <a:xfrm>
            <a:off x="1033272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B8860B"/>
                </a:solidFill>
              </a:rPr>
              <a:t>Confirmation
+ Follow-up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06240"/>
            <a:ext cx="11247120" cy="173736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443484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The community must receive feedback. If people repeatedly provide information and
nothing happens, they stop reporting. If they see that lives are saved, trust grows.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09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2" name="Picture 21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Britain and Israel Model — Proactive Intelligence to Nip Threats in the Bud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9 / 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ISRAEL — COLLABORATIVE FUSION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Intelligence fusion: human, signals &amp; aerial sources merged into one picture
▸  Real-time sharing: whoever can act, knows first — locals see threats before HQ does
▸  Intelligence-to-action cycle: assess, respond, feed lessons back in
▸  Nigeria: regional fusion centres — Armed Forces, Police, DSS, NIA, NSCDC + community networks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10</a:t>
            </a:r>
          </a:p>
        </p:txBody>
      </p:sp>
      <p:pic>
        <p:nvPicPr>
          <p:cNvPr id="25" name="Picture 24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  <p:sp>
        <p:nvSpPr>
          <p:cNvPr id="1001" name="Rectangle 18"/>
          <p:cNvSpPr/>
          <p:nvPr/>
        </p:nvSpPr>
        <p:spPr>
          <a:xfrm>
            <a:off x="45720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2" name="TextBox 19"/>
          <p:cNvSpPr txBox="1"/>
          <p:nvPr/>
        </p:nvSpPr>
        <p:spPr>
          <a:xfrm>
            <a:off x="73152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UNITED KINGDOM — CONTEST DOCTRINE</a:t>
            </a:r>
          </a:p>
        </p:txBody>
      </p:sp>
      <p:sp>
        <p:nvSpPr>
          <p:cNvPr id="1003" name="TextBox 20"/>
          <p:cNvSpPr txBox="1"/>
          <p:nvPr/>
        </p:nvSpPr>
        <p:spPr>
          <a:xfrm>
            <a:off x="73152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Prevent, Pursue, Protect, Prepare — four pillars, one strategy
▸  JTAC fuses fragmented reporting into a single threat picture
▸  Community-embedded policing stops radicalisation years before an attack
▸  Prevent Duty places statutory safeguarding responsibility on schools, health &amp; local bodies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88880" y="228600"/>
            <a:ext cx="1828800" cy="365760"/>
          </a:xfrm>
          <a:prstGeom prst="rect">
            <a:avLst/>
          </a:prstGeom>
          <a:solidFill>
            <a:srgbClr val="FF2D2D"/>
          </a:solidFill>
          <a:ln>
            <a:solidFill>
              <a:srgbClr val="FF2D2D"/>
            </a:solidFill>
          </a:ln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NEW — ADDED 28 AUG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unity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COMMUNITY MUST BECOME THE FIRST SENSOR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Farmers • Hunters • Teachers • Traditional Rulers • Transporters • Religious Leaders • Health Workers • Market Women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11064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A structured Community Early Warning and Early Response Network —
not a vigilante system, not a parallel intelligence service —
a disciplined, legally governed community information network.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11 / 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11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Traditional Rulers in the Security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12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Know who lives in — and enters — their domain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Aware of families in conflict and land/resource disputes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Often the first to see radicalisation among youth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Know criminal routes and rising community tensions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Currently consulted mostly AFTER violence occurs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STRUCTURED INTERFACE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14884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0" y="214884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Traditional Council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807208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0" y="2807208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Police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465576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3465576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DSS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4123944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0" y="4123944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Military Liaison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4782312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4782312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Local Government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544068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544068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Community Reps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12</a:t>
            </a:r>
          </a:p>
        </p:txBody>
      </p:sp>
      <p:pic>
        <p:nvPicPr>
          <p:cNvPr id="27" name="Picture 2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Security Corridors, Not Administrative Boundaries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13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A criminal group does not stop at a state border. Neither should our response.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Kwara – Niger – Kainji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Niger – Kaduna – FCT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Benue – Nasarawa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Benue – Taraba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Plateau – Bauchi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Kogi – Nasarawa – Benue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722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North-Central governors agreed in 2025 to pursue joint security operations. The next step: institutionalise 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13</a:t>
            </a:r>
          </a:p>
        </p:txBody>
      </p:sp>
      <p:pic>
        <p:nvPicPr>
          <p:cNvPr id="20" name="Picture 19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Rapid Response — The 30 to 60 Minute 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14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11155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0" b="1" i="0">
                <a:solidFill>
                  <a:srgbClr val="D4AF37"/>
                </a:solidFill>
                <a:latin typeface="Calibri"/>
              </a:rPr>
              <a:t>30–60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92024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MINUTES CAN DETERMINE WHETHER AN INCIDENT
BECOMES A FAILED ATTACK OR A MASS-CASUALTY EVENT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832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Police rapid response units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Military quick reaction forces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Mobile security teams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Medical evacuation capability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3832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Aviation support where appropriate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Communications support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Community liaison officers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Pre-positioned, not reactive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263640"/>
            <a:ext cx="11155680" cy="3657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14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Technology Should Multiply Human Capability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15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Unmanned Aerial
Surveillance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Satellite Imagery &amp;
Geospatial Intel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Secure
Communications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Digital Incident
Reporting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Vehicle &amp; Movement
Analytics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Lawful Telecoms
Intelligence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Biometric &amp;
Identity Systems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GIS Crime
Mapping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AI Pattern
Analysis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03504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 i="1">
                <a:solidFill>
                  <a:srgbClr val="D4AF37"/>
                </a:solidFill>
                <a:latin typeface="Calibri"/>
              </a:rPr>
              <a:t>“If a drone cannot transmit useful information to a commander who can act on it, it is merely an expensive flying camera.”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15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Forest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16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Provides concealment, mobility, temporary camps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Access to water and routes between communities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Sanctuary from conventional policing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FOREST SECURITY STRATEGY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031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Human Intelligence + Aerial Surveillance +
Geospatial Mapping + Community Information +
Controlled Access + Law Enforcement +
Sustained Presence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297680"/>
            <a:ext cx="48463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Goal: deny armed groups sanctuary, mobility,
supplies, communications, financing and
freedom of movement — without treating every
farmer or hunter as a suspect.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16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Separate the Criminal from the Community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17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Fulani pastoralist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37160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terrorist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Tiv farmer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2029968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militia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An Idoma youth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688336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criminal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Muslim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346704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terrorist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Christian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4005072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militia member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traditional hunter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466344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automatically a vigilante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48640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Identify perpetrators by behaviour and evidence — never by ethnicity, religion or community.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17</a:t>
            </a:r>
          </a:p>
        </p:txBody>
      </p:sp>
      <p:pic>
        <p:nvPicPr>
          <p:cNvPr id="31" name="Picture 30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Farmer-Herder Conflict as a Governance Issue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18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We cannot shoot our way out of every dispute. Some are criminal. Most are about: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920240"/>
            <a:ext cx="149352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Land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33600" y="1920240"/>
            <a:ext cx="154686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63340" y="1920240"/>
            <a:ext cx="202691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Grazing Routes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73139" y="1920240"/>
            <a:ext cx="213359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B8860B"/>
                </a:solidFill>
              </a:rPr>
              <a:t>Crop Destruction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89618" y="1920240"/>
            <a:ext cx="208026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B8860B"/>
                </a:solidFill>
              </a:rPr>
              <a:t>Cattle Rustling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06040"/>
            <a:ext cx="176021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Migration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00299" y="2606040"/>
            <a:ext cx="218694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Boundary Disputes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70119" y="2606040"/>
            <a:ext cx="213359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Climate Pressure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23360"/>
            <a:ext cx="11155680" cy="228600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4206240"/>
            <a:ext cx="1060704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Requires: functioning livestock management systems, negotiated grazing and stock routes,
conflict-resolution mechanisms, land-use planning, livestock identification, compensation
mechanisms, farmer-herder dialogue, and credible enforcement.
Where governance fails, criminality fills the vacuum.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18</a:t>
            </a:r>
          </a:p>
        </p:txBody>
      </p:sp>
      <p:pic>
        <p:nvPicPr>
          <p:cNvPr id="23" name="Picture 22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Young People — The Most Important Long-Term Investment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19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“What does a 17-year-old boy in a forgotten rural community see as his future?
If the answer is nothing, somebody else will offer him something.”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Vocational
Training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Agriculture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Technology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Apprenticeships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Sports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Entrepreneurship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Education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Community
Service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Targeted
Deradicalisation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19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SECTIONS 17 –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Women as Security Partners &amp; the Role of Local 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20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WOMEN AS PARTNERS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Know who has disappeared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Notice changed behaviour in children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Aware of unusual household visitors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Track displaced-people movement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Must be integrated operationally, not symbolically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LOCAL GOVERNMENT 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Security cannot be Abuja-centric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LGA links: Chairman + Police + DSS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+ Military Liaison + Traditional Rulers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+ Health, Emergency &amp; Community Reps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Closer to community = faster warning &amp; response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20</a:t>
            </a:r>
          </a:p>
        </p:txBody>
      </p:sp>
      <p:pic>
        <p:nvPicPr>
          <p:cNvPr id="18" name="Picture 17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State Police — An Opportunity That Requires Safeguards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21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The real question: how do we put competent officers close to the community
while preventing political abuse?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Complement, not replace,
the Nigeria Police 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National minimum
standards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Professional
recruitment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Independent complaints
mechanisms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Clear rules of
engagement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Legislative &amp;
judicial oversight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21</a:t>
            </a:r>
          </a:p>
        </p:txBody>
      </p:sp>
      <p:pic>
        <p:nvPicPr>
          <p:cNvPr id="19" name="Picture 18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SECTIONS 20 –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Predictable Funding &amp; Personnel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22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SECURITY FUNDING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03120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Northern Nigerian Security Trust Fund
inaugurated July 2026 — a foundation,
not the finish line.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Must be: transparent + professionally
managed + audited + measurable.
“Every naira spent should answer:
what security capability did this create?”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PERSONNEL WELFARE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Reliable communication &amp; accommodation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Medical care, food, transportation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Equipment maintenance &amp; rotation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Psychological support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“Morale is a combat capability.”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22</a:t>
            </a:r>
          </a:p>
        </p:txBody>
      </p:sp>
      <p:pic>
        <p:nvPicPr>
          <p:cNvPr id="19" name="Picture 18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Three-Layer Security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23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24047" y="1554480"/>
            <a:ext cx="5943600" cy="141732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LAYER 3 — FEDERAL</a:t>
            </a:r>
          </a:p>
          <a:p>
            <a:pPr algn="ctr"/>
            <a:r>
              <a:rPr sz="2000">
                <a:solidFill>
                  <a:srgbClr val="0B1F3A"/>
                </a:solidFill>
              </a:rPr>
              <a:t>Airpower • Special Operations • Heavy Mobility • Strategic Surveillance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89607" y="3154680"/>
            <a:ext cx="84124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2 — STATE</a:t>
            </a:r>
          </a:p>
          <a:p>
            <a:pPr algn="ctr"/>
            <a:r>
              <a:rPr sz="2000">
                <a:solidFill>
                  <a:srgbClr val="FFFFFF"/>
                </a:solidFill>
              </a:rPr>
              <a:t>Police • DSS • NSCDC • Analysis &amp; Coordination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5167" y="4754880"/>
            <a:ext cx="1088136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1 — COMMUNITY</a:t>
            </a:r>
          </a:p>
          <a:p>
            <a:pPr algn="ctr"/>
            <a:r>
              <a:rPr sz="2000">
                <a:solidFill>
                  <a:srgbClr val="FFFFFF"/>
                </a:solidFill>
              </a:rPr>
              <a:t>Traditional Rulers • Citizens • Local Govt • Early Warning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3550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three layers must operate as ONE system.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23</a:t>
            </a:r>
          </a:p>
        </p:txBody>
      </p:sp>
      <p:pic>
        <p:nvPicPr>
          <p:cNvPr id="16" name="Picture 15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A 24-Hour Security 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24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dirty="0">
                <a:solidFill>
                  <a:srgbClr val="FFFFFF"/>
                </a:solidFill>
              </a:rPr>
              <a:t>00:00 – 06:00</a:t>
            </a:r>
          </a:p>
          <a:p>
            <a:pPr algn="ctr"/>
            <a:r>
              <a:rPr sz="1400" dirty="0">
                <a:solidFill>
                  <a:srgbClr val="FFFFFF"/>
                </a:solidFill>
              </a:rPr>
              <a:t>Intelligence
Monitoring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B8860B"/>
                </a:solidFill>
              </a:rPr>
              <a:t>06:00 – 12:00</a:t>
            </a:r>
          </a:p>
          <a:p>
            <a:pPr algn="ctr"/>
            <a:r>
              <a:rPr sz="1400" b="1">
                <a:solidFill>
                  <a:srgbClr val="B8860B"/>
                </a:solidFill>
              </a:rPr>
              <a:t>Community Reporting &amp;
Operational Assessment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4048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12:00 – 18:00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Patrol, Surveillance &amp;
Preventive Deployment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4048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B8860B"/>
                </a:solidFill>
              </a:rPr>
              <a:t>18:00 – 00:00</a:t>
            </a:r>
          </a:p>
          <a:p>
            <a:pPr algn="ctr"/>
            <a:r>
              <a:rPr sz="1400" b="1">
                <a:solidFill>
                  <a:srgbClr val="B8860B"/>
                </a:solidFill>
              </a:rPr>
              <a:t>Night Security Posture &amp;
Rapid-Response Readiness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893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Security never sleeps simply because government offices have closed.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24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Should Happen in the Next 90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25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1.  </a:t>
            </a:r>
            <a:r>
              <a:rPr sz="1300">
                <a:solidFill>
                  <a:srgbClr val="FFFFFF"/>
                </a:solidFill>
              </a:rPr>
              <a:t>Create a North-Central Security Coordination Secretariat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2588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2.  </a:t>
            </a:r>
            <a:r>
              <a:rPr sz="1300" b="1">
                <a:solidFill>
                  <a:srgbClr val="B8860B"/>
                </a:solidFill>
              </a:rPr>
              <a:t>Establish a regional intelligence-fusion mechanism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3172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3.  </a:t>
            </a:r>
            <a:r>
              <a:rPr sz="1300">
                <a:solidFill>
                  <a:srgbClr val="FFFFFF"/>
                </a:solidFill>
              </a:rPr>
              <a:t>Map all major criminal and terrorist corridors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33172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4.  </a:t>
            </a:r>
            <a:r>
              <a:rPr sz="1300" b="1">
                <a:solidFill>
                  <a:srgbClr val="B8860B"/>
                </a:solidFill>
              </a:rPr>
              <a:t>Identify the 100 most vulnerable communities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3756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5.  </a:t>
            </a:r>
            <a:r>
              <a:rPr sz="1300">
                <a:solidFill>
                  <a:srgbClr val="FFFFFF"/>
                </a:solidFill>
              </a:rPr>
              <a:t>Create community early-warning networks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33756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6.  </a:t>
            </a:r>
            <a:r>
              <a:rPr sz="1300" b="1">
                <a:solidFill>
                  <a:srgbClr val="B8860B"/>
                </a:solidFill>
              </a:rPr>
              <a:t>Establish rapid-response protocols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34340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7.  </a:t>
            </a:r>
            <a:r>
              <a:rPr sz="1300">
                <a:solidFill>
                  <a:srgbClr val="FFFFFF"/>
                </a:solidFill>
              </a:rPr>
              <a:t>Link governors' security councils digitally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34340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8.  </a:t>
            </a:r>
            <a:r>
              <a:rPr sz="1300" b="1">
                <a:solidFill>
                  <a:srgbClr val="B8860B"/>
                </a:solidFill>
              </a:rPr>
              <a:t>Common training for military, police &amp; liaisons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924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9.  </a:t>
            </a:r>
            <a:r>
              <a:rPr sz="1300">
                <a:solidFill>
                  <a:srgbClr val="FFFFFF"/>
                </a:solidFill>
              </a:rPr>
              <a:t>Transparent regional security funding mechanism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534924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10.  </a:t>
            </a:r>
            <a:r>
              <a:rPr sz="1300" b="1">
                <a:solidFill>
                  <a:srgbClr val="B8860B"/>
                </a:solidFill>
              </a:rPr>
              <a:t>Publish measurable security indicators quarterly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25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Security Compact — Seven Commitments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26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Threat Picture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We share intelligence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Early-Warning System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We listen to communities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B8860B"/>
                </a:solidFill>
              </a:rPr>
              <a:t>3</a:t>
            </a:r>
          </a:p>
          <a:p>
            <a:pPr algn="ctr"/>
            <a:r>
              <a:rPr sz="1300" b="1">
                <a:solidFill>
                  <a:srgbClr val="B8860B"/>
                </a:solidFill>
              </a:rPr>
              <a:t>One Rapid-Response Philosophy</a:t>
            </a:r>
          </a:p>
          <a:p>
            <a:pPr algn="ctr"/>
            <a:r>
              <a:rPr sz="1050" b="1">
                <a:solidFill>
                  <a:srgbClr val="B8860B"/>
                </a:solidFill>
              </a:rPr>
              <a:t>We respond before massacres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9828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B8860B"/>
                </a:solidFill>
              </a:rPr>
              <a:t>4</a:t>
            </a:r>
          </a:p>
          <a:p>
            <a:pPr algn="ctr"/>
            <a:r>
              <a:rPr sz="1300" b="1">
                <a:solidFill>
                  <a:srgbClr val="B8860B"/>
                </a:solidFill>
              </a:rPr>
              <a:t>One Professional Standard</a:t>
            </a:r>
          </a:p>
          <a:p>
            <a:pPr algn="ctr"/>
            <a:r>
              <a:rPr sz="1050" b="1">
                <a:solidFill>
                  <a:srgbClr val="B8860B"/>
                </a:solidFill>
              </a:rPr>
              <a:t>Discipline, law, dignity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74904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5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Regional Approach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No exploiting state boundaries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374904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6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Development Agenda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Secure &amp; rebuild together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49040"/>
            <a:ext cx="2697480" cy="214884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0B1F3A"/>
                </a:solidFill>
              </a:rPr>
              <a:t>7</a:t>
            </a:r>
          </a:p>
          <a:p>
            <a:pPr algn="ctr"/>
            <a:r>
              <a:rPr sz="1300" b="1">
                <a:solidFill>
                  <a:srgbClr val="0B1F3A"/>
                </a:solidFill>
              </a:rPr>
              <a:t>One Measure of Success</a:t>
            </a:r>
          </a:p>
          <a:p>
            <a:pPr algn="ctr"/>
            <a:r>
              <a:rPr sz="1050">
                <a:solidFill>
                  <a:srgbClr val="0B1F3A"/>
                </a:solidFill>
              </a:rPr>
              <a:t>Safety &amp; dignity of the citizen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26</a:t>
            </a:r>
          </a:p>
        </p:txBody>
      </p:sp>
      <p:pic>
        <p:nvPicPr>
          <p:cNvPr id="19" name="Picture 18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Success Should Look Like in Three Years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27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Kidnapping has fallen substantially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Attacks on rural communities are declining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Major highways are secure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Farmers can return to their farms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Displaced families are returning 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Criminal sanctuaries are progressively denied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Intelligence moves faster, response times shorter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Communities trust security agencies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Security personnel are better supported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Networks dismantled via arrests &amp; prosecution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27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Biggest Change We Need Is Mental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28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troops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440680" y="1645920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463040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intelligence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395728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weapons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440680" y="2578608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2395728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coordination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328416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operations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440680" y="3511296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3328416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prevention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61104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money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440680" y="4443984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4261104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accountability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93792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security personnel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440680" y="5376672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0" y="5193792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More trust between forces and people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28</a:t>
            </a:r>
          </a:p>
        </p:txBody>
      </p:sp>
      <p:pic>
        <p:nvPicPr>
          <p:cNvPr id="27" name="Picture 2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los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2976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1">
                <a:solidFill>
                  <a:srgbClr val="FFFFFF"/>
                </a:solidFill>
                <a:latin typeface="Calibri"/>
              </a:rPr>
              <a:t>“He simply wants to arrive alive.”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663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8EAEE"/>
                </a:solidFill>
                <a:latin typeface="Calibri"/>
              </a:rPr>
              <a:t>That is the standard by which we must judge ourselves — and it is not beyond the capacity of Nigeria.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72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THANK YOU  —  Air Vice Marshal Monday Riku Morgan (Rtd)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1" name="Picture 10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Sources &amp; Citations (Harvard Style)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30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 b="1">
                <a:solidFill/>
              </a:rPr>
              <a:t>Amnesty International (2024) Nigeria: scores killed in coordinated Plateau State attacks. London: Amnesty International.</a:t>
            </a:r>
          </a:p>
          <a:p>
            <a:r>
              <a:rPr sz="1100" b="1">
                <a:solidFill/>
              </a:rPr>
              <a:t>Reuters (2026) Nigeria charges nine men with terrorism over Yelwata massacre. London: Reuters.</a:t>
            </a:r>
          </a:p>
          <a:p>
            <a:r>
              <a:rPr sz="1100" b="1">
                <a:solidFill/>
              </a:rPr>
              <a:t>BBC (2025) Yelwata massacre: what we know about the Benue State killings. London: BBC News.</a:t>
            </a:r>
          </a:p>
          <a:p>
            <a:r>
              <a:rPr sz="1100" b="1">
                <a:solidFill/>
              </a:rPr>
              <a:t>NPR (2025) Pope Leo prays for victims of Nigeria massacre at Sunday Angelus. Washington DC: National Public Radio.</a:t>
            </a:r>
          </a:p>
          <a:p>
            <a:r>
              <a:rPr sz="1100" b="1">
                <a:solidFill/>
              </a:rPr>
              <a:t>Vatican News (2025) Pope's Angelus address on violence in Nigeria. Vatican City: Vatican News.</a:t>
            </a:r>
          </a:p>
          <a:p>
            <a:r>
              <a:rPr sz="1100"/>
              <a:t>HM Government (2023) CONTEST: The United Kingdom's Strategy for Countering Terrorism. London: Home Office.</a:t>
            </a:r>
          </a:p>
          <a:p>
            <a:r>
              <a:rPr sz="1100"/>
              <a:t>Byman, D. (2011) A High Price: The Triumphs and Failures of Israeli Counterterrorism. Oxford: Oxford University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International Organization for Migration (2025) Displacement Tracking Matrix: North-Central and North-West Nigeria. Geneva: IOM.</a:t>
            </a:r>
          </a:p>
          <a:p>
            <a:r>
              <a:rPr sz="1300" b="1">
                <a:solidFill/>
              </a:rPr>
              <a:t>The Kukah Centre (2025) Conflict trends and community resilience in Nigeria's Middle Belt. Abuja: The Kukah Centre for Faith, Leadership and Public Policy.</a:t>
            </a:r>
          </a:p>
          <a:p>
            <a:r>
              <a:rPr sz="1300" b="1">
                <a:solidFill/>
              </a:rPr>
              <a:t>United Nations Peacebuilding Support Office (2025) Nigeria peacebuilding fund report. New York: UN Peacebuilding.</a:t>
            </a:r>
          </a:p>
          <a:p>
            <a:r>
              <a:rPr sz="1300" b="1">
                <a:solidFill/>
              </a:rPr>
              <a:t>Channels Television (2024) Mangu attacks: death toll rises in renewed Plateau violence. Lagos: Channels Television.</a:t>
            </a:r>
          </a:p>
          <a:p>
            <a:r>
              <a:rPr sz="1300" b="1">
                <a:solidFill/>
              </a:rPr>
              <a:t>Premium Times (2025) Benue killings: a data investigation, 2023–2025. Abuja: Premium Times.</a:t>
            </a:r>
          </a:p>
          <a:p>
            <a:r>
              <a:rPr sz="1300" b="1">
                <a:solidFill/>
              </a:rPr>
              <a:t>National Assembly of Nigeria (2026) Constitution of the Federal Republic of Nigeria (Alteration) (State Police) Bill, 2026. Abuja: National Assembly.</a:t>
            </a:r>
          </a:p>
          <a:p>
            <a:r>
              <a:rPr sz="1300" b="1">
                <a:solidFill/>
              </a:rPr>
              <a:t>Kaduna State Government and Katsina State Government (2025) Early Warning and Early Response System: outcomes report. Kaduna/Katsina: State Governments.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30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2315</Words>
  <Application>Microsoft Office PowerPoint</Application>
  <PresentationFormat>Widescreen</PresentationFormat>
  <Paragraphs>391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TOM DEGGS</dc:creator>
  <cp:keywords/>
  <dc:description>generated using python-pptx</dc:description>
  <cp:lastModifiedBy>Tom Deggs</cp:lastModifiedBy>
  <cp:revision>2</cp:revision>
  <dcterms:created xsi:type="dcterms:W3CDTF">2013-01-27T09:14:16Z</dcterms:created>
  <dcterms:modified xsi:type="dcterms:W3CDTF">2026-08-15T14:36:10Z</dcterms:modified>
  <cp:category/>
</cp:coreProperties>
</file>