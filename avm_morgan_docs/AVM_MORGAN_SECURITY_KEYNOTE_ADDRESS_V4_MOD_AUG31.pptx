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8" r:id="rId4"/>
    <p:sldId id="311" r:id="rId12"/>
    <p:sldId id="259" r:id="rId5"/>
    <p:sldId id="260" r:id="rId6"/>
    <p:sldId id="261" r:id="rId7"/>
    <p:sldId id="262" r:id="rId8"/>
    <p:sldId id="293" r:id="rId19"/>
    <p:sldId id="294" r:id="rId20"/>
    <p:sldId id="295" r:id="rId21"/>
    <p:sldId id="296" r:id="rId22"/>
    <p:sldId id="297" r:id="rId23"/>
    <p:sldId id="298" r:id="rId24"/>
    <p:sldId id="299" r:id="rId25"/>
    <p:sldId id="300" r:id="rId26"/>
    <p:sldId id="301" r:id="rId27"/>
    <p:sldId id="302" r:id="rId28"/>
    <p:sldId id="303" r:id="rId18"/>
    <p:sldId id="312" r:id="rId11"/>
    <p:sldId id="304" r:id="rId17"/>
    <p:sldId id="305" r:id="rId16"/>
    <p:sldId id="306" r:id="rId15"/>
    <p:sldId id="307" r:id="rId33"/>
    <p:sldId id="308" r:id="rId14"/>
    <p:sldId id="309" r:id="rId35"/>
    <p:sldId id="31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-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1" Type="http://schemas.openxmlformats.org/officeDocument/2006/relationships/slide" Target="slides/slide19.xml"/><Relationship Id="rId12" Type="http://schemas.openxmlformats.org/officeDocument/2006/relationships/slide" Target="slides/slide3.xml"/><Relationship Id="rId13" Type="http://schemas.openxmlformats.org/officeDocument/2006/relationships/slide" Target="slides/slide26.xml"/><Relationship Id="rId14" Type="http://schemas.openxmlformats.org/officeDocument/2006/relationships/slide" Target="slides/slide24.xml"/><Relationship Id="rId15" Type="http://schemas.openxmlformats.org/officeDocument/2006/relationships/slide" Target="slides/slide22.xml"/><Relationship Id="rId16" Type="http://schemas.openxmlformats.org/officeDocument/2006/relationships/slide" Target="slides/slide21.xml"/><Relationship Id="rId17" Type="http://schemas.openxmlformats.org/officeDocument/2006/relationships/slide" Target="slides/slide20.xml"/><Relationship Id="rId18" Type="http://schemas.openxmlformats.org/officeDocument/2006/relationships/slide" Target="slides/slide18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3.xml"/><Relationship Id="rId35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open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19260" y="-1"/>
            <a:ext cx="12810956" cy="720634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-619260" y="-1"/>
            <a:ext cx="12810956" cy="7206343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EA5E9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1605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NORTH-CENTRAL NIGERIA SECURITY SUMMIT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2628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FFFFF"/>
                </a:solidFill>
                <a:latin typeface="Calibri"/>
              </a:rPr>
              <a:t>COLLABORATIVE APPROACHES TO STRENGTHENING
SECURITY IN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715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1">
                <a:solidFill>
                  <a:srgbClr val="E8EAEE"/>
                </a:solidFill>
                <a:latin typeface="Calibri"/>
              </a:rPr>
              <a:t>Towards a People-Centred, Intelligence-Led and Sustainable Security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63640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9AA5B1"/>
                </a:solidFill>
                <a:latin typeface="Calibri"/>
              </a:rPr>
              <a:t>Air Vice Marshal Monday Riku Morgan (Rtd)  |  Former Chief of Defence Intelligence  |  30-Minute Keynote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North-Central Paradox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Benue • Kogi • Kwara • Nasarawa • Niger • Plateau • FCT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Bridge between North and South — the heartland of Nigeria’s territorial cohesion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Home to vital agricultural lands, forests, water resources and mineral deposits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Yet increasingly an arena of insecurity, displacement and communal tension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Kidnapping, banditry, and violent competition over land and resources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A region that should be a bastion of unity and food security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paradox: resource-rich, strategically vital — yet chronically insecure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Not simply: who is responsible for the insecurity?
The deeper question: why, despite the Armed
Forces, Police, intelligence agencies, civil defence,
state institutions and traditional structures, does
insecurity keep reproducing itself?
This paper submits: the challenge is not the
absence of institutions.
It is the fragmentation of the response.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OPENING — THE SCALE OF THE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Human Cost, In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SIX FIGURES THAT DEFINE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140+ killed — Plateau State, December 2023.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1,043 killed in Benue State, May 2023 – 2025.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160 killed in a single night — Yelwata.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ACCOUNTABILITY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9 individuals have been charged with terrorism over the Yelwata killings. The numbers behind them are why this keynote exists.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Critical Question — Fragmentation, Not Absence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4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Farmer
Sees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87452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07568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Ruler
Sees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93008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94176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Vigilante
Sees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111496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312664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Ranger
Sees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9984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931152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Police
Sees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348472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549640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Intel Officer
Sees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966960" y="2423160"/>
            <a:ext cx="201168" cy="365760"/>
          </a:xfrm>
          <a:prstGeom prst="rightArrow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168128" y="2103120"/>
            <a:ext cx="1417320" cy="1005840"/>
          </a:xfrm>
          <a:prstGeom prst="roundRect">
            <a:avLst/>
          </a:prstGeom>
          <a:solidFill>
            <a:srgbClr val="0EA5E9"/>
          </a:solidFill>
          <a:ln w="15875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No Fusion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20440"/>
            <a:ext cx="11247120" cy="54864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79476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D4AF37"/>
                </a:solidFill>
                <a:latin typeface="Calibri"/>
              </a:rPr>
              <a:t>A threat is seen — but seen by everyone, owned by no 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71600" y="4617720"/>
            <a:ext cx="4480560" cy="146304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55448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FFFFF"/>
                </a:solidFill>
                <a:latin typeface="Calibri"/>
              </a:rPr>
              <a:t>THE PROBLEM:
“Information that does not
reach a common system
remains merely information.”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9360" y="4617720"/>
            <a:ext cx="4480560" cy="1463040"/>
          </a:xfrm>
          <a:prstGeom prst="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92240" y="4800600"/>
            <a:ext cx="4114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STAKES:
“Information that does not
produce action cannot
protect lives.”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04</a:t>
            </a:r>
          </a:p>
        </p:txBody>
      </p:sp>
      <p:pic>
        <p:nvPicPr>
          <p:cNvPr id="31" name="Picture 30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ycl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51560"/>
            <a:ext cx="5577840" cy="55778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675120" y="1051560"/>
            <a:ext cx="5577840" cy="557784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Collaboration as the Centrepiece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5 /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71600"/>
            <a:ext cx="5852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1">
                <a:solidFill>
                  <a:srgbClr val="0B1F3A"/>
                </a:solidFill>
                <a:latin typeface="Calibri"/>
              </a:rPr>
              <a:t>Not occasional meetings between agencies — one common security framework, understood at every level of government.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4560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194560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SHARED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194560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Intelligence is shared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35808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INTEGRATED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035808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Capabilities are integrated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77056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3877056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COMPLEMENTARY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877056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Responsibilities are complementary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18304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31520" y="4718304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ENGAGED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4718304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Communities are engaged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559552"/>
            <a:ext cx="137160" cy="77724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" y="5559552"/>
            <a:ext cx="14630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EXPLOITED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559552"/>
            <a:ext cx="38404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Technology is exploited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05</a:t>
            </a:r>
          </a:p>
        </p:txBody>
      </p:sp>
      <p:pic>
        <p:nvPicPr>
          <p:cNvPr id="30" name="Picture 29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Four Shifts the North-Central Must Make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6 / 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Agency-Centric
→ System-Centric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Reaction
→ Prevention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Isolated Intel
→ Fusion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Govt-Only
→ Partnership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NDLEA /
Customs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0175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State
Security
Councils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Local Govt
Structures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Traditional
Institutions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4617720"/>
            <a:ext cx="3611880" cy="141732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Community
&amp; Civil Society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06</a:t>
            </a:r>
          </a:p>
        </p:txBody>
      </p:sp>
      <p:pic>
        <p:nvPicPr>
          <p:cNvPr id="22" name="Picture 21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Lessons From Israel and Britain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7 / 26</a:t>
            </a:r>
          </a:p>
        </p:txBody>
      </p:sp>
      <p:sp>
        <p:nvSpPr>
          <p:cNvPr id="9" name="Oval 8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6304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Israel: intelligence, military, emergency structures and communities fused into one resilient system</a:t>
            </a:r>
          </a:p>
        </p:txBody>
      </p:sp>
      <p:sp>
        <p:nvSpPr>
          <p:cNvPr id="11" name="Oval 10"/>
          <p:cNvSpPr/>
          <p:nvPr/>
        </p:nvSpPr>
        <p:spPr>
          <a:xfrm>
            <a:off x="457200" y="224028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24028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Britain: institutions retain distinct roles, coordinated within one national framework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" y="301752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01752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Nigeria cannot simply copy either model</a:t>
            </a:r>
          </a:p>
        </p:txBody>
      </p:sp>
      <p:sp>
        <p:nvSpPr>
          <p:cNvPr id="15" name="Oval 14"/>
          <p:cNvSpPr/>
          <p:nvPr/>
        </p:nvSpPr>
        <p:spPr>
          <a:xfrm>
            <a:off x="457200" y="379476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9476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We must build a Nigerian model — our own hybrid</a:t>
            </a:r>
          </a:p>
        </p:txBody>
      </p:sp>
      <p:sp>
        <p:nvSpPr>
          <p:cNvPr id="17" name="Oval 16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0B1F3A"/>
                </a:solidFill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572000"/>
            <a:ext cx="49377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Combining intelligence fusion, inter-agency coordination, and community early warning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TOWARD A NIGERIAN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Intelligence fusion (Israel)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Institutional coordination (Britain)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State &amp; local government participation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Traditional institutions &amp; community early-warning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Modern technology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The reservoir of retired military, intelligence &amp; police professionals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07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Central Question — Two Models to Learn From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ISRAEL  •  BRITAIN  •  NIGERIA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Not whether Nigeria has enough security agencies — we do.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real question: are agencies, governments, communities and citizens connected enough to act as one system?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Two nations offer proven, opposite-but-complementary answers: Israel and Britain.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WHY THESE TWO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Israel: deep integration under sustained threat. Britain: coordination without destroying institutions. Together they map the Nigerian hybrid.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2" name="Picture 21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Two Proven Models, One Nigerian Hybrid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9 / 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0" y="1691640"/>
            <a:ext cx="4572000" cy="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ISRAEL — INTEGRATION AS DOCTRINE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NSC fuses intel, political, military &amp; government info into one national assessment
▸  Home Front Command links military capability directly to local authorities
▸  Chain: intelligence → decision → command → local authority → community → response
▸  The citizen is not a victim waiting for government — the citizen IS the architecture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09</a:t>
            </a:r>
          </a:p>
        </p:txBody>
      </p:sp>
      <p:pic>
        <p:nvPicPr>
          <p:cNvPr id="25" name="Picture 24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sp>
        <p:nvSpPr>
          <p:cNvPr id="1001" name="Rectangle 18"/>
          <p:cNvSpPr/>
          <p:nvPr/>
        </p:nvSpPr>
        <p:spPr>
          <a:xfrm>
            <a:off x="457200" y="1463040"/>
            <a:ext cx="5120640" cy="475488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2" name="TextBox 19"/>
          <p:cNvSpPr txBox="1"/>
          <p:nvPr/>
        </p:nvSpPr>
        <p:spPr>
          <a:xfrm>
            <a:off x="731520" y="1691640"/>
            <a:ext cx="4572000" cy="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Calibri"/>
              </a:rPr>
              <a:t>UNITED KINGDOM — COORDINATION, NOT REPLACEMENT</a:t>
            </a:r>
          </a:p>
        </p:txBody>
      </p:sp>
      <p:sp>
        <p:nvSpPr>
          <p:cNvPr id="1003" name="TextBox 20"/>
          <p:cNvSpPr txBox="1"/>
          <p:nvPr/>
        </p:nvSpPr>
        <p:spPr>
          <a:xfrm>
            <a:off x="731520" y="21488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▸  CONTEST: Prevent, Pursue, Protect, Prepare — four pillars, one strategy
▸  43 police forces cooperate nationally — capability surges, local ties stay intact
▸  CTOC turns shared intelligence into action faster
▸  Principle: centralise intelligence &amp; standards; decentralise implementation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Israeli Model — The Citizen as Sensor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HOME FRONT COMMAND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Home Front Command keeps a continuous relationship with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Exercises, emergency plans, and a direct link between military capability and civilian structures.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The citizen is not a victim waiting for government — the citizen is part of the security architecture.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500" dirty="0" b="1">
                <a:solidFill>
                  <a:srgbClr val="0B1F3A"/>
                </a:solidFill>
                <a:latin typeface="Calibri"/>
              </a:rPr>
              <a:t>▸  Our communities already know who is entering the forest, who is moving cattle, who is unfamiliar — often before headquarters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Intelligence to decision to command to local authority to community to response — a continuous loop, not a one-way order.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Five Lessons Israel Offers North-Central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WHAT WE BORROW — AND WHAT WE DON’T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Permanent intelligence fusion.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Strong regional operational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Military–police–intelligence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Prepared local authorities.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Community participation and resilience.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CAVEAT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We do not copy Israel’s highly militarised environment wholesale — Nigeria is a larger, more diverse federation with different realities.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11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CONTEST and Coordinated Policing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FOUR PILLARS, ONE STRATEGY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CONTEST: Prevent, Pursue, Protect, Prepare — linking government, intelligence, police, military, emergency services, local authorities and communities.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Forty-three police forces across England and Wales, plus Scotland and Northern Ireland, cooperate through one national counter-terrorism structure.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Capability surges to wherever the threat is greatest, without dismantling local forces.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CTOC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Counter Terrorism Operations Centre converts intelligence into action faster by putting agencies and policing in the same room.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12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ELEVEN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UK Model — The Lesson for Nigeria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ONSA / NCTC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Nigeria’s NCTC already runs an all-source intelligence function under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Whole-of-Government, Whole-of-Society is already our stated doctrine.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gap is not institutions. It is integration between them.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Centralise intelligence. Decentralise delivery. Let every agency keep its identity while operating toward one national objective.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Israel vs UK — Neither Model Alone Is Right for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14 / 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57200" y="1509840"/>
          <a:ext cx="11277600" cy="4800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038600"/>
                <a:gridCol w="403860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Dimension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Israeli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UK Model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integrated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Highly coordinated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Military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prominent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More specialised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Local authorities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emergency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prevention role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Active security participant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Prevention &amp; resilience partner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operational integration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Networked coordination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Technology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Very intensive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National 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0B1F3A"/>
                          </a:solidFill>
                          <a:latin typeface="Calibri"/>
                        </a:rPr>
                        <a:t>Strong central framework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Best lesson for Nigeria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Integration &amp; rapid response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1F3A"/>
                          </a:solidFill>
                          <a:latin typeface="Calibri"/>
                        </a:rPr>
                        <a:t>Coordination &amp; institutional balance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THIRTEEN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Hybrid Model — The NCISRM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15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NORTH-CENTRAL INTEGRATED SECURITY &amp; RESILIENCE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intelligence integration.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Israeli local resilience.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British institutional coordination.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Nigerian community intelligence.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ONE SENTENCE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Neither model copied wholesale — a deliberate Nigerian hybrid, built for our federation, our geography and our communities.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15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0" name="Picture 9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unity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9144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NCISRM — Five Levels, One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754880"/>
            <a:ext cx="12191695" cy="210312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Level 1: Regional Fusion Centre  •  Level 2: State Coordination Centres  •  Level 3: Local Security Network  •  Level 4: Forest &amp; Rural Layer  •  Level 5: The Citizen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500000"/>
            <a:ext cx="1106424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Five levels, one threat picture — from the regional fusion centre
down to the citizen, who must become a sensor in the network,
not simply a casualty statistic.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0" i="0">
                <a:solidFill>
                  <a:srgbClr val="9AA5B1"/>
                </a:solidFill>
                <a:latin typeface="Calibri"/>
              </a:rPr>
              <a:t>16 / 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FIFTEEN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Three — The Local Security Network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17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ONE STRUCTURE PER HIGH-RISK LGA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Security agencies + traditional institutions + local government + community leaders.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Farmers + pastoralists + credible civil society + trained community observers.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One integrated structure per high-risk LGA — structured early warning, lawful information sharing.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This is not vigilante justice.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Turn scattered local knowledge into one lawful, structured channel that reaches the state coordination centre in minutes, not weeks.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17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SIXTEEN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Four — The Forest and Rural Security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18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DENY SANCTUARY, NOT THE FARMER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Forests and rural spaces cannot remain intelligence black holes.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Rangers become the eyes and ears of the state — trained, equipped, connected.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Specialised units retain the high-risk operations; rangers are not asked to fight wars.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PRINCIPLE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Deny sanctuary, mobility, supplies, communications, financing and movement to armed groups — without criminalising the honest farmer or herder.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18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CENTRAL PROBLEM, RESTATED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We Are Too Reactive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19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CYCLE THAT REPEATS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An attack occurs. People are killed.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Police are alerted. The military is mobilised.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The attackers vanish. The community is searched.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THE ENORMITY OF THE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No amount of additional manpower fixes a cycle that is structurally reactive. This is the scale we must design our way out of — not police our way out of.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19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SEVENTEEN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NCISRM Level Five — The Citizen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20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THE CITIZEN AS SENSOR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Who do I call?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do I report?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How do I report it?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What happens after I report it?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STANDARD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citizen must become a sensor in the security network — not simply a casualty statistic.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20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4" name="Picture 2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EIGHTEEN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Role of Veterans — The North-Central Advantage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21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A large pool of experienced retired military, intelligence &amp; police professionals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Contributes intelligence analysis and strategic planning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Delivers training, mentoring and simulation exercises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Strengthens early-warning systems and lessons-learned review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b="1">
                <a:solidFill>
                  <a:srgbClr val="0B1F3A"/>
                </a:solidFill>
                <a:latin typeface="Calibri"/>
              </a:rPr>
              <a:t>▸  Never replaces serving personnel — strengthens the system instead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371600"/>
            <a:ext cx="5394960" cy="49377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60020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REGIONAL SECURITY ADVISORY &amp; TRAINING RESERVE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14884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66560" y="214884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Veteran Reserve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807208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807208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Intel Analysis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465576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3465576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Strategic Planning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4123944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4123944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Training &amp; Mentoring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782312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66560" y="4782312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Early Warning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5440680"/>
            <a:ext cx="4846320" cy="502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766560" y="5440680"/>
            <a:ext cx="45720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Lessons Learned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21</a:t>
            </a:r>
          </a:p>
        </p:txBody>
      </p:sp>
      <p:pic>
        <p:nvPicPr>
          <p:cNvPr id="27" name="Picture 2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7" name="Picture 16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NINETEEN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From Reaction to Prevention — The Fifth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22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1">
                <a:solidFill>
                  <a:srgbClr val="D4AF37"/>
                </a:solidFill>
                <a:latin typeface="Calibri"/>
              </a:rPr>
              <a:t>Attack, deploy, fight, withdraw, wait — that is reactive. Information, analysis, early warning, prevention, response, recovery — that is collaborative.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PREVENT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PURSUE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PROTECT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PREPARE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PARTNER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663440"/>
            <a:ext cx="5440680" cy="105156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COLLABORATIVE SECURITY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500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0B1F3A"/>
                </a:solidFill>
                <a:latin typeface="Calibri"/>
              </a:rPr>
              <a:t>The Nigerian answer: Israeli integration + Israeli local resilience + British coordination + Nigerian community intelligence — the NCISRM.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22</a:t>
            </a:r>
          </a:p>
        </p:txBody>
      </p:sp>
      <p:pic>
        <p:nvPicPr>
          <p:cNvPr id="20" name="Picture 19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Three Lessons, One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23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NO INTELLIGENCE ISOLATED. NO COMMUNITY DISCONNECTED.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Israel: no intelligence should remain isolated, and no community should remain disconnected from the security system.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Britain: different agencies can retain their identities while operating toward one national objective.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Nigeria: our solution must be built around our geography, our communities, our constitutional structure and our own realities.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 SYNTHESIS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Three lessons. One system. A model that is unmistakably Nigerian.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23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4" name="Picture 13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SECTION TWENTY-ONE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Conclusion — The Nigerian Commitments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24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UNMISTAKABLY NIGERIAN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5669280" cy="42502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Centralised intelligence. Integrated command. Decentralised community engagement.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Technology-enabled surveillance. Prepared local authorities. Veteran expertise.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2000" dirty="0" b="1">
                <a:solidFill>
                  <a:srgbClr val="0B1F3A"/>
                </a:solidFill>
                <a:latin typeface="Calibri"/>
              </a:rPr>
              <a:t>▸  Early warning. Rapid response. Continuous learning.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49240" cy="50749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5087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NINE COMMITMENTS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965960"/>
            <a:ext cx="48463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 i="0">
                <a:solidFill>
                  <a:srgbClr val="FFFFFF"/>
                </a:solidFill>
                <a:latin typeface="Calibri"/>
              </a:rPr>
              <a:t>These nine commitments are the measurable core of the NCISRM — what North-Central Nigeria will actually build, together.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24</a:t>
            </a:r>
          </a:p>
        </p:txBody>
      </p:sp>
      <p:pic>
        <p:nvPicPr>
          <p:cNvPr id="17" name="Picture 16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7" name="Picture 6" descr="bg_military_tech_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 descr="closing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F">
              <a:alpha val="1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EA5E9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260000"/>
            <a:ext cx="109728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1">
                <a:solidFill>
                  <a:srgbClr val="FFFFFF"/>
                </a:solidFill>
                <a:latin typeface="Calibri"/>
              </a:rPr>
              <a:t>“He simply wants to arrive alive.”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900000"/>
            <a:ext cx="10972800" cy="1550000"/>
          </a:xfrm>
          <a:prstGeom prst="rect">
            <a:avLst/>
          </a:prstGeom>
          <a:noFill/>
        </p:spPr>
        <p:txBody>
          <a:bodyPr wrap="square" anchor="t">
            <a:norm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FFFFFF"/>
                </a:solidFill>
                <a:latin typeface="Calibri"/>
              </a:rPr>
              <a:t>Not a soldier in every village — a system where intelligence reaches the right commander, the commander reaches the right capability, and the capability reaches the threatened community before the attack occurs.</a:t>
            </a:r>
          </a:p>
          <a:p>
            <a:pPr>
              <a:spcBef>
                <a:spcPts val="800"/>
              </a:spcBef>
            </a:pPr>
            <a:r>
              <a:rPr b="1" sz="1600">
                <a:solidFill>
                  <a:srgbClr val="FFFFFF"/>
                </a:solidFill>
                <a:latin typeface="Calibri"/>
              </a:rPr>
              <a:t>Finally, </a:t>
            </a:r>
            <a:r>
              <a:rPr sz="1600">
                <a:solidFill>
                  <a:srgbClr val="FFFFFF"/>
                </a:solidFill>
                <a:latin typeface="Calibri"/>
              </a:rPr>
              <a:t>I recommend the establishment of a North-Central Security Endowment Fund, jointly financed by the Federal Government and the North-Central Governors, with transparent governance and sustainable funding to meet the significant financial requirements of implementing this new security architecture.</a:t>
            </a:r>
          </a:p>
          <a:p>
            <a:pPr>
              <a:spcBef>
                <a:spcPts val="800"/>
              </a:spcBef>
            </a:pPr>
            <a:r>
              <a:rPr sz="1800" b="1">
                <a:solidFill>
                  <a:srgbClr val="FFFFFF"/>
                </a:solidFill>
                <a:latin typeface="Calibr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520000"/>
            <a:ext cx="109728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D4AF37"/>
                </a:solidFill>
                <a:latin typeface="Calibri"/>
              </a:rPr>
              <a:t>THANK YOU  —  Air Vice Marshal Monday Riku Morgan (Rtd)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11" name="Picture 10" descr="bg_military_tech_1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gradFill rotWithShape="1">
            <a:gsLst>
              <a:gs pos="0">
                <a:srgbClr val="0EA5E9"/>
              </a:gs>
              <a:gs pos="100000">
                <a:srgbClr val="0369A1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FFFFFF"/>
                </a:solidFill>
                <a:latin typeface="Calibri"/>
              </a:rPr>
              <a:t>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384048"/>
            <a:ext cx="731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D4AF37"/>
                </a:solidFill>
                <a:latin typeface="Calibri"/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AVM Monday Riku Morgan (Rtd) — North-Central Security Summit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537960"/>
            <a:ext cx="1280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2000" b="1" i="0">
                <a:solidFill>
                  <a:srgbClr val="0B1F3A"/>
                </a:solidFill>
                <a:latin typeface="Calibri"/>
              </a:rPr>
              <a:t>26 / 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54864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National Security Council (2023) National Security Concept and the Role of the Situation Room. Jerusalem: Prime Minister’s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Israel Home Front Command (2022) Civilian Preparedness and Local Authority Coordination Doctrine. Ramla: Israel Defense Forces.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Byman, D. (2011) A High Price: The Triumphs and Failures of Israeli Counterterrorism. Oxford: Oxford University Press.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100" b="1">
                <a:solidFill/>
              </a:rPr>
              <a:t>International Crisis Group (2024) Rethinking Nigeria’s Approach to Farmer-Herder and Communal Conflict. Brussels: ICG.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HM Government (2023) CONTEST: The United Kingdom’s Strategy for Countering Terrorism. London: Home Office.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National Police Chiefs’ Council (2022) Counter Terrorism Policing: National Structures and the CTOC. London: NPCC.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Office of the National Security Adviser, Nigeria (2024) National Counter Terrorism Centre: Whole-of-Government Framework. Abuja: ONSA.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/>
              </a:rPr>
              <a:t>ACLED (2025) Nigeria: North-Central Conflict Trends, Benue, Plateau and Niger States. Madison, WI: ACLED.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D4A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41440" y="6458000"/>
            <a:ext cx="600000" cy="320000"/>
          </a:xfrm>
          <a:prstGeom prst="roundRect">
            <a:avLst/>
          </a:prstGeom>
          <a:solidFill>
            <a:srgbClr val="0EA5E9"/>
          </a:solidFill>
          <a:ln w="12700">
            <a:solidFill>
              <a:srgbClr val="D4A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1400">
                <a:solidFill>
                  <a:srgbClr val="FFFFFF"/>
                </a:solidFill>
              </a:rPr>
              <a:t>26</a:t>
            </a:r>
          </a:p>
        </p:txBody>
      </p:sp>
      <p:pic>
        <p:nvPicPr>
          <p:cNvPr id="14" name="Picture 13" descr="emblem_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00" y="375780"/>
            <a:ext cx="300000" cy="3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2315</Words>
  <Application>Microsoft Office PowerPoint</Application>
  <PresentationFormat>Widescreen</PresentationFormat>
  <Paragraphs>391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TOM DEGGS</dc:creator>
  <cp:keywords/>
  <dc:description>generated using python-pptx</dc:description>
  <cp:lastModifiedBy>Tom Deggs</cp:lastModifiedBy>
  <cp:revision>2</cp:revision>
  <dcterms:created xsi:type="dcterms:W3CDTF">2013-01-27T09:14:16Z</dcterms:created>
  <dcterms:modified xsi:type="dcterms:W3CDTF">2026-08-15T14:36:10Z</dcterms:modified>
  <cp:category/>
</cp:coreProperties>
</file>