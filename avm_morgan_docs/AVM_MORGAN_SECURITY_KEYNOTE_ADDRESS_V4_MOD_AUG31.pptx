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4"/>
    <p:sldId id="259" r:id="rId5"/>
    <p:sldId id="260" r:id="rId6"/>
    <p:sldId id="261" r:id="rId7"/>
    <p:sldId id="262" r:id="rId8"/>
    <p:sldId id="293" r:id="rId19"/>
    <p:sldId id="294" r:id="rId20"/>
    <p:sldId id="295" r:id="rId21"/>
    <p:sldId id="296" r:id="rId22"/>
    <p:sldId id="297" r:id="rId23"/>
    <p:sldId id="298" r:id="rId24"/>
    <p:sldId id="299" r:id="rId25"/>
    <p:sldId id="300" r:id="rId26"/>
    <p:sldId id="301" r:id="rId27"/>
    <p:sldId id="302" r:id="rId28"/>
    <p:sldId id="303" r:id="rId18"/>
    <p:sldId id="304" r:id="rId17"/>
    <p:sldId id="305" r:id="rId16"/>
    <p:sldId id="306" r:id="rId15"/>
    <p:sldId id="307" r:id="rId33"/>
    <p:sldId id="308" r:id="rId14"/>
    <p:sldId id="309" r:id="rId35"/>
    <p:sldId id="310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940" y="-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13" Type="http://schemas.openxmlformats.org/officeDocument/2006/relationships/slide" Target="slides/slide24.xml"/><Relationship Id="rId14" Type="http://schemas.openxmlformats.org/officeDocument/2006/relationships/slide" Target="slides/slide22.xml"/><Relationship Id="rId15" Type="http://schemas.openxmlformats.org/officeDocument/2006/relationships/slide" Target="slides/slide20.xml"/><Relationship Id="rId16" Type="http://schemas.openxmlformats.org/officeDocument/2006/relationships/slide" Target="slides/slide19.xml"/><Relationship Id="rId17" Type="http://schemas.openxmlformats.org/officeDocument/2006/relationships/slide" Target="slides/slide18.xml"/><Relationship Id="rId18" Type="http://schemas.openxmlformats.org/officeDocument/2006/relationships/slide" Target="slides/slide17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openxmlformats.org/officeDocument/2006/relationships/slide" Target="slides/slide21.xml"/><Relationship Id="rId35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bg_military_tech_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opening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19260" y="-1"/>
            <a:ext cx="12810956" cy="7206343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-619260" y="-1"/>
            <a:ext cx="12810956" cy="7206343"/>
          </a:xfrm>
          <a:prstGeom prst="rect">
            <a:avLst/>
          </a:prstGeom>
          <a:solidFill>
            <a:srgbClr val="F0F7F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31920"/>
            <a:ext cx="12191695" cy="2926080"/>
          </a:xfrm>
          <a:prstGeom prst="rect">
            <a:avLst/>
          </a:prstGeom>
          <a:solidFill>
            <a:srgbClr val="0EA5E9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1605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NORTH-CENTRAL NIGERIA SECURITY SUMMIT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26280"/>
            <a:ext cx="10972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COLLABORATIVE APPROACHES TO STRENGTHENING
SECURITY IN NORTH-CENTRAL NIGERIA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7150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1">
                <a:solidFill>
                  <a:srgbClr val="E8EAEE"/>
                </a:solidFill>
                <a:latin typeface="Calibri"/>
              </a:rPr>
              <a:t>Towards a People-Centred, Intelligence-Led and Sustainable Security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6364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Air Vice Marshal Monday Riku Morgan (Rtd)  |  Former Chief of Defence Intelligence  |  30-Minute Keynote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North-Central Paradox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Benue • Kogi • Kwara • Nasarawa • Niger • Plateau • FCT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Bridge between North and South — the heartland of Nigeria’s territorial cohesion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Home to vital agricultural lands, forests, water resources and mineral deposits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Yet increasingly an arena of insecurity, displacement and communal tension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Kidnapping, banditry, and violent competition over land and resources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A region that should be a bastion of unity and food security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The paradox: resource-rich, strategically vital — yet chronically insecure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THE QUESTION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Not simply: who is responsible for the insecurity?
The deeper question: why, despite the Armed
Forces, Police, intelligence agencies, civil defence,
state institutions and traditional structures, does
insecurity keep reproducing itself?
This paper submits: the challenge is not the
absence of institutions.
It is the fragmentation of the response.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02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Critical Question — Fragmentation, Not Absence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3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Farmer
Sees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874520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075688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Ruler
Sees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493008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3694176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Vigilante
Sees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111496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312664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Ranger
Sees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729984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931152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B8860B"/>
                </a:solidFill>
              </a:rPr>
              <a:t>Police
Sees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348472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549640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B8860B"/>
                </a:solidFill>
              </a:rPr>
              <a:t>Intel Officer
Sees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966960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0168128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B8860B"/>
                </a:solidFill>
              </a:rPr>
              <a:t>No Fusion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520440"/>
            <a:ext cx="11247120" cy="54864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3794760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D4AF37"/>
                </a:solidFill>
                <a:latin typeface="Calibri"/>
              </a:rPr>
              <a:t>A threat is seen — but seen by everyone, owned by no one.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71600" y="4617720"/>
            <a:ext cx="4480560" cy="146304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554480" y="4800600"/>
            <a:ext cx="4114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THE PROBLEM:
“Information that does not
reach a common system
remains merely information.”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4617720"/>
            <a:ext cx="4480560" cy="1463040"/>
          </a:xfrm>
          <a:prstGeom prst="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92240" y="4800600"/>
            <a:ext cx="4114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THE STAKES:
“Information that does not
produce action cannot
protect lives.”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03</a:t>
            </a:r>
          </a:p>
        </p:txBody>
      </p:sp>
      <p:pic>
        <p:nvPicPr>
          <p:cNvPr id="31" name="Picture 30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 descr="bg_military_tech_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cycle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051560"/>
            <a:ext cx="5577840" cy="5577840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6675120" y="1051560"/>
            <a:ext cx="5577840" cy="5577840"/>
          </a:xfrm>
          <a:prstGeom prst="rect">
            <a:avLst/>
          </a:prstGeom>
          <a:solidFill>
            <a:srgbClr val="F0F7F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Collaboration as the Centrepiece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4 / 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71600"/>
            <a:ext cx="5852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Not occasional meetings between agencies — one common security framework, understood at every level of government.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4560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2194560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SHARED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194560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Intelligence is shared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035808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3035808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INTEGRATED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3035808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Capabilities are integrated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77056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" y="3877056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COMPLEMENTARY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3877056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Responsibilities are complementary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718304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31520" y="4718304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ENGAGED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4718304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Communities are engaged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559552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31520" y="5559552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EXPLOITED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5559552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Technology is exploited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04</a:t>
            </a:r>
          </a:p>
        </p:txBody>
      </p:sp>
      <p:pic>
        <p:nvPicPr>
          <p:cNvPr id="30" name="Picture 29" descr="emblem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Four Shifts the North-Central Must Make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5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173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Agency-Centric
→ System-Centric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4173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Reaction
→ Prevention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4173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B8860B"/>
                </a:solidFill>
              </a:rPr>
              <a:t>Isolated Intel
→ Fusion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0175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Govt-Only
→ Partnership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30175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NDLEA /
Customs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30175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B8860B"/>
                </a:solidFill>
              </a:rPr>
              <a:t>State
Security
Councils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6177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Local Govt
Structures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46177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Traditional
Institutions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46177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B8860B"/>
                </a:solidFill>
              </a:rPr>
              <a:t>Community
&amp; Civil Society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1417320"/>
            <a:ext cx="352044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“Nigeria already embraces this at national level — the NCTC’s Whole-of-Government,
Whole-of-Society principle. The North-Central must take it further.”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05</a:t>
            </a:r>
          </a:p>
        </p:txBody>
      </p:sp>
      <p:pic>
        <p:nvPicPr>
          <p:cNvPr id="22" name="Picture 21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Lessons From Israel and Britain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6 / 28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146304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46304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Israel: intelligence, military, emergency structures and communities fused into one resilient system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24028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24028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Britain: institutions retain distinct roles, coordinated within one national framework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301752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01752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Nigeria cannot simply copy either model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379476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79476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We must build a Nigerian model — our own hybrid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" y="457200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57200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Combining intelligence fusion, inter-agency coordination, and community early warning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1463040"/>
            <a:ext cx="5120640" cy="475488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0" y="169164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TOWARD A NIGERIAN MODEL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21488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Intelligence fusion (Israel)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Institutional coordination (Britain)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State &amp; local government participation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Traditional institutions &amp; community early-warning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Modern technology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The reservoir of retired military, intelligence &amp; police professionals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06</a:t>
            </a:r>
          </a:p>
        </p:txBody>
      </p:sp>
      <p:pic>
        <p:nvPicPr>
          <p:cNvPr id="25" name="Picture 24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SIX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Central Question — Two Models to Learn From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7 / 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ISRAEL  •  BRITAIN  •  NIGERIA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Not whether Nigeria has enough security agencies — we do.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The real question: are agencies, governments, communities and citizens connected enough to act as one system?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Two nations offer proven, opposite-but-complementary answers: Israel and Britain.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WHY THESE TWO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Israel: deep integration under sustained threat. Britain: coordination without destroying institutions. Together they map the Nigerian hybrid.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07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2" name="Picture 21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SEVEN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Two Proven Models, One Nigerian Hybrid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8 / 24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1463040"/>
            <a:ext cx="5120640" cy="475488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0" y="169164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ISRAEL — INTEGRATION AS DOCTRINE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21488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NSC fuses intel, political, military &amp; government info into one national assessment
▸  Home Front Command links military capability directly to local authorities
▸  Chain: intelligence → decision → command → local authority → community → response
▸  The citizen is not a victim waiting for government — the citizen IS the architecture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08</a:t>
            </a:r>
          </a:p>
        </p:txBody>
      </p:sp>
      <p:pic>
        <p:nvPicPr>
          <p:cNvPr id="25" name="Picture 24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  <p:sp>
        <p:nvSpPr>
          <p:cNvPr id="1001" name="Rectangle 18"/>
          <p:cNvSpPr/>
          <p:nvPr/>
        </p:nvSpPr>
        <p:spPr>
          <a:xfrm>
            <a:off x="457200" y="1463040"/>
            <a:ext cx="5120640" cy="475488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2" name="TextBox 19"/>
          <p:cNvSpPr txBox="1"/>
          <p:nvPr/>
        </p:nvSpPr>
        <p:spPr>
          <a:xfrm>
            <a:off x="731520" y="169164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UNITED KINGDOM — COORDINATION, NOT REPLACEMENT</a:t>
            </a:r>
          </a:p>
        </p:txBody>
      </p:sp>
      <p:sp>
        <p:nvSpPr>
          <p:cNvPr id="1003" name="TextBox 20"/>
          <p:cNvSpPr txBox="1"/>
          <p:nvPr/>
        </p:nvSpPr>
        <p:spPr>
          <a:xfrm>
            <a:off x="731520" y="21488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CONTEST: Prevent, Pursue, Protect, Prepare — four pillars, one strategy
▸  43 police forces cooperate nationally — capability surges, local ties stay intact
▸  CTOC turns shared intelligence into action faster
▸  Principle: centralise intelligence &amp; standards; decentralise implementation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EIGHT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Israeli Model — The Citizen as Sensor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9 / 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HOME FRONT COMMAND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The Home Front Command keeps a continuous relationship with local authorities.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Exercises, emergency plans, and a direct link between military capability and civilian structures.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The citizen is not a victim waiting for government — the citizen is part of the security architecture.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Our communities already know who is entering the forest, who is moving cattle, who is unfamiliar — often before headquarters does.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THE PRINCIPLE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Intelligence to decision to command to local authority to community to response — a continuous loop, not a one-way order.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09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NINE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Five Lessons Israel Offers North-Central Nigeria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10 / 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WHAT WE BORROW — AND WHAT WE DON’T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Permanent intelligence fusion.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Strong regional operational coordination.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Military–police–intelligence integration.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Prepared local authorities.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Community participation and resilience.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THE CAVEAT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We do not copy Israel’s highly militarised environment wholesale — Nigeria is a larger, more diverse federation with different realities.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10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TEN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UK Model — CONTEST and Coordinated Policing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11 / 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FOUR PILLARS, ONE STRATEGY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CONTEST: Prevent, Pursue, Protect, Prepare — linking government, intelligence, police, military, emergency services, local authorities and communities.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Forty-three police forces across England and Wales, plus Scotland and Northern Ireland, cooperate through one national counter-terrorism structure.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Capability surges to wherever the threat is greatest, without dismantling local forces.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THE CTOC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The Counter Terrorism Operations Centre converts intelligence into action faster by putting agencies and policing in the same room.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11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ELEVEN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UK Model — The Lesson for Nigeria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12 / 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ONSA / NCTC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Nigeria’s NCTC already runs an all-source intelligence function under ONSA.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Whole-of-Government, Whole-of-Society is already our stated doctrine.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The gap is not institutions. It is integration between them.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THE PRINCIPLE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Centralise intelligence. Decentralise delivery. Let every agency keep its identity while operating toward one national objective.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12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TWELVE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Israel vs UK — Neither Model Alone Is Right for 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13 / 24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13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457200" y="1509840"/>
          <a:ext cx="11277600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4038600"/>
                <a:gridCol w="4038600"/>
              </a:tblGrid>
              <a:tr h="5334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1F3A"/>
                          </a:solidFill>
                          <a:latin typeface="Calibri"/>
                        </a:rPr>
                        <a:t>Dimension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1F3A"/>
                          </a:solidFill>
                          <a:latin typeface="Calibri"/>
                        </a:rPr>
                        <a:t>Israeli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1F3A"/>
                          </a:solidFill>
                          <a:latin typeface="Calibri"/>
                        </a:rPr>
                        <a:t>UK Model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Intelligence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Highly integrated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Highly coordinated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Military 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Very prominent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More specialised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Local authorities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Strong emergency 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Strong prevention role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Community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Active security participant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Prevention &amp; resilience partner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Command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Strong operational integration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Networked coordination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Technology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Very intensive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Very intensive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National strategy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Strong central direction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Strong central framework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1F3A"/>
                          </a:solidFill>
                          <a:latin typeface="Calibri"/>
                        </a:rPr>
                        <a:t>Best lesson for Nigeria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1F3A"/>
                          </a:solidFill>
                          <a:latin typeface="Calibri"/>
                        </a:rPr>
                        <a:t>Integration &amp; rapid response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1F3A"/>
                          </a:solidFill>
                          <a:latin typeface="Calibri"/>
                        </a:rPr>
                        <a:t>Coordination &amp; institutional balance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THIRTEEN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Hybrid Model — The NCISRM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14 / 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THE NORTH-CENTRAL INTEGRATED SECURITY &amp; RESILIENCE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Israeli intelligence integration.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Israeli local resilience.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British institutional coordination.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Nigerian community intelligence.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ONE SENTENCE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Neither model copied wholesale — a deliberate Nigerian hybrid, built for our federation, our geography and our communities.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14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0" name="Picture 9" descr="bg_military_tech_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unity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NCISRM — Five Levels, One 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754880"/>
            <a:ext cx="12191695" cy="2103120"/>
          </a:xfrm>
          <a:prstGeom prst="rect">
            <a:avLst/>
          </a:prstGeom>
          <a:solidFill>
            <a:srgbClr val="0EA5E9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Level 1: Regional Fusion Centre  •  Level 2: State Coordination Centres  •  Level 3: Local Security Network  •  Level 4: Forest &amp; Rural Layer  •  Level 5: The Citizen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486400"/>
            <a:ext cx="110642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Five levels, one threat picture — from the regional fusion centre
down to the citizen, who must become a sensor in the network,
not simply a casualty statistic.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15 / 24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15</a:t>
            </a:r>
          </a:p>
        </p:txBody>
      </p:sp>
      <p:pic>
        <p:nvPicPr>
          <p:cNvPr id="14" name="Picture 13" descr="emblem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FIFTEEN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NCISRM Level Three — The Local Security Network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16 / 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ONE STRUCTURE PER HIGH-RISK LGA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Security agencies + traditional institutions + local government + community leaders.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Farmers + pastoralists + credible civil society + trained community observers.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One integrated structure per high-risk LGA — structured early warning, lawful information sharing.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This is not vigilante justice.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THE GOAL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Turn scattered local knowledge into one lawful, structured channel that reaches the state coordination centre in minutes, not weeks.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16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SIXTEEN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NCISRM Level Four — The Forest and Rural Security Layer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17 / 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DENY SANCTUARY, NOT THE FARMER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Forests and rural spaces cannot remain intelligence black holes.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Rangers become the eyes and ears of the state — trained, equipped, connected.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Specialised units retain the high-risk operations; rangers are not asked to fight wars.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THE PRINCIPLE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Deny sanctuary, mobility, supplies, communications, financing and movement to armed groups — without criminalising the honest farmer or herder.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17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SEVENTEEN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NCISRM Level Five — The Citizen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18 / 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THE CITIZEN AS SENSOR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Who do I call?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What do I report?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How do I report it?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What happens after I report it?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THE STANDARD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The citizen must become a sensor in the security network — not simply a casualty statistic.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18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4" name="Picture 2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EIGHTEEN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Role of Veterans — The North-Central Advantage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19 / 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A large pool of experienced retired military, intelligence &amp; police professionals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Contributes intelligence analysis and strategic planning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Delivers training, mentoring and simulation exercises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Strengthens early-warning systems and lessons-learned review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Never replaces serving personnel — strengthens the system instead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371600"/>
            <a:ext cx="5394960" cy="49377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368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REGIONAL SECURITY ADVISORY &amp; TRAINING RESERVE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0" y="2148840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66560" y="2148840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Veteran Reserve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0" y="2807208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766560" y="2807208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Intel Analysis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0" y="3465576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766560" y="3465576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Strategic Planning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0" y="4123944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766560" y="4123944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Training &amp; Mentoring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0" y="4782312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766560" y="4782312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Early Warning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0" y="5440680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766560" y="5440680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Lessons Learned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19</a:t>
            </a:r>
          </a:p>
        </p:txBody>
      </p:sp>
      <p:pic>
        <p:nvPicPr>
          <p:cNvPr id="27" name="Picture 2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7" name="Picture 16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NINETEEN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From Reaction to Prevention — The Fifth 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20 / 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Attack, deploy, fight, withdraw, wait — that is reactive. Information, analysis, early warning, prevention, response, recovery — that is collaborative.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0312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PREVENT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10312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B8860B"/>
                </a:solidFill>
              </a:rPr>
              <a:t>PURSUE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38328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PROTECT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38328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B8860B"/>
                </a:solidFill>
              </a:rPr>
              <a:t>PREPARE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66344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PARTNER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466344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B8860B"/>
                </a:solidFill>
              </a:rPr>
              <a:t>COLLABORATIVE SECURITY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17220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The Nigerian answer: Israeli integration + Israeli local resilience + British coordination + Nigerian community intelligence — the NCISRM.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20</a:t>
            </a:r>
          </a:p>
        </p:txBody>
      </p:sp>
      <p:pic>
        <p:nvPicPr>
          <p:cNvPr id="20" name="Picture 19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TWENTY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Conclusion — Three Lessons, One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21 / 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NO INTELLIGENCE ISOLATED. NO COMMUNITY DISCONNECTED.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Israel: no intelligence should remain isolated, and no community should remain disconnected from the security system.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Britain: different agencies can retain their identities while operating toward one national objective.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Nigeria: our solution must be built around our geography, our communities, our constitutional structure and our own realities.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THE SYNTHESIS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Three lessons. One system. A model that is unmistakably Nigerian.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21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TWENTY-ONE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Conclusion — The Nigerian Commitments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22 / 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UNMISTAKABLY NIGERIAN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Centralised intelligence. Integrated command. Decentralised community engagement.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Technology-enabled surveillance. Prepared local authorities. Veteran expertise.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Early warning. Rapid response. Continuous learning.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NINE COMMITMENTS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These nine commitments are the measurable core of the NCISRM — what North-Central Nigeria will actually build, together.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22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7" name="Picture 6" descr="bg_military_tech_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closing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0"/>
            <a:ext cx="12191695" cy="2743200"/>
          </a:xfrm>
          <a:prstGeom prst="rect">
            <a:avLst/>
          </a:prstGeom>
          <a:solidFill>
            <a:srgbClr val="0EA5E9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29768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1">
                <a:solidFill>
                  <a:srgbClr val="FFFFFF"/>
                </a:solidFill>
                <a:latin typeface="Calibri"/>
              </a:rPr>
              <a:t>“He simply wants to arrive alive.”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16636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E8EAEE"/>
                </a:solidFill>
                <a:latin typeface="Calibri"/>
              </a:rPr>
              <a:t>Not a soldier in every village — a system where intelligence reaches the right commander, the commander reaches the right capability, and the capability reaches the threatened community before the attack occurs.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7220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THANK YOU  —  Air Vice Marshal Monday Riku Morgan (Rtd)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1" name="Picture 10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Sources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24 / 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1732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100" b="1">
                <a:solidFill/>
              </a:rPr>
              <a:t>Israel National Security Council (2023) National Security Concept and the Role of the Situation Room. Jerusalem: Prime Minister’s Office.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100" b="1">
                <a:solidFill/>
              </a:rPr>
              <a:t>Israel Home Front Command (2022) Civilian Preparedness and Local Authority Coordination Doctrine. Ramla: Israel Defense Forces.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100" b="1">
                <a:solidFill/>
              </a:rPr>
              <a:t>Byman, D. (2011) A High Price: The Triumphs and Failures of Israeli Counterterrorism. Oxford: Oxford University Press.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100" b="1">
                <a:solidFill/>
              </a:rPr>
              <a:t>International Crisis Group (2024) Rethinking Nigeria’s Approach to Farmer-Herder and Communal Conflict. Brussels: ICG.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417320"/>
            <a:ext cx="53949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 b="1">
                <a:solidFill/>
              </a:rPr>
              <a:t>HM Government (2023) CONTEST: The United Kingdom’s Strategy for Countering Terrorism. London: Home Office.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 b="1">
                <a:solidFill/>
              </a:rPr>
              <a:t>National Police Chiefs’ Council (2022) Counter Terrorism Policing: National Structures and the CTOC. London: NPCC.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 b="1">
                <a:solidFill/>
              </a:rPr>
              <a:t>Office of the National Security Adviser, Nigeria (2024) National Counter Terrorism Centre: Whole-of-Government Framework. Abuja: ONSA.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 b="1">
                <a:solidFill/>
              </a:rPr>
              <a:t>ACLED (2025) Nigeria: North-Central Conflict Trends, Benue, Plateau and Niger States. Madison, WI: ACLED.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24</a:t>
            </a:r>
          </a:p>
        </p:txBody>
      </p:sp>
      <p:pic>
        <p:nvPicPr>
          <p:cNvPr id="14" name="Picture 13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2315</Words>
  <Application>Microsoft Office PowerPoint</Application>
  <PresentationFormat>Widescreen</PresentationFormat>
  <Paragraphs>391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TOM DEGGS</dc:creator>
  <cp:keywords/>
  <dc:description>generated using python-pptx</dc:description>
  <cp:lastModifiedBy>Tom Deggs</cp:lastModifiedBy>
  <cp:revision>2</cp:revision>
  <dcterms:created xsi:type="dcterms:W3CDTF">2013-01-27T09:14:16Z</dcterms:created>
  <dcterms:modified xsi:type="dcterms:W3CDTF">2026-08-15T14:36:10Z</dcterms:modified>
  <cp:category/>
</cp:coreProperties>
</file>