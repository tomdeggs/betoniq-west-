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t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64008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55448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BACC6"/>
                </a:solidFill>
              </a:rPr>
              <a:t>COLLABORATIVE APPROACHES TO</a:t>
            </a:r>
          </a:p>
          <a:p>
            <a:r>
              <a:rPr sz="3800" b="1">
                <a:solidFill>
                  <a:srgbClr val="FFFFFF"/>
                </a:solidFill>
              </a:rPr>
              <a:t>STRENGTHENING SECURITY</a:t>
            </a:r>
          </a:p>
          <a:p>
            <a:r>
              <a:rPr sz="3800" b="1">
                <a:solidFill>
                  <a:srgbClr val="F79646"/>
                </a:solidFill>
              </a:rPr>
              <a:t>IN NORTH CENTRAL NIGERIA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49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E8ECF1"/>
                </a:solidFill>
              </a:rPr>
              <a:t>The Three-Tier Devolution Framework — Regional, Local Government, and Community</a:t>
            </a:r>
          </a:p>
          <a:p>
            <a:r>
              <a:rPr sz="1200">
                <a:solidFill>
                  <a:srgbClr val="8A96A8"/>
                </a:solidFill>
              </a:rPr>
              <a:t>BETONIQ WEST LTD — Strategic Briefing Series | Prepared August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Address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er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Why centralized security has reached its structural limit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The empirical record — Niger, FCT/Kogi/Nasarawa, Benue, Plateau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The Three-Tier Devolution Framework, explained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Technology that makes devolution affordable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Safeguards — accountability built in, not bolted on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The 12-month implementation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Opening Remarks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ndshak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3/30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A policy memorandum, not another response plan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Grounded in the empirical record from 2025–2026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Three operational tiers: Regional, Local Government, Community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er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4/30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North Central: Nigeria's agricultural engine and socioeconomic bridge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Centralized federal control has proven structurally inadequate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Devolves tactical control, intelligence, and surveillance across 3 tiers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Built on the 2026 National Assembly decentralized-policing bills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Context of Insecurity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rone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5/30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Threats shifted: land disputes → monetized, trans-border criminal networks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Not a lack of military intent — a deep implementation gap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Bureaucratic chains of command delay engagement of local threats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Implementation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rone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6/30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>
                <a:solidFill>
                  <a:srgbClr val="FFFFFF"/>
                </a:solidFill>
              </a:rPr>
              <a:t>Vast rural/forested terrain becomes ungoverned space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>
                <a:solidFill>
                  <a:srgbClr val="FFFFFF"/>
                </a:solidFill>
              </a:rPr>
              <a:t>Criminal groups exploit the absence of immediate state authority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>
                <a:solidFill>
                  <a:srgbClr val="FFFFFF"/>
                </a:solidFill>
              </a:rPr>
              <a:t>Target: agricultural clusters and educational institutions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Case Study: Niger State School Abduction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mand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7/30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Early 2025: mass abduction, hundreds of students marched into forest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DSS + Army rescue succeeded — but weeks of delay, not minutes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This is exactly the delay Tier Two is engineered to eliminate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Case Study: The FCT–Kogi–Nasarawa Corridor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ndshak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8/30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2021–2025: staggering escalation in kidnapping events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Syndicates exploit state-border seams to evade pursuit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The exact seam a Regional Security Coalition eliminates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Case Study: Benue and Plateau Communal Violence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rone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9/30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Late 2025–early 2026: recurrent communal violence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Without local early-warning, military response stays reactive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A common signature: lag between first tension and capable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Structural Failure of Centralized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sight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10/30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Governing 200M+ people from one command in Abuja is unsustainable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Governors are 'chief security officers' with no command authority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Political accountability without tactical control = paralysis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Five Structural Pathologies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sight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11/30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650">
                <a:solidFill>
                  <a:srgbClr val="F79646"/>
                </a:solidFill>
              </a:rPr>
              <a:t>›  </a:t>
            </a:r>
            <a:r>
              <a:rPr sz="1650">
                <a:solidFill>
                  <a:srgbClr val="FFFFFF"/>
                </a:solidFill>
              </a:rPr>
              <a:t>1. Fragmented inter-agency coordination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650">
                <a:solidFill>
                  <a:srgbClr val="F79646"/>
                </a:solidFill>
              </a:rPr>
              <a:t>›  </a:t>
            </a:r>
            <a:r>
              <a:rPr sz="1650">
                <a:solidFill>
                  <a:srgbClr val="FFFFFF"/>
                </a:solidFill>
              </a:rPr>
              <a:t>2. Deficit in localized intelligence integration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650">
                <a:solidFill>
                  <a:srgbClr val="F79646"/>
                </a:solidFill>
              </a:rPr>
              <a:t>›  </a:t>
            </a:r>
            <a:r>
              <a:rPr sz="1650">
                <a:solidFill>
                  <a:srgbClr val="FFFFFF"/>
                </a:solidFill>
              </a:rPr>
              <a:t>3. Critical equipment shortages in rural stations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650">
                <a:solidFill>
                  <a:srgbClr val="F79646"/>
                </a:solidFill>
              </a:rPr>
              <a:t>›  </a:t>
            </a:r>
            <a:r>
              <a:rPr sz="1650">
                <a:solidFill>
                  <a:srgbClr val="FFFFFF"/>
                </a:solidFill>
              </a:rPr>
              <a:t>4. Weak prosecutorial efficacy for arrested bandits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650">
                <a:solidFill>
                  <a:srgbClr val="F79646"/>
                </a:solidFill>
              </a:rPr>
              <a:t>›  </a:t>
            </a:r>
            <a:r>
              <a:rPr sz="1650">
                <a:solidFill>
                  <a:srgbClr val="FFFFFF"/>
                </a:solidFill>
              </a:rPr>
              <a:t>5. Siloed institutional culture among federal agencies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Conceptualizing Devolution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er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12/30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Policing as collaborative civic responsibility, not federal monopoly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Routine Activity Theory: crime needs an absent 'capable guardian'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Devolution places that guardian directly within the community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Three-Tier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13/30</a:t>
            </a:r>
          </a:p>
        </p:txBody>
      </p:sp>
      <p:pic>
        <p:nvPicPr>
          <p:cNvPr id="7" name="Picture 6" descr="tier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0"/>
            <a:ext cx="3200400" cy="3200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828800"/>
            <a:ext cx="7498079" cy="1280160"/>
          </a:xfrm>
          <a:prstGeom prst="roundRect">
            <a:avLst/>
          </a:prstGeom>
          <a:solidFill>
            <a:srgbClr val="1F2A44"/>
          </a:solidFill>
          <a:ln w="31750">
            <a:solidFill>
              <a:srgbClr val="F79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800" b="1">
                <a:solidFill>
                  <a:srgbClr val="F79646"/>
                </a:solidFill>
              </a:rPr>
              <a:t>REGIONAL</a:t>
            </a:r>
          </a:p>
          <a:p>
            <a:r>
              <a:rPr sz="1350">
                <a:solidFill>
                  <a:srgbClr val="FFFFFF"/>
                </a:solidFill>
              </a:rPr>
              <a:t>Legislative harmony, data fusion, trans-border rapid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7498079" cy="1280160"/>
          </a:xfrm>
          <a:prstGeom prst="roundRect">
            <a:avLst/>
          </a:prstGeom>
          <a:solidFill>
            <a:srgbClr val="1F2A44"/>
          </a:solidFill>
          <a:ln w="31750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800" b="1">
                <a:solidFill>
                  <a:srgbClr val="4BACC6"/>
                </a:solidFill>
              </a:rPr>
              <a:t>LOCAL GOVERNMENT</a:t>
            </a:r>
          </a:p>
          <a:p>
            <a:r>
              <a:rPr sz="1350">
                <a:solidFill>
                  <a:srgbClr val="FFFFFF"/>
                </a:solidFill>
              </a:rPr>
              <a:t>Funding, multi-agency deployment, infrastructure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46320"/>
            <a:ext cx="7498079" cy="1280160"/>
          </a:xfrm>
          <a:prstGeom prst="roundRect">
            <a:avLst/>
          </a:prstGeom>
          <a:solidFill>
            <a:srgbClr val="1F2A44"/>
          </a:solidFill>
          <a:ln w="31750">
            <a:solidFill>
              <a:srgbClr val="9BB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800" b="1">
                <a:solidFill>
                  <a:srgbClr val="9BBB59"/>
                </a:solidFill>
              </a:rPr>
              <a:t>COMMUNITY</a:t>
            </a:r>
          </a:p>
          <a:p>
            <a:r>
              <a:rPr sz="1350">
                <a:solidFill>
                  <a:srgbClr val="FFFFFF"/>
                </a:solidFill>
              </a:rPr>
              <a:t>Human intelligence, grassroots mediation, neighbourhood watch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Tier One: The Regional Security Coalition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14/30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NCDC's ₦140 billion 2026 budget powers a Joint Security Command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Bypasses state-border limits — no jurisdiction-hopping for criminals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6 states + FCT, one unified regional command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Regional Data Fusion Centre &amp; HALE Drones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rone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15/30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Real-time satellite imagery, geospatial mapping, cellular metadata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High-altitude, long-endurance drones over Niger, Kaduna, FCT forests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Continuous thermal coverage, coordinates relayed direct to strike teams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Tier Two: Local Government Area Command Hubs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mand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16/30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121 LGAs, each with a Local Security Advisory Council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Chaired by the elected Council Chairman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Police, NSCDC, Army, and local intel — one coordinating 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Calibri"/>
              </a:rPr>
              <a:t>Biometric Profiling &amp; the 15-Minute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iome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17/30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Registers residents, pastoralists, transport operators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Eliminates anonymity insurgent networks rely on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Alert → armed enforcement within a max 15-minute window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Calibri"/>
              </a:rPr>
              <a:t>Tier Three: Grassroots Community-Led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pids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18/30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Security as active civic duty, not a distant state function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Legally integrates watch groups, hunters, and the VGN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Operates under strict formal oversight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M-PIDS: Every Citizen an Intelligence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pids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19/30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Standard smartphones, offline-capable apps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Geotagged evidence sent instantly to the LGA Command Hub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From passive bystander to protected intelligence node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Integrating Traditional &amp; Religious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ditional_r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20/30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Emirs and chiefs hold unmatched local legitimacy and intelligence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Mandatory town hall security dialogues, on a fixed schedule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Mediates farmer-herder friction before it becomes violence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Low-Cost Smart Surveillance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ra_s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21/30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Regional tier funds drones; local tiers use COTS equipment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Minimal maintenance, basic training required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Affordability is designed in, not an afterthought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LoRa, Acoustic Sensors &amp; Predictive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ra_s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22/30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Solar mesh cameras at rural transit choke points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LoRa devices — no cellular network required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Acoustic gunshot detection feeds predictive AI at LGA hubs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Safeguards &amp; the Risk of Abuse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sight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23/30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Political weaponization and extrajudicial excess are real risks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No formation operates without registration + DSS vetting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Continuous human-rights training, mandatory not optional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Calibri"/>
              </a:rPr>
              <a:t>The Independent Civilian Oversight 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sight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24/30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Human rights attorneys, civil society, retired judges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Power to investigate, audit spending, recommend prosecution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700">
                <a:solidFill>
                  <a:srgbClr val="F79646"/>
                </a:solidFill>
              </a:rPr>
              <a:t>›  </a:t>
            </a:r>
            <a:r>
              <a:rPr sz="1700">
                <a:solidFill>
                  <a:srgbClr val="FFFFFF"/>
                </a:solidFill>
              </a:rPr>
              <a:t>Public safety only counts if constitutional rights hold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Calibri"/>
              </a:rPr>
              <a:t>Implementation: Phase One — Legal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admap_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25/30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>
                <a:solidFill>
                  <a:srgbClr val="FFFFFF"/>
                </a:solidFill>
              </a:rPr>
              <a:t>Months 1–3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>
                <a:solidFill>
                  <a:srgbClr val="FFFFFF"/>
                </a:solidFill>
              </a:rPr>
              <a:t>Pass uniform sub-national legislation across all states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>
                <a:solidFill>
                  <a:srgbClr val="FFFFFF"/>
                </a:solidFill>
              </a:rPr>
              <a:t>Built on the 2026 state-policing amendment bills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Implementation: Phases Two &amp; Three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admap_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26/30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Phase 2 (Months 4–8): fund LGA hubs, deploy biometric + M-PIDS grids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800">
                <a:solidFill>
                  <a:srgbClr val="F79646"/>
                </a:solidFill>
              </a:rPr>
              <a:t>›  </a:t>
            </a:r>
            <a:r>
              <a:rPr sz="1800">
                <a:solidFill>
                  <a:srgbClr val="FFFFFF"/>
                </a:solidFill>
              </a:rPr>
              <a:t>Phase 3 (Months 9–12): full integration + inter-agency field simulations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Conclusion: Structural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ndshak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27/30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>
                <a:solidFill>
                  <a:srgbClr val="FFFFFF"/>
                </a:solidFill>
              </a:rPr>
              <a:t>Centralized operations alone cannot resolve this crisis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>
                <a:solidFill>
                  <a:srgbClr val="FFFFFF"/>
                </a:solidFill>
              </a:rPr>
              <a:t>Devolve control across all three tiers — together, not in isolation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Closing: A Call 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ndshak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28/30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>
                <a:solidFill>
                  <a:srgbClr val="FFFFFF"/>
                </a:solidFill>
              </a:rPr>
              <a:t>This restores governance legitimacy, not just security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>
                <a:solidFill>
                  <a:srgbClr val="FFFFFF"/>
                </a:solidFill>
              </a:rPr>
              <a:t>The technology exists today; the constitutional path is already open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Final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er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0233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29/30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>
                <a:solidFill>
                  <a:srgbClr val="FFFFFF"/>
                </a:solidFill>
              </a:rPr>
              <a:t>The tiers are defined. The tools exist. The bill is before the House.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b="1" sz="1900">
                <a:solidFill>
                  <a:srgbClr val="F79646"/>
                </a:solidFill>
              </a:rPr>
              <a:t>›  </a:t>
            </a:r>
            <a:r>
              <a:rPr sz="1900">
                <a:solidFill>
                  <a:srgbClr val="FFFFFF"/>
                </a:solidFill>
              </a:rPr>
              <a:t>What remains is the will to implement it — starting now.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194560" cy="63500"/>
          </a:xfrm>
          <a:prstGeom prst="rect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50292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002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8ECF1"/>
                </a:solidFill>
              </a:rPr>
              <a:t>Akinfe, A. (2026) 'The Nigeria Geo-Political Zone Bill 2026', Restructuring Policy Review, 14(2), pp. 45-62.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8ECF1"/>
                </a:solidFill>
              </a:rPr>
              <a:t>ACLED (2026) Asymmetrical Violence and Fragmented Criminal Networks in Central Nigeria: 2023-2026. Abuja: ACLED Africa Bureau.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8ECF1"/>
                </a:solidFill>
              </a:rPr>
              <a:t>Egwemi, V. and Odo, L.U. (2003) 'Local Government Administration and Rural Security Challenges', J. Econ. Admin. Studies, 1(1), pp. 12-25.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8ECF1"/>
                </a:solidFill>
              </a:rPr>
              <a:t>Fapohunda, A. (2024) New Governance Model for Nigeria Act 2024. Lagos: Afenifere Policy Secretariat.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8ECF1"/>
                </a:solidFill>
              </a:rPr>
              <a:t>National Assembly of Nigeria (2026) Joint Committee Report on State and Decentralized Police Forces (HB.1422/SB.893). Abuja: NASS Press.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8ECF1"/>
                </a:solidFill>
              </a:rPr>
              <a:t>NCDC (2026) Strategic Action Plan and Capital Budget Allocation FY2026. Abuja: NCDC Federal Secretariat.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8ECF1"/>
                </a:solidFill>
              </a:rPr>
              <a:t>Nwachukwu, B.U. and Ellah, C.C. (2024) 'Local Government and Security Challenges in Nigeria', IJEDSS, 1(1), pp. 15-32.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8ECF1"/>
                </a:solidFill>
              </a:rPr>
              <a:t>Olayiwola, L. (2026) 'Deconstructing Nigeria's Asymmetrical Security Challenge', The Cable Policy Series, 21 Aug.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8ECF1"/>
                </a:solidFill>
              </a:rPr>
              <a:t>Oteri, J. (2026) 'Decentralized Security Architecture', Keynote, Feast of Barracuda, NAS, Zuma Deck, Abuja, 20 June.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E8ECF1"/>
                </a:solidFill>
              </a:rPr>
              <a:t>Routine Activity Theory Review (2026) 'Community-Based Approaches to Tackling Insecurity', J. Crime Justice Studies, 8(3), pp. 114-129.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96A8"/>
                </a:solidFill>
              </a:rPr>
              <a:t>COLLABORATIVE SECURITY — THREE-TIER DEVOLUTION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ACC6"/>
                </a:solidFill>
              </a:rPr>
              <a:t>30/30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