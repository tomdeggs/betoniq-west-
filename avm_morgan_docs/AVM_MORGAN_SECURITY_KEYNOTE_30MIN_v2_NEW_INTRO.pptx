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-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pening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9260" y="-1"/>
            <a:ext cx="12810956" cy="720634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931920"/>
            <a:ext cx="12191695" cy="2926080"/>
          </a:xfrm>
          <a:prstGeom prst="rect">
            <a:avLst/>
          </a:prstGeom>
          <a:solidFill>
            <a:srgbClr val="0B1F3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NORTH-CENTRAL NIGERIA SECURITY SUMMIT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2628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COLLABORATIVE APPROACHES TO STRENGTHENING
SECURITY IN NORTH-CENTRAL NIGERIA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1">
                <a:solidFill>
                  <a:srgbClr val="E8EAEE"/>
                </a:solidFill>
                <a:latin typeface="Calibri"/>
              </a:rPr>
              <a:t>Towards a People-Centred, Intelligence-Led and Sustainable Security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Air Vice Marshal Monday Riku Morgan (Rtd)  |  Former Chief of Defence Intelligence  |  30-Minute Keynote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OPENING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One Ecosystem, Not Separate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2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49377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A mother in Benue sending her children to school,</a:t>
            </a:r>
          </a:p>
          <a:p>
            <a:pPr algn="l">
              <a:lnSpc>
                <a:spcPct val="125000"/>
              </a:lnSpc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wondering if they'll return safely.</a:t>
            </a:r>
          </a:p>
          <a:p>
            <a:pPr algn="l">
              <a:lnSpc>
                <a:spcPct val="125000"/>
              </a:lnSpc>
            </a:pPr>
            <a:endParaRPr sz="2000" b="0" i="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A farmer in Plateau who fears the next sound may</a:t>
            </a:r>
          </a:p>
          <a:p>
            <a:pPr algn="l">
              <a:lnSpc>
                <a:spcPct val="125000"/>
              </a:lnSpc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be gunfire, not birdsong.</a:t>
            </a:r>
          </a:p>
          <a:p>
            <a:pPr algn="l">
              <a:lnSpc>
                <a:spcPct val="125000"/>
              </a:lnSpc>
            </a:pPr>
            <a:endParaRPr sz="2000" b="0" i="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A traditional ruler in Niger State who sees armed men</a:t>
            </a:r>
          </a:p>
          <a:p>
            <a:pPr algn="l">
              <a:lnSpc>
                <a:spcPct val="125000"/>
              </a:lnSpc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enter the forest — but doesn't know whom to call.</a:t>
            </a:r>
          </a:p>
          <a:p>
            <a:pPr algn="l">
              <a:lnSpc>
                <a:spcPct val="125000"/>
              </a:lnSpc>
            </a:pPr>
            <a:endParaRPr sz="2000" b="0" i="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A soldier redeployed again and again, without the</a:t>
            </a:r>
          </a:p>
          <a:p>
            <a:pPr algn="l">
              <a:lnSpc>
                <a:spcPct val="125000"/>
              </a:lnSpc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intelligence or mobility to prevent the next attack.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468112" cy="49377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237744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THE CENTRAL ARGUMENT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743200"/>
            <a:ext cx="49377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North-Central Nigeria cannot defeat insecurity
through military operations alone.
It requires a permanent partnership between the
military, police, intelligence services, state and
local governments, traditional institutions,
communities, technology providers, and citizens.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North-Central Security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3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Benue • Kogi • Kwara • Nasarawa • Niger • Plateau • FCT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669280" cy="4250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>
                <a:solidFill>
                  <a:srgbClr val="FFFFFF"/>
                </a:solidFill>
                <a:latin typeface="Calibri"/>
              </a:rPr>
              <a:t>▸  The bridge between North and South Nigeria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>
                <a:solidFill>
                  <a:srgbClr val="FFFFFF"/>
                </a:solidFill>
                <a:latin typeface="Calibri"/>
              </a:rPr>
              <a:t>▸  Major agricultural belts, forests, highways, energy infrastructure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>
                <a:solidFill>
                  <a:srgbClr val="FFFFFF"/>
                </a:solidFill>
                <a:latin typeface="Calibri"/>
              </a:rPr>
              <a:t>▸  Beyond farmer-herder disputes: organised banditry, kidnapping, cattle rustling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>
                <a:solidFill>
                  <a:srgbClr val="FFFFFF"/>
                </a:solidFill>
                <a:latin typeface="Calibri"/>
              </a:rPr>
              <a:t>▸  Communal militias, reprisal attacks, illegal arms proliferation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>
                <a:solidFill>
                  <a:srgbClr val="FFFFFF"/>
                </a:solidFill>
                <a:latin typeface="Calibri"/>
              </a:rPr>
              <a:t>▸  Illegal mining, rural criminality, armed group proliferation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>
                <a:solidFill>
                  <a:srgbClr val="FFFFFF"/>
                </a:solidFill>
                <a:latin typeface="Calibri"/>
              </a:rPr>
              <a:t>▸  We define this as: North-Central Agro-Pastoral Security &amp; Territorial Conflict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349240" cy="507492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5087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THE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48463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ACLED recorded hundreds of security incidents and
substantial fatalities in Benue, Plateau and Niger
between Jan 2024 – Dec 2025.
Niger and parts of Kwara face terrorist activity and
cross-border movement of armed groups.
The enemy does not respect state boundaries.
Why should our response?
Criminal conduct — not ethnicity —
is the diagnosis.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Central Problem — We Are Too Reactive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4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1417320" cy="1005840"/>
          </a:xfrm>
          <a:prstGeom prst="roundRect">
            <a:avLst/>
          </a:prstGeom>
          <a:solidFill>
            <a:srgbClr val="132C52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Attack
Occurs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874520" y="2423160"/>
            <a:ext cx="201168" cy="36576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075688" y="2103120"/>
            <a:ext cx="1417320" cy="1005840"/>
          </a:xfrm>
          <a:prstGeom prst="roundRect">
            <a:avLst/>
          </a:prstGeom>
          <a:solidFill>
            <a:srgbClr val="132C52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People
Killed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493008" y="2423160"/>
            <a:ext cx="201168" cy="36576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694176" y="2103120"/>
            <a:ext cx="1417320" cy="1005840"/>
          </a:xfrm>
          <a:prstGeom prst="roundRect">
            <a:avLst/>
          </a:prstGeom>
          <a:solidFill>
            <a:srgbClr val="132C52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Police
Alerted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111496" y="2423160"/>
            <a:ext cx="201168" cy="36576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312664" y="2103120"/>
            <a:ext cx="1417320" cy="1005840"/>
          </a:xfrm>
          <a:prstGeom prst="roundRect">
            <a:avLst/>
          </a:prstGeom>
          <a:solidFill>
            <a:srgbClr val="132C52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Military
Mobilised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729984" y="2423160"/>
            <a:ext cx="201168" cy="36576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931152" y="2103120"/>
            <a:ext cx="1417320" cy="1005840"/>
          </a:xfrm>
          <a:prstGeom prst="roundRect">
            <a:avLst/>
          </a:prstGeom>
          <a:solidFill>
            <a:srgbClr val="132C52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Attackers
Vanish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348472" y="2423160"/>
            <a:ext cx="201168" cy="36576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549640" y="2103120"/>
            <a:ext cx="1417320" cy="1005840"/>
          </a:xfrm>
          <a:prstGeom prst="roundRect">
            <a:avLst/>
          </a:prstGeom>
          <a:solidFill>
            <a:srgbClr val="132C52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Community
Searched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966960" y="2423160"/>
            <a:ext cx="201168" cy="36576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168128" y="2103120"/>
            <a:ext cx="1417320" cy="1005840"/>
          </a:xfrm>
          <a:prstGeom prst="roundRect">
            <a:avLst/>
          </a:prstGeom>
          <a:solidFill>
            <a:srgbClr val="132C52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We Wait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20440"/>
            <a:ext cx="1124712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79476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D4AF37"/>
                </a:solidFill>
                <a:latin typeface="Calibri"/>
              </a:rPr>
              <a:t>This is a cycle of reaction without prevention.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4617720"/>
            <a:ext cx="4480560" cy="146304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54480" y="4800600"/>
            <a:ext cx="4114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FROM:
“An attack has occurred.
What do we do?”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617720"/>
            <a:ext cx="4480560" cy="1463040"/>
          </a:xfrm>
          <a:prstGeom prst="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4800600"/>
            <a:ext cx="4114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TO:
“What is the probability of an
attack, and what can we do
today to prevent it?”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ycle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51560"/>
            <a:ext cx="5577840" cy="55778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Security as Collective Responsibility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5 / 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1">
                <a:solidFill>
                  <a:srgbClr val="E8EAEE"/>
                </a:solidFill>
                <a:latin typeface="Calibri"/>
              </a:rPr>
              <a:t>No single agency can do everything.
Together, they can know almost everything that matters.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137160" cy="7772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1463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194560"/>
            <a:ext cx="3840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Collect information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35808"/>
            <a:ext cx="137160" cy="7772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035808"/>
            <a:ext cx="1463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035808"/>
            <a:ext cx="3840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Move it fast to those who need 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77056"/>
            <a:ext cx="137160" cy="7772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877056"/>
            <a:ext cx="1463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DECIDE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877056"/>
            <a:ext cx="3840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Establish responsibility &amp; command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718304"/>
            <a:ext cx="137160" cy="7772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718304"/>
            <a:ext cx="1463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718304"/>
            <a:ext cx="3840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Respond proportionately &amp; rapidly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559552"/>
            <a:ext cx="137160" cy="7772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5559552"/>
            <a:ext cx="1463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LEARN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559552"/>
            <a:ext cx="3840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Analyse and prevent repetition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One Security Picture, Multiple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6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3611880" cy="141732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Armed
Forces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17320"/>
            <a:ext cx="3611880" cy="141732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Police
Force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17320"/>
            <a:ext cx="3611880" cy="141732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DSS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017520"/>
            <a:ext cx="3611880" cy="141732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NSCDC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017520"/>
            <a:ext cx="3611880" cy="141732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NDLEA /
Customs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017520"/>
            <a:ext cx="3611880" cy="141732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State
Security
Councils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617720"/>
            <a:ext cx="3611880" cy="141732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Local Govt
Structures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617720"/>
            <a:ext cx="3611880" cy="141732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Traditional
Institutions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4617720"/>
            <a:ext cx="3611880" cy="141732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Community
&amp; Civil Society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417320"/>
            <a:ext cx="3520440" cy="4937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1">
                <a:solidFill>
                  <a:srgbClr val="D4AF37"/>
                </a:solidFill>
                <a:latin typeface="Calibri"/>
              </a:rPr>
              <a:t>“The intelligence value is created
when these pieces are fused
into ONE threat picture.”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Regional Security Intelligence &amp; Fusion Centre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7 / 27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463040"/>
            <a:ext cx="640080" cy="64008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1F3A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63040"/>
            <a:ext cx="4937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Where is the threat?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40280"/>
            <a:ext cx="640080" cy="64008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1F3A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240280"/>
            <a:ext cx="4937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Who is responsible?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017520"/>
            <a:ext cx="640080" cy="64008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1F3A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017520"/>
            <a:ext cx="4937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What is their capability?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794760"/>
            <a:ext cx="640080" cy="64008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1F3A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94760"/>
            <a:ext cx="4937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What are they likely to do next?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4572000"/>
            <a:ext cx="640080" cy="64008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1F3A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572000"/>
            <a:ext cx="4937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What resource can respond fastest?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463040"/>
            <a:ext cx="5120640" cy="475488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0" y="16916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LIVING OPERATIONAL PICTURE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1488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Attack locations &amp; kidnapping incidents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Suspicious movements &amp; criminal corridors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Conflict flashpoints &amp; abandoned settlements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Vulnerable highways, forests, difficult terrain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Illegal mining &amp; arms trafficking routes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Displacement concentrations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From Intelligence Collection to Intelligence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8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1">
                <a:solidFill>
                  <a:srgbClr val="D4AF37"/>
                </a:solidFill>
                <a:latin typeface="Calibri"/>
              </a:rPr>
              <a:t>“How long does it take for a credible warning from a village to become an operational decision?”</a:t>
            </a:r>
          </a:p>
        </p:txBody>
      </p:sp>
      <p:sp>
        <p:nvSpPr>
          <p:cNvPr id="10" name="Chevron 9"/>
          <p:cNvSpPr/>
          <p:nvPr/>
        </p:nvSpPr>
        <p:spPr>
          <a:xfrm>
            <a:off x="457200" y="2377440"/>
            <a:ext cx="1508760" cy="1188720"/>
          </a:xfrm>
          <a:prstGeom prst="chevron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Community</a:t>
            </a:r>
          </a:p>
        </p:txBody>
      </p:sp>
      <p:sp>
        <p:nvSpPr>
          <p:cNvPr id="11" name="Chevron 10"/>
          <p:cNvSpPr/>
          <p:nvPr/>
        </p:nvSpPr>
        <p:spPr>
          <a:xfrm>
            <a:off x="2103120" y="2377440"/>
            <a:ext cx="1508760" cy="1188720"/>
          </a:xfrm>
          <a:prstGeom prst="chevron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0B1F3A"/>
                </a:solidFill>
              </a:rPr>
              <a:t>Local Intel
Node</a:t>
            </a:r>
          </a:p>
        </p:txBody>
      </p:sp>
      <p:sp>
        <p:nvSpPr>
          <p:cNvPr id="12" name="Chevron 11"/>
          <p:cNvSpPr/>
          <p:nvPr/>
        </p:nvSpPr>
        <p:spPr>
          <a:xfrm>
            <a:off x="3749040" y="2377440"/>
            <a:ext cx="1508760" cy="1188720"/>
          </a:xfrm>
          <a:prstGeom prst="chevron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Fusion
Centre</a:t>
            </a:r>
          </a:p>
        </p:txBody>
      </p:sp>
      <p:sp>
        <p:nvSpPr>
          <p:cNvPr id="13" name="Chevron 12"/>
          <p:cNvSpPr/>
          <p:nvPr/>
        </p:nvSpPr>
        <p:spPr>
          <a:xfrm>
            <a:off x="5394960" y="2377440"/>
            <a:ext cx="1508760" cy="1188720"/>
          </a:xfrm>
          <a:prstGeom prst="chevron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0B1F3A"/>
                </a:solidFill>
              </a:rPr>
              <a:t>Threat
Assessment</a:t>
            </a:r>
          </a:p>
        </p:txBody>
      </p:sp>
      <p:sp>
        <p:nvSpPr>
          <p:cNvPr id="14" name="Chevron 13"/>
          <p:cNvSpPr/>
          <p:nvPr/>
        </p:nvSpPr>
        <p:spPr>
          <a:xfrm>
            <a:off x="7040880" y="2377440"/>
            <a:ext cx="1508760" cy="1188720"/>
          </a:xfrm>
          <a:prstGeom prst="chevron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Security
Agency</a:t>
            </a:r>
          </a:p>
        </p:txBody>
      </p:sp>
      <p:sp>
        <p:nvSpPr>
          <p:cNvPr id="15" name="Chevron 14"/>
          <p:cNvSpPr/>
          <p:nvPr/>
        </p:nvSpPr>
        <p:spPr>
          <a:xfrm>
            <a:off x="8686800" y="2377440"/>
            <a:ext cx="1508760" cy="1188720"/>
          </a:xfrm>
          <a:prstGeom prst="chevron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0B1F3A"/>
                </a:solidFill>
              </a:rPr>
              <a:t>Rapid
Response</a:t>
            </a:r>
          </a:p>
        </p:txBody>
      </p:sp>
      <p:sp>
        <p:nvSpPr>
          <p:cNvPr id="16" name="Chevron 15"/>
          <p:cNvSpPr/>
          <p:nvPr/>
        </p:nvSpPr>
        <p:spPr>
          <a:xfrm>
            <a:off x="10332720" y="2377440"/>
            <a:ext cx="1508760" cy="1188720"/>
          </a:xfrm>
          <a:prstGeom prst="chevron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Confirmation
+ Follow-up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06240"/>
            <a:ext cx="11247120" cy="1737360"/>
          </a:xfrm>
          <a:prstGeom prst="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43484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The community must receive feedback. If people repeatedly provide information and
nothing happens, they stop reporting. If they see that lives are saved, trust grows.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y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COMMUNITY MUST BECOME THE FIRST SENSOR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B1F3A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Farmers • Hunters • Teachers • Traditional Rulers • Transporters • Religious Leaders • Health Workers • Market Women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8640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A structured Community Early Warning and Early Response Network —
not a vigilante system, not a parallel intelligence service —
a disciplined, legally governed community information network.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Traditional Rulers in the Security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10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Know who lives in — and enters — their domain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Aware of families in conflict and land/resource disputes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Often the first to see radicalisation among youth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Know criminal routes and rising community tensions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Currently consulted mostly AFTER violence occurs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394960" cy="49377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600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THE STRUCTURED INTERFACE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148840"/>
            <a:ext cx="484632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0" y="214884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Traditional Council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2807208"/>
            <a:ext cx="484632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0" y="2807208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Police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3465576"/>
            <a:ext cx="484632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3465576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DSS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4123944"/>
            <a:ext cx="484632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0" y="4123944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Military Liaison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4782312"/>
            <a:ext cx="484632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0" y="4782312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Local Government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5440680"/>
            <a:ext cx="484632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66560" y="544068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Community Reps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Security Corridors, Not Administrative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11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1">
                <a:solidFill>
                  <a:srgbClr val="D4AF37"/>
                </a:solidFill>
                <a:latin typeface="Calibri"/>
              </a:rPr>
              <a:t>A criminal group does not stop at a state border. Neither should our response.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5440680" cy="105156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Kwara – Niger – Kainji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103120"/>
            <a:ext cx="5440680" cy="105156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Niger – Kaduna – FCT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5440680" cy="105156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Benue – Nasarawa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83280"/>
            <a:ext cx="5440680" cy="105156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Benue – Taraba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663440"/>
            <a:ext cx="5440680" cy="105156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Plateau – Bauchi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663440"/>
            <a:ext cx="5440680" cy="105156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Kogi – Nasarawa – Benue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722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North-Central governors agreed in 2025 to pursue joint security operations. The next step: institutionalise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Rapid Response — The 30 to 60 Minute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12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155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0" b="1" i="0">
                <a:solidFill>
                  <a:srgbClr val="D4AF37"/>
                </a:solidFill>
                <a:latin typeface="Calibri"/>
              </a:rPr>
              <a:t>30–60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92024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MINUTES CAN DETERMINE WHETHER AN INCIDENT
BECOMES A FAILED ATTACK OR A MASS-CASUALTY EVENT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Police rapid response units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Military quick reaction forces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Mobile security teams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Medical evacuation capability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38328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Aviation support where appropriate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Communications support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Community liaison officers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Pre-positioned, not reactive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263640"/>
            <a:ext cx="11155680" cy="3657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Technology Should Multiply Human 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13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3611880" cy="137160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Unmanned Aerial
Surveillance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611880" cy="137160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Satellite Imagery &amp;
Geospatial Intel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611880" cy="137160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Secure
Communications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3611880" cy="137160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Digital Incident
Reporting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926080"/>
            <a:ext cx="3611880" cy="137160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Vehicle &amp; Movement
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926080"/>
            <a:ext cx="3611880" cy="137160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Lawful Telecoms
Intelligence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480560"/>
            <a:ext cx="3611880" cy="137160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Biometric &amp;
Identity Systems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480560"/>
            <a:ext cx="3611880" cy="137160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GIS Crime
Mapping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4480560"/>
            <a:ext cx="3611880" cy="137160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AI Pattern
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03504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0" i="1">
                <a:solidFill>
                  <a:srgbClr val="D4AF37"/>
                </a:solidFill>
                <a:latin typeface="Calibri"/>
              </a:rPr>
              <a:t>“If a drone cannot transmit useful information to a commander who can act on it, it is merely an expensive flying camera.”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Forest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14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Provides concealment, mobility, temporary camps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Access to water and routes between communities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Sanctuary from conventional policing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394960" cy="484632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600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FOREST SECURITY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48463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Human Intelligence + Aerial Surveillance +
Geospatial Mapping + Community Information +
Controlled Access + Law Enforcement +
Sustained Presence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297680"/>
            <a:ext cx="48463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E8EAEE"/>
                </a:solidFill>
                <a:latin typeface="Calibri"/>
              </a:rPr>
              <a:t>Goal: deny armed groups sanctuary, mobility,
supplies, communications, financing and
freedom of movement — without treating every
farmer or hunter as a suspect.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Separate the Criminal from the Community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15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A Fulani pastoralist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1371600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37160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D4AF37"/>
                </a:solidFill>
                <a:latin typeface="Calibri"/>
              </a:rPr>
              <a:t>is not a terrorist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29968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A Tiv farmer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029968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29968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D4AF37"/>
                </a:solidFill>
                <a:latin typeface="Calibri"/>
              </a:rPr>
              <a:t>is not a militia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88336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An Idoma youth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688336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688336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D4AF37"/>
                </a:solidFill>
                <a:latin typeface="Calibri"/>
              </a:rPr>
              <a:t>is not a criminal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46704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A Muslim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34670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346704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D4AF37"/>
                </a:solidFill>
                <a:latin typeface="Calibri"/>
              </a:rPr>
              <a:t>is not a terrorist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005072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A Christian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4005072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005072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D4AF37"/>
                </a:solidFill>
                <a:latin typeface="Calibri"/>
              </a:rPr>
              <a:t>is not a militia member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66344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A traditional hunter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4663440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66344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D4AF37"/>
                </a:solidFill>
                <a:latin typeface="Calibri"/>
              </a:rPr>
              <a:t>is not automatically a vigilante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4864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Identify perpetrators by behaviour and evidence — never by ethnicity, religion or community.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Farmer-Herder Conflict as a Governance Issue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16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1">
                <a:solidFill>
                  <a:srgbClr val="E8EAEE"/>
                </a:solidFill>
                <a:latin typeface="Calibri"/>
              </a:rPr>
              <a:t>We cannot shoot our way out of every dispute. Some are criminal. Most are about: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1493520" cy="54864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Land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33600" y="1920240"/>
            <a:ext cx="1546860" cy="54864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Water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63340" y="1920240"/>
            <a:ext cx="2026919" cy="54864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Grazing Routes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73139" y="1920240"/>
            <a:ext cx="2133599" cy="54864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Crop Destruction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9618" y="1920240"/>
            <a:ext cx="2080260" cy="54864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Cattle Rustling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606040"/>
            <a:ext cx="1760219" cy="54864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Migration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00299" y="2606040"/>
            <a:ext cx="2186940" cy="54864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Boundary Disputes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70119" y="2606040"/>
            <a:ext cx="2133599" cy="548640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Climate Pressure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23360"/>
            <a:ext cx="11155680" cy="2286000"/>
          </a:xfrm>
          <a:prstGeom prst="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206240"/>
            <a:ext cx="106070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Requires: functioning livestock management systems, negotiated grazing and stock routes,
conflict-resolution mechanisms, land-use planning, livestock identification, compensation
mechanisms, farmer-herder dialogue, and credible enforcement.
Where governance fails, criminality fills the vacuum.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Young People — The Most Important Long-Term Investment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17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1">
                <a:solidFill>
                  <a:srgbClr val="D4AF37"/>
                </a:solidFill>
                <a:latin typeface="Calibri"/>
              </a:rPr>
              <a:t>“What does a 17-year-old boy in a forgotten rural community see as his future?
If the answer is nothing, somebody else will offer him something.”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14600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1F3A"/>
                </a:solidFill>
              </a:rPr>
              <a:t>Vocational
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514600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1F3A"/>
                </a:solidFill>
              </a:rPr>
              <a:t>Agriculture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514600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1F3A"/>
                </a:solidFill>
              </a:rPr>
              <a:t>Technology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39312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1F3A"/>
                </a:solidFill>
              </a:rPr>
              <a:t>Apprenticeships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639312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1F3A"/>
                </a:solidFill>
              </a:rPr>
              <a:t>Sports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639312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1F3A"/>
                </a:solidFill>
              </a:rPr>
              <a:t>Entrepreneurship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764024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1F3A"/>
                </a:solidFill>
              </a:rPr>
              <a:t>Education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4764024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1F3A"/>
                </a:solidFill>
              </a:rPr>
              <a:t>Community
Service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4764024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1F3A"/>
                </a:solidFill>
              </a:rPr>
              <a:t>Targeted
Deradicalisation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SECTIONS 16 –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Women as Security Partners &amp; the Role of Local Government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18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440680" cy="484632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WOMEN AS PARTNERS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Know who has disappeared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Notice changed behaviour in children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Aware of unusual household visitors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Track displaced-people movement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Must be integrated operationally, not symbolically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5440680" cy="484632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600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LOCAL GOVERNMENT 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4884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Security cannot be Abuja-centric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LGA links: Chairman + Police + DSS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+ Military Liaison + Traditional Rulers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+ Health, Emergency &amp; Community Reps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Closer to community = faster warning &amp; response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State Police — An Opportunity That Requires Safeguards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19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1">
                <a:solidFill>
                  <a:srgbClr val="D4AF37"/>
                </a:solidFill>
                <a:latin typeface="Calibri"/>
              </a:rPr>
              <a:t>The real question: how do we put competent officers close to the community
while preventing political abuse?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3611880" cy="137160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Complement, not replace,
the Nigeria Police Force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286000"/>
            <a:ext cx="3611880" cy="137160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National minimum
standards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286000"/>
            <a:ext cx="3611880" cy="137160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Professional
recruitment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86200"/>
            <a:ext cx="3611880" cy="137160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Independent complaints
mechanisms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886200"/>
            <a:ext cx="3611880" cy="137160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Clear rules of
engagement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886200"/>
            <a:ext cx="3611880" cy="137160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Legislative &amp;
judicial oversight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SECTIONS 19 –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Predictable Funding &amp; Personnel Welfare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20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440680" cy="484632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SECURITY FUNDING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48463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Northern Nigerian Security Trust Fund
inaugurated July 2026 — a foundation,
not the finish 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48463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E8EAEE"/>
                </a:solidFill>
                <a:latin typeface="Calibri"/>
              </a:rPr>
              <a:t>Must be: transparent + professionally
managed + audited + measurable.
“Every naira spent should answer:
what security capability did this create?”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371600"/>
            <a:ext cx="5440680" cy="484632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1600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PERSONNEL WELFARE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Reliable communication &amp; accommodation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Medical care, food, transportation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Equipment maintenance &amp; rotation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Psychological support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“Morale is a combat capability.”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Three-Layer Security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21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24047" y="1554480"/>
            <a:ext cx="5943600" cy="1417320"/>
          </a:xfrm>
          <a:prstGeom prst="roundRect">
            <a:avLst/>
          </a:prstGeom>
          <a:solidFill>
            <a:srgbClr val="D4AF37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0B1F3A"/>
                </a:solidFill>
              </a:rPr>
              <a:t>LAYER 3 — FEDERAL</a:t>
            </a:r>
          </a:p>
          <a:p>
            <a:pPr algn="ctr"/>
            <a:r>
              <a:rPr sz="2000">
                <a:solidFill>
                  <a:srgbClr val="0B1F3A"/>
                </a:solidFill>
              </a:rPr>
              <a:t>Airpower • Special Operations • Heavy Mobility • Strategic Surveillance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89607" y="3154680"/>
            <a:ext cx="8412480" cy="141732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LAYER 2 — STATE</a:t>
            </a:r>
          </a:p>
          <a:p>
            <a:pPr algn="ctr"/>
            <a:r>
              <a:rPr sz="2000">
                <a:solidFill>
                  <a:srgbClr val="E8EAEE"/>
                </a:solidFill>
              </a:rPr>
              <a:t>Police • DSS • NSCDC • Analysis &amp; Coordination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5167" y="4754880"/>
            <a:ext cx="10881360" cy="141732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LAYER 1 — COMMUNITY</a:t>
            </a:r>
          </a:p>
          <a:p>
            <a:pPr algn="ctr"/>
            <a:r>
              <a:rPr sz="2000">
                <a:solidFill>
                  <a:srgbClr val="E8EAEE"/>
                </a:solidFill>
              </a:rPr>
              <a:t>Traditional Rulers • Citizens • Local Govt • Early Warning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The three layers must operate as ONE system.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A 24-Hour Security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22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5440680" cy="214884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D4AF37"/>
                </a:solidFill>
              </a:rPr>
              <a:t>00:00 – 06:00</a:t>
            </a:r>
          </a:p>
          <a:p>
            <a:pPr algn="ctr"/>
            <a:r>
              <a:rPr sz="1400" dirty="0">
                <a:solidFill>
                  <a:srgbClr val="FFFFFF"/>
                </a:solidFill>
              </a:rPr>
              <a:t>Intelligence
Monitoring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440680" cy="214884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D4AF37"/>
                </a:solidFill>
              </a:rPr>
              <a:t>06:00 – 12:00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Community Reporting &amp;
Operational Assessment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5440680" cy="214884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D4AF37"/>
                </a:solidFill>
              </a:rPr>
              <a:t>12:00 – 18:00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Patrol, Surveillance &amp;
Preventive Deployment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40480"/>
            <a:ext cx="5440680" cy="214884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D4AF37"/>
                </a:solidFill>
              </a:rPr>
              <a:t>18:00 – 00:00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Night Security Posture &amp;
Rapid-Response Readiness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893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0" i="1">
                <a:solidFill>
                  <a:srgbClr val="D4AF37"/>
                </a:solidFill>
                <a:latin typeface="Calibri"/>
              </a:rPr>
              <a:t>Security never sleeps simply because government offices have closed.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Should Happen in the Next 90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23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5440680" cy="896112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400" b="1">
                <a:solidFill>
                  <a:srgbClr val="D4AF37"/>
                </a:solidFill>
              </a:rPr>
              <a:t>1.  </a:t>
            </a:r>
            <a:r>
              <a:rPr sz="1300">
                <a:solidFill>
                  <a:srgbClr val="FFFFFF"/>
                </a:solidFill>
              </a:rPr>
              <a:t>Create a North-Central Security Coordination Secretariat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440680" cy="896112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400" b="1">
                <a:solidFill>
                  <a:srgbClr val="D4AF37"/>
                </a:solidFill>
              </a:rPr>
              <a:t>2.  </a:t>
            </a:r>
            <a:r>
              <a:rPr sz="1300">
                <a:solidFill>
                  <a:srgbClr val="FFFFFF"/>
                </a:solidFill>
              </a:rPr>
              <a:t>Establish a regional intelligence-fusion mechanism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31720"/>
            <a:ext cx="5440680" cy="896112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400" b="1">
                <a:solidFill>
                  <a:srgbClr val="D4AF37"/>
                </a:solidFill>
              </a:rPr>
              <a:t>3.  </a:t>
            </a:r>
            <a:r>
              <a:rPr sz="1300">
                <a:solidFill>
                  <a:srgbClr val="FFFFFF"/>
                </a:solidFill>
              </a:rPr>
              <a:t>Map all major criminal and terrorist corridors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331720"/>
            <a:ext cx="5440680" cy="896112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400" b="1">
                <a:solidFill>
                  <a:srgbClr val="D4AF37"/>
                </a:solidFill>
              </a:rPr>
              <a:t>4.  </a:t>
            </a:r>
            <a:r>
              <a:rPr sz="1300">
                <a:solidFill>
                  <a:srgbClr val="FFFFFF"/>
                </a:solidFill>
              </a:rPr>
              <a:t>Identify the 100 most vulnerable communities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37560"/>
            <a:ext cx="5440680" cy="896112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400" b="1">
                <a:solidFill>
                  <a:srgbClr val="D4AF37"/>
                </a:solidFill>
              </a:rPr>
              <a:t>5.  </a:t>
            </a:r>
            <a:r>
              <a:rPr sz="1300">
                <a:solidFill>
                  <a:srgbClr val="FFFFFF"/>
                </a:solidFill>
              </a:rPr>
              <a:t>Create community early-warning networks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337560"/>
            <a:ext cx="5440680" cy="896112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400" b="1">
                <a:solidFill>
                  <a:srgbClr val="D4AF37"/>
                </a:solidFill>
              </a:rPr>
              <a:t>6.  </a:t>
            </a:r>
            <a:r>
              <a:rPr sz="1300">
                <a:solidFill>
                  <a:srgbClr val="FFFFFF"/>
                </a:solidFill>
              </a:rPr>
              <a:t>Establish rapid-response protocols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343400"/>
            <a:ext cx="5440680" cy="896112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400" b="1">
                <a:solidFill>
                  <a:srgbClr val="D4AF37"/>
                </a:solidFill>
              </a:rPr>
              <a:t>7.  </a:t>
            </a:r>
            <a:r>
              <a:rPr sz="1300">
                <a:solidFill>
                  <a:srgbClr val="FFFFFF"/>
                </a:solidFill>
              </a:rPr>
              <a:t>Link governors' security councils digitally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343400"/>
            <a:ext cx="5440680" cy="896112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400" b="1">
                <a:solidFill>
                  <a:srgbClr val="D4AF37"/>
                </a:solidFill>
              </a:rPr>
              <a:t>8.  </a:t>
            </a:r>
            <a:r>
              <a:rPr sz="1300">
                <a:solidFill>
                  <a:srgbClr val="FFFFFF"/>
                </a:solidFill>
              </a:rPr>
              <a:t>Common training for military, police &amp; liaisons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349240"/>
            <a:ext cx="5440680" cy="896112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400" b="1">
                <a:solidFill>
                  <a:srgbClr val="D4AF37"/>
                </a:solidFill>
              </a:rPr>
              <a:t>9.  </a:t>
            </a:r>
            <a:r>
              <a:rPr sz="1300">
                <a:solidFill>
                  <a:srgbClr val="FFFFFF"/>
                </a:solidFill>
              </a:rPr>
              <a:t>Transparent regional security funding mechanism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5349240"/>
            <a:ext cx="5440680" cy="896112"/>
          </a:xfrm>
          <a:prstGeom prst="roundRect">
            <a:avLst/>
          </a:prstGeom>
          <a:solidFill>
            <a:srgbClr val="132C52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400" b="1">
                <a:solidFill>
                  <a:srgbClr val="D4AF37"/>
                </a:solidFill>
              </a:rPr>
              <a:t>10.  </a:t>
            </a:r>
            <a:r>
              <a:rPr sz="1300">
                <a:solidFill>
                  <a:srgbClr val="FFFFFF"/>
                </a:solidFill>
              </a:rPr>
              <a:t>Publish measurable security indicators quarterly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North-Central Security Compact — Seven Commitments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24 / 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2697480" cy="214884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D4AF37"/>
                </a:solidFill>
              </a:rPr>
              <a:t>1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One Threat Picture</a:t>
            </a:r>
          </a:p>
          <a:p>
            <a:pPr algn="ctr"/>
            <a:r>
              <a:rPr sz="1050">
                <a:solidFill>
                  <a:srgbClr val="E8EAEE"/>
                </a:solidFill>
              </a:rPr>
              <a:t>We share intelligence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371600"/>
            <a:ext cx="2697480" cy="214884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D4AF37"/>
                </a:solidFill>
              </a:rPr>
              <a:t>2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One Early-Warning System</a:t>
            </a:r>
          </a:p>
          <a:p>
            <a:pPr algn="ctr"/>
            <a:r>
              <a:rPr sz="1050">
                <a:solidFill>
                  <a:srgbClr val="E8EAEE"/>
                </a:solidFill>
              </a:rPr>
              <a:t>We listen to communities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697480" cy="214884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D4AF37"/>
                </a:solidFill>
              </a:rPr>
              <a:t>3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One Rapid-Response Philosophy</a:t>
            </a:r>
          </a:p>
          <a:p>
            <a:pPr algn="ctr"/>
            <a:r>
              <a:rPr sz="1050">
                <a:solidFill>
                  <a:srgbClr val="E8EAEE"/>
                </a:solidFill>
              </a:rPr>
              <a:t>We respond before massacres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371600"/>
            <a:ext cx="2697480" cy="214884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D4AF37"/>
                </a:solidFill>
              </a:rPr>
              <a:t>4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One Professional Standard</a:t>
            </a:r>
          </a:p>
          <a:p>
            <a:pPr algn="ctr"/>
            <a:r>
              <a:rPr sz="1050">
                <a:solidFill>
                  <a:srgbClr val="E8EAEE"/>
                </a:solidFill>
              </a:rPr>
              <a:t>Discipline, law, dignity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49040"/>
            <a:ext cx="2697480" cy="214884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D4AF37"/>
                </a:solidFill>
              </a:rPr>
              <a:t>5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One Regional Approach</a:t>
            </a:r>
          </a:p>
          <a:p>
            <a:pPr algn="ctr"/>
            <a:r>
              <a:rPr sz="1050">
                <a:solidFill>
                  <a:srgbClr val="E8EAEE"/>
                </a:solidFill>
              </a:rPr>
              <a:t>No exploiting state boundaries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3749040"/>
            <a:ext cx="2697480" cy="2148840"/>
          </a:xfrm>
          <a:prstGeom prst="roundRect">
            <a:avLst/>
          </a:prstGeom>
          <a:solidFill>
            <a:srgbClr val="132C52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D4AF37"/>
                </a:solidFill>
              </a:rPr>
              <a:t>6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One Development Agenda</a:t>
            </a:r>
          </a:p>
          <a:p>
            <a:pPr algn="ctr"/>
            <a:r>
              <a:rPr sz="1050">
                <a:solidFill>
                  <a:srgbClr val="E8EAEE"/>
                </a:solidFill>
              </a:rPr>
              <a:t>Secure &amp; rebuild together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749040"/>
            <a:ext cx="2697480" cy="2148840"/>
          </a:xfrm>
          <a:prstGeom prst="roundRect">
            <a:avLst/>
          </a:prstGeom>
          <a:solidFill>
            <a:srgbClr val="D4AF37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0B1F3A"/>
                </a:solidFill>
              </a:rPr>
              <a:t>7</a:t>
            </a:r>
          </a:p>
          <a:p>
            <a:pPr algn="ctr"/>
            <a:r>
              <a:rPr sz="1300" b="1">
                <a:solidFill>
                  <a:srgbClr val="0B1F3A"/>
                </a:solidFill>
              </a:rPr>
              <a:t>One Measure of Success</a:t>
            </a:r>
          </a:p>
          <a:p>
            <a:pPr algn="ctr"/>
            <a:r>
              <a:rPr sz="1050">
                <a:solidFill>
                  <a:srgbClr val="0B1F3A"/>
                </a:solidFill>
              </a:rPr>
              <a:t>Safety &amp; dignity of the citizen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Success Should Look Like in Three Years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25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Kidnapping has fallen substantially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Attacks on rural communities are declining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Major highways are secure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Farmers can return to their farms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Displaced families are returning 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Criminal sanctuaries are progressively denied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Intelligence moves faster, response times shorter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Communities trust security agencies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Security personnel are better supported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Networks dismantled via arrests &amp; prosecution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2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Biggest Change We Need Is 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26 /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1">
                <a:solidFill>
                  <a:srgbClr val="9AA5B1"/>
                </a:solidFill>
                <a:latin typeface="Calibri"/>
              </a:rPr>
              <a:t>Not simply:
More troops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440680" y="1645920"/>
            <a:ext cx="822960" cy="41148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But:
Better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95728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1">
                <a:solidFill>
                  <a:srgbClr val="9AA5B1"/>
                </a:solidFill>
                <a:latin typeface="Calibri"/>
              </a:rPr>
              <a:t>Not simply:
More weapons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440680" y="2578608"/>
            <a:ext cx="822960" cy="41148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395728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But:
Better coordination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28416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1">
                <a:solidFill>
                  <a:srgbClr val="9AA5B1"/>
                </a:solidFill>
                <a:latin typeface="Calibri"/>
              </a:rPr>
              <a:t>Not simply:
More operations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440680" y="3511296"/>
            <a:ext cx="822960" cy="41148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3328416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But:
Better prevention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61104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1">
                <a:solidFill>
                  <a:srgbClr val="9AA5B1"/>
                </a:solidFill>
                <a:latin typeface="Calibri"/>
              </a:rPr>
              <a:t>Not simply:
More money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440680" y="4443984"/>
            <a:ext cx="822960" cy="41148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4261104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But:
Better accountability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193792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1">
                <a:solidFill>
                  <a:srgbClr val="9AA5B1"/>
                </a:solidFill>
                <a:latin typeface="Calibri"/>
              </a:rPr>
              <a:t>Not simply:
More security personnel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440680" y="5376672"/>
            <a:ext cx="822960" cy="41148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5193792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But:
More trust between forces and people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osing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B1F3A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2976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1">
                <a:solidFill>
                  <a:srgbClr val="FFFFFF"/>
                </a:solidFill>
                <a:latin typeface="Calibri"/>
              </a:rPr>
              <a:t>“He simply wants to arrive alive.”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663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E8EAEE"/>
                </a:solidFill>
                <a:latin typeface="Calibri"/>
              </a:rPr>
              <a:t>That is the standard by which we must judge ourselves — and it is not beyond the capacity of Nigeria.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72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THANK YOU  —  Air Vice Marshal Monday Riku Morgan (Rtd)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2315</Words>
  <Application>Microsoft Office PowerPoint</Application>
  <PresentationFormat>Widescreen</PresentationFormat>
  <Paragraphs>391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TOM DEGGS</dc:creator>
  <cp:keywords/>
  <dc:description>generated using python-pptx</dc:description>
  <cp:lastModifiedBy>Tom Deggs</cp:lastModifiedBy>
  <cp:revision>2</cp:revision>
  <dcterms:created xsi:type="dcterms:W3CDTF">2013-01-27T09:14:16Z</dcterms:created>
  <dcterms:modified xsi:type="dcterms:W3CDTF">2026-08-15T14:36:10Z</dcterms:modified>
  <cp:category/>
</cp:coreProperties>
</file>