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4" Type="http://schemas.openxmlformats.org/officeDocument/2006/relationships/slide" Target="slides/slide1.xml"/><Relationship Id="rId35" Type="http://schemas.openxmlformats.org/officeDocument/2006/relationships/slide" Target="slides/slide2.xml"/><Relationship Id="rId36" Type="http://schemas.openxmlformats.org/officeDocument/2006/relationships/slide" Target="slides/slide3.xml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10.xml"/><Relationship Id="rId44" Type="http://schemas.openxmlformats.org/officeDocument/2006/relationships/slide" Target="slides/slide11.xml"/><Relationship Id="rId45" Type="http://schemas.openxmlformats.org/officeDocument/2006/relationships/slide" Target="slides/slide12.xml"/><Relationship Id="rId46" Type="http://schemas.openxmlformats.org/officeDocument/2006/relationships/slide" Target="slides/slide13.xml"/><Relationship Id="rId47" Type="http://schemas.openxmlformats.org/officeDocument/2006/relationships/slide" Target="slides/slide14.xml"/><Relationship Id="rId48" Type="http://schemas.openxmlformats.org/officeDocument/2006/relationships/slide" Target="slides/slide15.xml"/><Relationship Id="rId49" Type="http://schemas.openxmlformats.org/officeDocument/2006/relationships/slide" Target="slides/slide16.xml"/><Relationship Id="rId50" Type="http://schemas.openxmlformats.org/officeDocument/2006/relationships/slide" Target="slides/slide17.xml"/><Relationship Id="rId51" Type="http://schemas.openxmlformats.org/officeDocument/2006/relationships/slide" Target="slides/slide18.xml"/><Relationship Id="rId52" Type="http://schemas.openxmlformats.org/officeDocument/2006/relationships/slide" Target="slides/slide19.xml"/><Relationship Id="rId53" Type="http://schemas.openxmlformats.org/officeDocument/2006/relationships/slide" Target="slides/slide20.xml"/><Relationship Id="rId54" Type="http://schemas.openxmlformats.org/officeDocument/2006/relationships/slide" Target="slides/slide21.xml"/><Relationship Id="rId55" Type="http://schemas.openxmlformats.org/officeDocument/2006/relationships/slide" Target="slides/slide22.xml"/><Relationship Id="rId56" Type="http://schemas.openxmlformats.org/officeDocument/2006/relationships/slide" Target="slides/slide23.xml"/><Relationship Id="rId57" Type="http://schemas.openxmlformats.org/officeDocument/2006/relationships/slide" Target="slides/slide24.xml"/><Relationship Id="rId58" Type="http://schemas.openxmlformats.org/officeDocument/2006/relationships/slide" Target="slides/slide25.xml"/><Relationship Id="rId59" Type="http://schemas.openxmlformats.org/officeDocument/2006/relationships/slide" Target="slides/slide26.xml"/><Relationship Id="rId60" Type="http://schemas.openxmlformats.org/officeDocument/2006/relationships/slide" Target="slides/slide27.xml"/><Relationship Id="rId61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open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260" y="-1"/>
            <a:ext cx="12810956" cy="72063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EA5E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NORTH-CENTRAL NIGERIA SECURITY SUMMIT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COLLABORATIVE APPROACHES TOWARDS STRENGTHENING</a:t>
            </a:r>
          </a:p>
          <a:p>
            <a:r>
              <a:t>SECURITY AND REGIONAL STABILITY IN THE NORTH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 Presentation to Governors, Military Veterans, Traditional Leaders and Critical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Air Vice Marshal Monday Riku Morgan (Rtd)  |  Former Chief of Defence Intelligence  |  30-Minute Address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One Shared Responsibility, Not Five Separate 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>
                <a:solidFill>
                  <a:srgbClr val="FFFFFF"/>
                </a:solidFill>
              </a:rPr>
              <a:t>Your Excellencies, the Executive Governors of the North Central States.</a:t>
            </a:r>
          </a:p>
          <a:p/>
          <a:p>
            <a:r>
              <a:rPr>
                <a:solidFill>
                  <a:srgbClr val="FFFFFF"/>
                </a:solidFill>
              </a:rPr>
              <a:t>Distinguished former Chiefs of Service, senior military and security officers.</a:t>
            </a:r>
          </a:p>
          <a:p/>
          <a:p>
            <a:r>
              <a:rPr>
                <a:solidFill>
                  <a:srgbClr val="FFFFFF"/>
                </a:solidFill>
              </a:rPr>
              <a:t>Our revered Royal Fathers and Traditional Leaders; honourable members of the National and State Assemblies.</a:t>
            </a:r>
          </a:p>
          <a:p/>
          <a:p>
            <a:r>
              <a:rPr>
                <a:solidFill>
                  <a:srgbClr val="FFFFFF"/>
                </a:solidFill>
              </a:rPr>
              <a:t>Leaders of thought, community and religious leaders, women, youth, business, civil society and the media.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68112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THE CENTRAL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9377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This crisis cannot be solved by the military alone, the police alone, governors alone, traditional rulers alone, or communities alone.</a:t>
            </a:r>
          </a:p>
          <a:p/>
          <a:p>
            <a:r>
              <a:rPr sz="1500">
                <a:solidFill>
                  <a:srgbClr val="FFFFFF"/>
                </a:solidFill>
              </a:rPr>
              <a:t>It requires all of us — working together, with a common purpose and a shared responsibility.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Understanding the North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Benue • Kogi • Kwara • Nasarawa • Niger • Plateau • FCT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A strategic bridge connecting North and South, East and West</a:t>
            </a:r>
          </a:p>
          <a:p>
            <a:r>
              <a:rPr sz="1400"/>
              <a:t>▸  A meeting ground of peoples, cultures, religions and languages</a:t>
            </a:r>
          </a:p>
          <a:p>
            <a:r>
              <a:rPr sz="1400"/>
              <a:t>▸  Home to Tiv, Idoma, Igede, Jukun, Igala, Ebira, Nupe, Gbagyi</a:t>
            </a:r>
          </a:p>
          <a:p>
            <a:r>
              <a:rPr sz="1400"/>
              <a:t>▸  Also Berom, Afizere, Anaguta, Mwaghavul, Goemai, Eggon, Mada</a:t>
            </a:r>
          </a:p>
          <a:p>
            <a:r>
              <a:rPr sz="1400"/>
              <a:t>▸  Diversity is one of the region's greatest assets</a:t>
            </a:r>
          </a:p>
          <a:p>
            <a:r>
              <a:rPr sz="1400"/>
              <a:t>▸  It can also become a source of tension if poorly managed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MORE THAN A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The North Central is much more than an administrative description.</a:t>
            </a:r>
          </a:p>
          <a:p/>
          <a:p>
            <a:r>
              <a:rPr sz="1600">
                <a:solidFill>
                  <a:srgbClr val="FFFFFF"/>
                </a:solidFill>
              </a:rPr>
              <a:t>It is a meeting ground of civilisations, and one strategic Nigerian space that must become the foundation of a new model of coexistence.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Picture 16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Geography — A Bridge, Not a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4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What happens in the North Central rarely remains confined to the North Central.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River Niger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River Benue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Major Agricultural Belts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Forests &amp; Grazing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Mineral Deposits &amp; Hills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National Transport Corridors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Instability here disrupts national transportation, food supply, migration, commerce and national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Picture 14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Historical Dimension — Many Peoples, One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PRE-COLONIAL &amp; COLONIAL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▸  Kwararafa traditions and other indigenous political systems</a:t>
            </a:r>
          </a:p>
          <a:p>
            <a:r>
              <a:rPr sz="1500">
                <a:solidFill>
                  <a:srgbClr val="FFFFFF"/>
                </a:solidFill>
              </a:rPr>
              <a:t>▸  Peoples interacted through migration, trade and diplomacy</a:t>
            </a:r>
          </a:p>
          <a:p>
            <a:r>
              <a:rPr sz="1500">
                <a:solidFill>
                  <a:srgbClr val="FFFFFF"/>
                </a:solidFill>
              </a:rPr>
              <a:t>▸  Also through warfare, intermarriage and cultural exchange</a:t>
            </a:r>
          </a:p>
          <a:p>
            <a:r>
              <a:rPr sz="1500">
                <a:solidFill>
                  <a:srgbClr val="FFFFFF"/>
                </a:solidFill>
              </a:rPr>
              <a:t>▸  Colonial period imposed new administrative boundaries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INDEPENDENCE TO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▸  State creation further transformed political geography</a:t>
            </a:r>
          </a:p>
          <a:p>
            <a:r>
              <a:rPr sz="1500">
                <a:solidFill>
                  <a:srgbClr val="FFFFFF"/>
                </a:solidFill>
              </a:rPr>
              <a:t>▸  Result: many peoples, many histories, many identities</a:t>
            </a:r>
          </a:p>
          <a:p>
            <a:r>
              <a:rPr sz="1500">
                <a:solidFill>
                  <a:srgbClr val="FFFFFF"/>
                </a:solidFill>
              </a:rPr>
              <a:t>▸  But one strategic Nigerian space</a:t>
            </a:r>
          </a:p>
          <a:p>
            <a:r>
              <a:rPr sz="1500">
                <a:solidFill>
                  <a:srgbClr val="FFFFFF"/>
                </a:solidFill>
              </a:rPr>
              <a:t>▸  Diversity must be the foundation, not the fault-line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People — The Region's Greatest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Agriculture • Livestock • Commerce • Public Service • Military Service •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Population deeply connected to agriculture and livestock</a:t>
            </a:r>
          </a:p>
          <a:p>
            <a:r>
              <a:rPr sz="1400"/>
              <a:t>▸  Strong tradition of commerce and entrepreneurship</a:t>
            </a:r>
          </a:p>
          <a:p>
            <a:r>
              <a:rPr sz="1400"/>
              <a:t>▸  Significant contribution to public service and education</a:t>
            </a:r>
          </a:p>
          <a:p>
            <a:r>
              <a:rPr sz="1400"/>
              <a:t>▸  Historic contributor to the Nigerian Armed Forces</a:t>
            </a:r>
          </a:p>
          <a:p>
            <a:r>
              <a:rPr sz="1400"/>
              <a:t>▸  Contributor to other security institutions nationwide</a:t>
            </a:r>
          </a:p>
          <a:p>
            <a:r>
              <a:rPr sz="1400"/>
              <a:t>▸  Human capital exceeds mineral wealth in strategic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BUILT NIGERIA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The North Central has not merely occupied geographical space within Nigeria.</a:t>
            </a:r>
          </a:p>
          <a:p/>
          <a:p>
            <a:r>
              <a:rPr sz="1600">
                <a:solidFill>
                  <a:srgbClr val="FFFFFF"/>
                </a:solidFill>
              </a:rPr>
              <a:t>It has helped build Nigeria.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Land — One of Nigeria's Great Agricultural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Food security cannot succeed while insecurity drives farmers from their farms.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Food crops, grains, tubers, fruits and vegetables</a:t>
            </a:r>
          </a:p>
          <a:p>
            <a:r>
              <a:rPr sz="1400"/>
              <a:t>▸  Livestock and fisheries at scale</a:t>
            </a:r>
          </a:p>
          <a:p>
            <a:r>
              <a:rPr sz="1400"/>
              <a:t>▸  Tree crops and cash crops</a:t>
            </a:r>
          </a:p>
          <a:p>
            <a:r>
              <a:rPr sz="1400"/>
              <a:t>▸  Vast areas suitable for modern commercial agriculture</a:t>
            </a:r>
          </a:p>
          <a:p>
            <a:r>
              <a:rPr sz="1400"/>
              <a:t>▸  A farmer who cannot cultivate safely is a casualty too</a:t>
            </a:r>
          </a:p>
          <a:p>
            <a:r>
              <a:rPr sz="1400"/>
              <a:t>▸  Every abandoned farm feeds inflation and unemployment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THE REAL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A farmer who cannot safely cultivate his land is not merely a victim of insecurity.</a:t>
            </a:r>
          </a:p>
          <a:p/>
          <a:p>
            <a:r>
              <a:rPr sz="1600">
                <a:solidFill>
                  <a:srgbClr val="FFFFFF"/>
                </a:solidFill>
              </a:rPr>
              <a:t>He is also a casualty of Nigeria's economic crisis.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Natural Endowment — State by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Niger</a:t>
            </a:r>
          </a:p>
          <a:p>
            <a:r>
              <a:rPr>
                <a:solidFill>
                  <a:srgbClr val="FFFFFF"/>
                </a:solidFill>
              </a:rPr>
              <a:t>Hydro &amp; Agriculture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Kogi</a:t>
            </a:r>
          </a:p>
          <a:p>
            <a:r>
              <a:rPr>
                <a:solidFill>
                  <a:srgbClr val="FFFFFF"/>
                </a:solidFill>
              </a:rPr>
              <a:t>Minerals &amp; Agriculture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Benue</a:t>
            </a:r>
          </a:p>
          <a:p>
            <a:r>
              <a:rPr>
                <a:solidFill>
                  <a:srgbClr val="FFFFFF"/>
                </a:solidFill>
              </a:rPr>
              <a:t>Major Agri Belt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Plateau</a:t>
            </a:r>
          </a:p>
          <a:p>
            <a:r>
              <a:rPr>
                <a:solidFill>
                  <a:srgbClr val="FFFFFF"/>
                </a:solidFill>
              </a:rPr>
              <a:t>Agri &amp; Tourism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Nasarawa</a:t>
            </a:r>
          </a:p>
          <a:p>
            <a:r>
              <a:rPr>
                <a:solidFill>
                  <a:srgbClr val="FFFFFF"/>
                </a:solidFill>
              </a:rPr>
              <a:t>Solid Minerals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Kwara</a:t>
            </a:r>
          </a:p>
          <a:p>
            <a:r>
              <a:rPr>
                <a:solidFill>
                  <a:srgbClr val="FFFFFF"/>
                </a:solidFill>
              </a:rPr>
              <a:t>Agri, Industry, Trade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FCT</a:t>
            </a:r>
          </a:p>
          <a:p>
            <a:r>
              <a:rPr>
                <a:solidFill>
                  <a:srgbClr val="FFFFFF"/>
                </a:solidFill>
              </a:rPr>
              <a:t>Political Centre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Region-wide</a:t>
            </a:r>
          </a:p>
          <a:p>
            <a:r>
              <a:rPr>
                <a:solidFill>
                  <a:srgbClr val="FFFFFF"/>
                </a:solidFill>
              </a:rPr>
              <a:t>Tin, Columbite, Iron 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Region-wide</a:t>
            </a:r>
          </a:p>
          <a:p>
            <a:r>
              <a:rPr>
                <a:solidFill>
                  <a:srgbClr val="FFFFFF"/>
                </a:solidFill>
              </a:rPr>
              <a:t>Limestone, Coal, Barite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52044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The question is not whether North Central has resources. It does. The question is: can we create the security environment to turn them into prosperity?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 National Security Multiplier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Insecurity in the North Central rarely stays in the North Central.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Movement of armed groups across the region</a:t>
            </a:r>
          </a:p>
          <a:p>
            <a:r>
              <a:rPr sz="1400"/>
              <a:t>▸  Disruption of national food production</a:t>
            </a:r>
          </a:p>
          <a:p>
            <a:r>
              <a:rPr sz="1400"/>
              <a:t>▸  Displacement of communities at scale</a:t>
            </a:r>
          </a:p>
          <a:p>
            <a:r>
              <a:rPr sz="1400"/>
              <a:t>▸  Criminal exploitation of ungoverned spaces</a:t>
            </a:r>
          </a:p>
          <a:p>
            <a:r>
              <a:rPr sz="1400"/>
              <a:t>▸  Arms trafficking and communal violence</a:t>
            </a:r>
          </a:p>
          <a:p>
            <a:r>
              <a:rPr sz="1400"/>
              <a:t>▸  Weakened confidence in government nationwide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NOT REGIONAL — NATIONAL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The security of the North Central is not a regional matter alone.</a:t>
            </a:r>
          </a:p>
          <a:p/>
          <a:p>
            <a:r>
              <a:rPr sz="1600">
                <a:solidFill>
                  <a:srgbClr val="FFFFFF"/>
                </a:solidFill>
              </a:rPr>
              <a:t>It is a national security imperative.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Picture 14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Six-Layer Conflict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STRUCTURAL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▸  1. Competition over land and natural resources</a:t>
            </a:r>
          </a:p>
          <a:p>
            <a:r>
              <a:rPr sz="1500">
                <a:solidFill>
                  <a:srgbClr val="FFFFFF"/>
                </a:solidFill>
              </a:rPr>
              <a:t>▸  2. Criminality and banditry in ungoverned spaces</a:t>
            </a:r>
          </a:p>
          <a:p>
            <a:r>
              <a:rPr sz="1500">
                <a:solidFill>
                  <a:srgbClr val="FFFFFF"/>
                </a:solidFill>
              </a:rPr>
              <a:t>▸  3. Terrorism and extremist influence on local conflict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SOCIAL &amp; INSTITUTIONAL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▸  4. Communal and identity-based violence</a:t>
            </a:r>
          </a:p>
          <a:p>
            <a:r>
              <a:rPr sz="1500">
                <a:solidFill>
                  <a:srgbClr val="FFFFFF"/>
                </a:solidFill>
              </a:rPr>
              <a:t>▸  5. Proliferation of small arms and light weapons</a:t>
            </a:r>
          </a:p>
          <a:p>
            <a:r>
              <a:rPr sz="1500">
                <a:solidFill>
                  <a:srgbClr val="FFFFFF"/>
                </a:solidFill>
              </a:rPr>
              <a:t>▸  6. Weak justice — impunity pushes communities to self-help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Human Cost — The Numbers Behind the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/>
              <a:t>Dec 2023: 140+ killed across 17+ Plateau communities in coordinated Christmas Eve attacks.</a:t>
            </a:r>
          </a:p>
          <a:p>
            <a:r>
              <a:rPr sz="1300"/>
              <a:t>Jan 2024: 30+ more killed in further attacks around Mangu town.</a:t>
            </a:r>
          </a:p>
          <a:p>
            <a:r>
              <a:rPr sz="1300"/>
              <a:t>May 2023 – May 2025: 1,043 people killed in Benue State alone.</a:t>
            </a:r>
          </a:p>
          <a:p>
            <a:r>
              <a:rPr sz="1300"/>
              <a:t>13–14 June 2025: Yelwata massacre, Guma LGA, Benue — 150–160 killed in one night.</a:t>
            </a:r>
          </a:p>
          <a:p>
            <a:r>
              <a:rPr sz="1300"/>
              <a:t>9 men formally charged with terrorism over Yelwata; Pope Leo prayed for victims at Sunday Angelus.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/>
              <a:t>31 Dec 2024: 500,182 people already in displacement camps in Benue State alone.</a:t>
            </a:r>
          </a:p>
          <a:p>
            <a:r>
              <a:rPr sz="1300"/>
              <a:t>Oct 2025: North-Central + North-West combined host 1,378,124 internally displaced persons.</a:t>
            </a:r>
          </a:p>
          <a:p>
            <a:r>
              <a:rPr sz="1300"/>
              <a:t>Behind every figure: abandoned farms, disrupted education, lost livelihoods.</a:t>
            </a:r>
          </a:p>
          <a:p>
            <a:r>
              <a:rPr sz="1300"/>
              <a:t>Declining rural economies and weakened trust between communities and government.</a:t>
            </a:r>
          </a:p>
          <a:p>
            <a:r>
              <a:rPr sz="1300"/>
              <a:t>The measurement of insecurity is not operations conducted — it is the condition of the people.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Picture 27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Erosion of Social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 farmer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fears a pastoralist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 pastoralist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2996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fears a farming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One ethnic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88336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fears another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 citizen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34670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distrusts security institutions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 traditional ruler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00507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loses faith in government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A whole society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66344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begins to fracture at its foundation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Security cannot be reduced to weapons and personnel. Security is ultimately about trust.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Many Interventions, Insufficient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Governments have not been inactive. But too often, actors operate in parallel.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Military and security agencies conducting operations</a:t>
            </a:r>
          </a:p>
          <a:p>
            <a:r>
              <a:rPr sz="1400"/>
              <a:t>▸  State governments running separate security initiatives</a:t>
            </a:r>
          </a:p>
          <a:p>
            <a:r>
              <a:rPr sz="1400"/>
              <a:t>▸  Traditional rulers mediating conflicts independently</a:t>
            </a:r>
          </a:p>
          <a:p>
            <a:r>
              <a:rPr sz="1400"/>
              <a:t>▸  Communities running their own local peace mechanisms</a:t>
            </a:r>
          </a:p>
          <a:p>
            <a:r>
              <a:rPr sz="1400"/>
              <a:t>▸  Civil society, faith bodies and development partners</a:t>
            </a:r>
          </a:p>
          <a:p>
            <a:r>
              <a:rPr sz="1400"/>
              <a:t>▸  Intelligence institutions rarely speaking to each 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THE REAL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We have many interventions but insufficient integration.</a:t>
            </a:r>
          </a:p>
          <a:p/>
          <a:p>
            <a:r>
              <a:rPr sz="1600">
                <a:solidFill>
                  <a:srgbClr val="FFFFFF"/>
                </a:solidFill>
              </a:rPr>
              <a:t>That must 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4" name="Picture 2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From Reaction to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Not simply:</a:t>
            </a:r>
          </a:p>
          <a:p>
            <a:r>
              <a:t>Reaction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1645920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But:</a:t>
            </a:r>
          </a:p>
          <a:p>
            <a:r>
              <a:t>Prevention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Not simply:</a:t>
            </a:r>
          </a:p>
          <a:p>
            <a:r>
              <a:t>Fragmentation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578608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9572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But:</a:t>
            </a:r>
          </a:p>
          <a:p>
            <a:r>
              <a:t>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6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Not simply:</a:t>
            </a:r>
          </a:p>
          <a:p>
            <a:r>
              <a:t>Secrecy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3511296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328416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But:</a:t>
            </a:r>
          </a:p>
          <a:p>
            <a:r>
              <a:t>Appropriate intelligence-sharing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4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Not simply:</a:t>
            </a:r>
          </a:p>
          <a:p>
            <a:r>
              <a:t>Military dominance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4443984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61104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But:</a:t>
            </a:r>
          </a:p>
          <a:p>
            <a:r>
              <a:t>Whole-of-society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93792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Not simply:</a:t>
            </a:r>
          </a:p>
          <a:p>
            <a:r>
              <a:t>Temporary operations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5376672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193792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But:</a:t>
            </a:r>
          </a:p>
          <a:p>
            <a:r>
              <a:t>Sustainable security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Pillar One — Regional Security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Improve coordination among institutions that already exist.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Governors establish a permanent coordination platform</a:t>
            </a:r>
          </a:p>
          <a:p>
            <a:r>
              <a:rPr sz="1400"/>
              <a:t>▸  Federal Government, military commands and police</a:t>
            </a:r>
          </a:p>
          <a:p>
            <a:r>
              <a:rPr sz="1400"/>
              <a:t>▸  Intelligence agencies and civil defence</a:t>
            </a:r>
          </a:p>
          <a:p>
            <a:r>
              <a:rPr sz="1400"/>
              <a:t>▸  Traditional institutions and local governments</a:t>
            </a:r>
          </a:p>
          <a:p>
            <a:r>
              <a:rPr sz="1400"/>
              <a:t>▸  Community representatives at the table</a:t>
            </a:r>
          </a:p>
          <a:p>
            <a:r>
              <a:rPr sz="1400"/>
              <a:t>▸  Lawful information sharing, joint planning,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A LIVE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State Police Bill 2026 is moving through harmonisation in the National Assembly — build it on this coordinated foundation, not on six uncoordinated commands.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Pillar Two — Intelligence-Led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Human</a:t>
            </a:r>
          </a:p>
          <a:p>
            <a:r>
              <a:rPr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Aerial</a:t>
            </a:r>
          </a:p>
          <a:p>
            <a:r>
              <a:rPr>
                <a:solidFill>
                  <a:srgbClr val="FFFFFF"/>
                </a:solidFill>
              </a:rPr>
              <a:t>Surveillance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Lawful Comms</a:t>
            </a:r>
          </a:p>
          <a:p>
            <a:r>
              <a:rPr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Geospatial</a:t>
            </a:r>
          </a:p>
          <a:p>
            <a:r>
              <a:rPr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Community</a:t>
            </a:r>
          </a:p>
          <a:p>
            <a:r>
              <a:rPr>
                <a:solidFill>
                  <a:srgbClr val="FFFFFF"/>
                </a:solidFill>
              </a:rPr>
              <a:t>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Incident</a:t>
            </a:r>
          </a:p>
          <a:p>
            <a:r>
              <a:rPr>
                <a:solidFill>
                  <a:srgbClr val="FFFFFF"/>
                </a:solidFill>
              </a:rPr>
              <a:t>Databases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Intelligence</a:t>
            </a:r>
          </a:p>
          <a:p>
            <a:r>
              <a:rPr>
                <a:solidFill>
                  <a:srgbClr val="FFFFFF"/>
                </a:solidFill>
              </a:rPr>
              <a:t>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Traditional Ruler</a:t>
            </a:r>
          </a:p>
          <a:p>
            <a:r>
              <a:rPr>
                <a:solidFill>
                  <a:srgbClr val="FFFFFF"/>
                </a:solidFill>
              </a:rPr>
              <a:t>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Village-Level</a:t>
            </a:r>
          </a:p>
          <a:p>
            <a:r>
              <a:rPr>
                <a:solidFill>
                  <a:srgbClr val="FFFFFF"/>
                </a:solidFill>
              </a:rPr>
              <a:t>Local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52044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 traditional ruler often knows what is happening in his domain before Abuja does. Technology must support — never replace — human intelligence.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Pillar Three — Community Early Warning &amp;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Do not wait for a conflict to become a massacre before responding.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Every LGA needs a structured early-warning mechanism</a:t>
            </a:r>
          </a:p>
          <a:p>
            <a:r>
              <a:rPr sz="1400"/>
              <a:t>▸  Traditional rulers, religious leaders, women and youth</a:t>
            </a:r>
          </a:p>
          <a:p>
            <a:r>
              <a:rPr sz="1400"/>
              <a:t>▸  Farmers, pastoralist representatives, local officials</a:t>
            </a:r>
          </a:p>
          <a:p>
            <a:r>
              <a:rPr sz="1400"/>
              <a:t>▸  Established, trusted reporting channels</a:t>
            </a:r>
          </a:p>
          <a:p>
            <a:r>
              <a:rPr sz="1400"/>
              <a:t>▸  Intervention begins at the warning stage</a:t>
            </a:r>
          </a:p>
          <a:p>
            <a:r>
              <a:rPr sz="1400"/>
              <a:t>▸  Prevention is cheaper than management and reconstruction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PROOF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The Early Warning and Early Response system in Kaduna and Katsina has reportedly mitigated 126 flagged conflict cases. Extend that exact model here.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Pillar Four — Securing the Rural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This does not mean militarising agriculture.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Clearly defined land-use arrangements</a:t>
            </a:r>
          </a:p>
          <a:p>
            <a:r>
              <a:rPr sz="1400"/>
              <a:t>▸  Protection of farming communities</a:t>
            </a:r>
          </a:p>
          <a:p>
            <a:r>
              <a:rPr sz="1400"/>
              <a:t>▸  Lawful livestock movement systems</a:t>
            </a:r>
          </a:p>
          <a:p>
            <a:r>
              <a:rPr sz="1400"/>
              <a:t>▸  Negotiated grazing and ranching solutions</a:t>
            </a:r>
          </a:p>
          <a:p>
            <a:r>
              <a:rPr sz="1400"/>
              <a:t>▸  Water access and livestock identification</a:t>
            </a:r>
          </a:p>
          <a:p>
            <a:r>
              <a:rPr sz="1400"/>
              <a:t>▸  Rapid response to attacks on farms and herds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Competition management, not ethnic confrontation.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Pillar Five — Traditional Institutions as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19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Their legitimacy is often deeper than modern political institutions.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Know the history of their communities</a:t>
            </a:r>
          </a:p>
          <a:p>
            <a:r>
              <a:rPr sz="1400"/>
              <a:t>▸  Know family relationships and migration patterns</a:t>
            </a:r>
          </a:p>
          <a:p>
            <a:r>
              <a:rPr sz="1400"/>
              <a:t>▸  Know traditional boundaries and sources of conflict</a:t>
            </a:r>
          </a:p>
          <a:p>
            <a:r>
              <a:rPr sz="1400"/>
              <a:t>▸  Know who can mediate a dispute credibly</a:t>
            </a:r>
          </a:p>
          <a:p>
            <a:r>
              <a:rPr sz="1400"/>
              <a:t>▸  Formal role in early warning and reconciliation</a:t>
            </a:r>
          </a:p>
          <a:p>
            <a:r>
              <a:rPr sz="1400"/>
              <a:t>▸  Never turned into vigilante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THEIR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Legitimacy, mediation and social intelligence — not force.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Pillar Six — Justice, Development &amp;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20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Where perpetrators escape justice, violence becomes rationalised.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Faster investigation and effective prosecution</a:t>
            </a:r>
          </a:p>
          <a:p>
            <a:r>
              <a:rPr sz="1400"/>
              <a:t>▸  Protection of witnesses</a:t>
            </a:r>
          </a:p>
          <a:p>
            <a:r>
              <a:rPr sz="1400"/>
              <a:t>▸  Stronger community-level dispute resolution</a:t>
            </a:r>
          </a:p>
          <a:p>
            <a:r>
              <a:rPr sz="1400"/>
              <a:t>▸  Land and boundary dispute mechanisms</a:t>
            </a:r>
          </a:p>
          <a:p>
            <a:r>
              <a:rPr sz="1400"/>
              <a:t>▸  Compensation and reconstruction mechanisms</a:t>
            </a:r>
          </a:p>
          <a:p>
            <a:r>
              <a:rPr sz="1400"/>
              <a:t>▸  Reintegration programmes where appropriate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THE TWO-WAY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Security without development is fragile.</a:t>
            </a:r>
          </a:p>
          <a:p>
            <a:r>
              <a:rPr sz="1600">
                <a:solidFill>
                  <a:srgbClr val="FFFFFF"/>
                </a:solidFill>
              </a:rPr>
              <a:t>Development without security is impossible.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6" name="Picture 15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Seven Lessons From Other Conflict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21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1</a:t>
            </a:r>
          </a:p>
          <a:p>
            <a:r>
              <a:rPr>
                <a:solidFill>
                  <a:srgbClr val="FFFFFF"/>
                </a:solidFill>
              </a:rPr>
              <a:t>Local Ownership</a:t>
            </a:r>
          </a:p>
          <a:p>
            <a:r>
              <a:rPr>
                <a:solidFill>
                  <a:srgbClr val="FFFFFF"/>
                </a:solidFill>
              </a:rPr>
              <a:t>Peace imposed from outside rarely lasts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2</a:t>
            </a:r>
          </a:p>
          <a:p>
            <a:r>
              <a:rPr>
                <a:solidFill>
                  <a:srgbClr val="FFFFFF"/>
                </a:solidFill>
              </a:rPr>
              <a:t>Intelligence Integration</a:t>
            </a:r>
          </a:p>
          <a:p>
            <a:r>
              <a:rPr>
                <a:solidFill>
                  <a:srgbClr val="FFFFFF"/>
                </a:solidFill>
              </a:rPr>
              <a:t>Agencies must share within lawful frameworks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3</a:t>
            </a:r>
          </a:p>
          <a:p>
            <a:r>
              <a:rPr>
                <a:solidFill>
                  <a:srgbClr val="FFFFFF"/>
                </a:solidFill>
              </a:rPr>
              <a:t>Clear Command</a:t>
            </a:r>
          </a:p>
          <a:p>
            <a:r>
              <a:rPr>
                <a:solidFill>
                  <a:srgbClr val="FFFFFF"/>
                </a:solidFill>
              </a:rPr>
              <a:t>Unclear responsibility produces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4</a:t>
            </a:r>
          </a:p>
          <a:p>
            <a:r>
              <a:rPr>
                <a:solidFill>
                  <a:srgbClr val="FFFFFF"/>
                </a:solidFill>
              </a:rPr>
              <a:t>Protection of Civilians</a:t>
            </a:r>
          </a:p>
          <a:p>
            <a:r>
              <a:rPr>
                <a:solidFill>
                  <a:srgbClr val="FFFFFF"/>
                </a:solidFill>
              </a:rPr>
              <a:t>Forces seen as protectors, not combatants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5</a:t>
            </a:r>
          </a:p>
          <a:p>
            <a:r>
              <a:rPr>
                <a:solidFill>
                  <a:srgbClr val="FFFFFF"/>
                </a:solidFill>
              </a:rPr>
              <a:t>Justice</a:t>
            </a:r>
          </a:p>
          <a:p>
            <a:r>
              <a:rPr>
                <a:solidFill>
                  <a:srgbClr val="FFFFFF"/>
                </a:solidFill>
              </a:rPr>
              <a:t>Impunity encourages repetition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74904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>
                <a:solidFill>
                  <a:srgbClr val="FFFFFF"/>
                </a:solidFill>
              </a:rPr>
              <a:t>6</a:t>
            </a:r>
          </a:p>
          <a:p>
            <a:r>
              <a:rPr>
                <a:solidFill>
                  <a:srgbClr val="FFFFFF"/>
                </a:solidFill>
              </a:rPr>
              <a:t>Economic Recovery</a:t>
            </a:r>
          </a:p>
          <a:p>
            <a:r>
              <a:rPr>
                <a:solidFill>
                  <a:srgbClr val="FFFFFF"/>
                </a:solidFill>
              </a:rPr>
              <a:t>People need something to lose from violence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2697480" cy="214884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7</a:t>
            </a:r>
          </a:p>
          <a:p>
            <a:r>
              <a:t>Dialogue</a:t>
            </a:r>
          </a:p>
          <a:p>
            <a:r>
              <a:t>Dialogue is a security instrument, not weakness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Picture 14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Role of Governors &amp; Military Veterans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22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GOVERNORS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▸  Sit at the intersection of politics, admin, security</a:t>
            </a:r>
          </a:p>
          <a:p>
            <a:r>
              <a:rPr sz="1500">
                <a:solidFill>
                  <a:srgbClr val="FFFFFF"/>
                </a:solidFill>
              </a:rPr>
              <a:t>▸  Understand the political environment uniquely</a:t>
            </a:r>
          </a:p>
          <a:p>
            <a:r>
              <a:rPr sz="1500">
                <a:solidFill>
                  <a:srgbClr val="FFFFFF"/>
                </a:solidFill>
              </a:rPr>
              <a:t>▸  Question: how do these capabilities work as one system?</a:t>
            </a:r>
          </a:p>
          <a:p>
            <a:r>
              <a:rPr sz="1500">
                <a:solidFill>
                  <a:srgbClr val="FFFFFF"/>
                </a:solidFill>
              </a:rPr>
              <a:t>▸  That is the essence of collaboration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MILITARY VETERANS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▸  A national strategic reservoir of knowledge</a:t>
            </a:r>
          </a:p>
          <a:p>
            <a:r>
              <a:rPr sz="1500">
                <a:solidFill>
                  <a:srgbClr val="FFFFFF"/>
                </a:solidFill>
              </a:rPr>
              <a:t>▸  Expertise in intelligence, leadership, logistics</a:t>
            </a:r>
          </a:p>
          <a:p>
            <a:r>
              <a:rPr sz="1500">
                <a:solidFill>
                  <a:srgbClr val="FFFFFF"/>
                </a:solidFill>
              </a:rPr>
              <a:t>▸  Strategic planning and conflict management</a:t>
            </a:r>
          </a:p>
          <a:p>
            <a:r>
              <a:rPr sz="1500">
                <a:solidFill>
                  <a:srgbClr val="FFFFFF"/>
                </a:solidFill>
              </a:rPr>
              <a:t>▸  Independent advisory role — not chain-of-command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Role of 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23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 security architecture can succeed against the will of the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▸  Communities must become active partners</a:t>
            </a:r>
          </a:p>
          <a:p>
            <a:r>
              <a:rPr sz="1400"/>
              <a:t>▸  Participation must be carefully structured</a:t>
            </a:r>
          </a:p>
          <a:p>
            <a:r>
              <a:rPr sz="1400"/>
              <a:t>▸  Avoid uncontrolled proliferation of armed groups</a:t>
            </a:r>
          </a:p>
          <a:p>
            <a:r>
              <a:rPr sz="1400"/>
              <a:t>▸  Operate within Nigerian law</a:t>
            </a:r>
          </a:p>
          <a:p>
            <a:r>
              <a:rPr sz="1400"/>
              <a:t>▸  Under appropriate government supervision</a:t>
            </a:r>
          </a:p>
          <a:p>
            <a:r>
              <a:rPr sz="1400"/>
              <a:t>▸  With clear accountability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THE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Community intelligence — not community warfare.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North Central Security &amp; Stability Compact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24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1.  Shared intelligence and early 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2.  Joint security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3.  Protection of strategic agricultural corridors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4.  Coordinated border and forest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5.  Strengthening traditional mediation structures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6.  Rapid response to emerging communal conflicts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7.  Joint action against criminal networks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8.  Improved prosecution and justice mechanisms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9.  Post-conflict reconstruction and resettlement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34924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r>
              <a:rPr>
                <a:solidFill>
                  <a:srgbClr val="FFFFFF"/>
                </a:solidFill>
              </a:rPr>
              <a:t>10.  Regular assessment of security performance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Measuring Success, Building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25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Are attacks decreasing?</a:t>
            </a:r>
          </a:p>
          <a:p>
            <a:r>
              <a:rPr sz="1400"/>
              <a:t>Are farmers returning to their farms?</a:t>
            </a:r>
          </a:p>
          <a:p>
            <a:r>
              <a:rPr sz="1400"/>
              <a:t>Are displaced communities returning home?</a:t>
            </a:r>
          </a:p>
          <a:p>
            <a:r>
              <a:rPr sz="1400"/>
              <a:t>Are conflict warnings being acted upon?</a:t>
            </a:r>
          </a:p>
          <a:p>
            <a:r>
              <a:rPr sz="1400"/>
              <a:t>Are perpetrators being prosecuted?</a:t>
            </a:r>
          </a:p>
          <a:p>
            <a:r>
              <a:rPr sz="1400"/>
              <a:t>If we cannot measure improvement, we cannot honestly claim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/>
              <a:t>A farmer who trusts the state remains on his land.</a:t>
            </a:r>
          </a:p>
          <a:p>
            <a:r>
              <a:rPr sz="1400"/>
              <a:t>A pastoralist who trusts his rights are protected stays lawful.</a:t>
            </a:r>
          </a:p>
          <a:p>
            <a:r>
              <a:rPr sz="1400"/>
              <a:t>A citizen who trusts the police shares intelligence freely.</a:t>
            </a:r>
          </a:p>
          <a:p>
            <a:r>
              <a:rPr sz="1400"/>
              <a:t>A traditional ruler who trusts government cooperates fully.</a:t>
            </a:r>
          </a:p>
          <a:p>
            <a:r>
              <a:rPr sz="1400"/>
              <a:t>Our ultimate objective: citizens who believe the state can protect them.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SECTION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North Central at a Crossroads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26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>
                <a:solidFill>
                  <a:srgbClr val="FFFFFF"/>
                </a:solidFill>
              </a:rPr>
              <a:t>One path: deeper fragmentation — more displacement, more suspicion, more abandoned farms.</a:t>
            </a:r>
          </a:p>
          <a:p/>
          <a:p>
            <a:r>
              <a:rPr>
                <a:solidFill>
                  <a:srgbClr val="FFFFFF"/>
                </a:solidFill>
              </a:rPr>
              <a:t>The other path: cooperation — strong institutions, intelligence-led security, justice and stability.</a:t>
            </a:r>
          </a:p>
          <a:p/>
          <a:p>
            <a:r>
              <a:rPr>
                <a:solidFill>
                  <a:srgbClr val="FFFFFF"/>
                </a:solidFill>
              </a:rPr>
              <a:t>The choice is 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68112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ONE FUNDAMENTAL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9377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No single institution can save the North Central — not the military, not the police, not the governors, not the traditional rulers, not the communities.</a:t>
            </a:r>
          </a:p>
          <a:p/>
          <a:p>
            <a:r>
              <a:rPr sz="1500">
                <a:solidFill>
                  <a:srgbClr val="FFFFFF"/>
                </a:solidFill>
              </a:rPr>
              <a:t>But together, we can.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6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clos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“Security is when the farmer can return to his farm.”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When the child can go to school without fear, when the trader can travel safely, and when every citizen believes that Nigeria belongs to him or 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THANK YOU  —  Air Vice Marshal Monday Riku Morgan (Rtd)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Sources &amp; Citations (Harvard Style)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28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/>
              <a:t>Amnesty International (2024) Nigeria: scores killed in coordinated Plateau State attacks. London: Amnesty International.</a:t>
            </a:r>
          </a:p>
          <a:p>
            <a:r>
              <a:rPr sz="1300"/>
              <a:t>Reuters (2026) Nigeria charges nine men with terrorism over Yelwata massacre. London: Reuters.</a:t>
            </a:r>
          </a:p>
          <a:p>
            <a:r>
              <a:rPr sz="1300"/>
              <a:t>BBC (2025) Yelwata massacre: what we know about the Benue State killings. London: BBC News.</a:t>
            </a:r>
          </a:p>
          <a:p>
            <a:r>
              <a:rPr sz="1300"/>
              <a:t>NPR (2025) Pope Leo prays for victims of Nigeria massacre at Sunday Angelus. Washington DC: National Public Radio.</a:t>
            </a:r>
          </a:p>
          <a:p>
            <a:r>
              <a:rPr sz="1300"/>
              <a:t>Vatican News (2025) Pope's Angelus address on violence in Nigeria. Vatican City: Vatican News.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/>
              <a:t>International Organization for Migration (2025) Displacement Tracking Matrix: North-Central and North-West Nigeria. Geneva: IOM.</a:t>
            </a:r>
          </a:p>
          <a:p>
            <a:r>
              <a:rPr sz="1300"/>
              <a:t>The Kukah Centre (2025) Conflict trends and community resilience in Nigeria's Middle Belt. Abuja: The Kukah Centre for Faith, Leadership and Public Policy.</a:t>
            </a:r>
          </a:p>
          <a:p>
            <a:r>
              <a:rPr sz="1300"/>
              <a:t>United Nations Peacebuilding Support Office (2025) Nigeria peacebuilding fund report. New York: UN Peacebuilding.</a:t>
            </a:r>
          </a:p>
          <a:p>
            <a:r>
              <a:rPr sz="1300"/>
              <a:t>Channels Television (2024) Mangu attacks: death toll rises in renewed Plateau violence. Lagos: Channels Television.</a:t>
            </a:r>
          </a:p>
          <a:p>
            <a:r>
              <a:rPr sz="1300"/>
              <a:t>Premium Times (2025) Benue killings: a data investigation, 2023–2025. Abuja: Premium Times.</a:t>
            </a:r>
          </a:p>
          <a:p>
            <a:r>
              <a:rPr sz="1300"/>
              <a:t>National Assembly of Nigeria (2026) Constitution of the Federal Republic of Nigeria (Alteration) (State Police) Bill, 2026. Abuja: National Assembly.</a:t>
            </a:r>
          </a:p>
          <a:p>
            <a:r>
              <a:rPr sz="1300"/>
              <a:t>Kaduna State Government and Katsina State Government (2025) Early Warning and Early Response System: outcomes report. Kaduna/Katsina: State Governments.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2315</Words>
  <Application>Microsoft Office PowerPoint</Application>
  <PresentationFormat>Widescreen</PresentationFormat>
  <Paragraphs>391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DEGGS</dc:creator>
  <cp:keywords/>
  <dc:description>generated using python-pptx</dc:description>
  <cp:lastModifiedBy>Tom Deggs</cp:lastModifiedBy>
  <cp:revision>2</cp:revision>
  <dcterms:created xsi:type="dcterms:W3CDTF">2013-01-27T09:14:16Z</dcterms:created>
  <dcterms:modified xsi:type="dcterms:W3CDTF">2026-08-15T14:36:10Z</dcterms:modified>
  <cp:category/>
</cp:coreProperties>
</file>