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3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59" d="100"/>
          <a:sy n="59" d="100"/>
        </p:scale>
        <p:origin x="940" y="-20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presProps" Target="presProps.xml"/><Relationship Id="rId30" Type="http://schemas.openxmlformats.org/officeDocument/2006/relationships/viewProps" Target="viewProps.xml"/><Relationship Id="rId31" Type="http://schemas.openxmlformats.org/officeDocument/2006/relationships/theme" Target="theme/theme1.xml"/><Relationship Id="rId32" Type="http://schemas.openxmlformats.org/officeDocument/2006/relationships/tableStyles" Target="tableStyles.xml"/><Relationship Id="rId33" Type="http://schemas.openxmlformats.org/officeDocument/2006/relationships/slide" Target="slides/slide2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8/15/2026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8/15/2026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8/15/2026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5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Relationship Id="rId3" Type="http://schemas.openxmlformats.org/officeDocument/2006/relationships/image" Target="../media/image5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bg_military_tech_16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2" name="Picture 1" descr="opening_3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619260" y="-1"/>
            <a:ext cx="12810956" cy="7206343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-619260" y="-1"/>
            <a:ext cx="12810956" cy="7206343"/>
          </a:xfrm>
          <a:prstGeom prst="rect">
            <a:avLst/>
          </a:prstGeom>
          <a:solidFill>
            <a:srgbClr val="F0F7FF">
              <a:alpha val="6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931920"/>
            <a:ext cx="12191695" cy="2926080"/>
          </a:xfrm>
          <a:prstGeom prst="rect">
            <a:avLst/>
          </a:prstGeom>
          <a:solidFill>
            <a:srgbClr val="0EA5E9">
              <a:alpha val="7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416052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NORTH-CENTRAL NIGERIA SECURITY SUMMIT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526280"/>
            <a:ext cx="1097280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200" b="1" i="0">
                <a:solidFill>
                  <a:srgbClr val="FFFFFF"/>
                </a:solidFill>
                <a:latin typeface="Calibri"/>
              </a:rPr>
              <a:t>COLLABORATIVE APPROACHES TO STRENGTHENING
SECURITY IN NORTH-CENTRAL NIGERIA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715000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 i="1">
                <a:solidFill>
                  <a:srgbClr val="E8EAEE"/>
                </a:solidFill>
                <a:latin typeface="Calibri"/>
              </a:rPr>
              <a:t>Towards a People-Centred, Intelligence-Led and Sustainable Security Architecture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263640"/>
            <a:ext cx="109728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 i="0">
                <a:solidFill>
                  <a:srgbClr val="9AA5B1"/>
                </a:solidFill>
                <a:latin typeface="Calibri"/>
              </a:rPr>
              <a:t>Air Vice Marshal Monday Riku Morgan (Rtd)  |  Former Chief of Defence Intelligence  |  30-Minute Keynote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141440" y="6458000"/>
            <a:ext cx="600000" cy="32000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1400">
                <a:solidFill>
                  <a:srgbClr val="FFFFFF"/>
                </a:solidFill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Picture 13" descr="bg_military_tech_16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OPENING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One Ecosystem, Not Separate Problems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02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 i="0">
                <a:solidFill>
                  <a:srgbClr val="9AA5B1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0" i="0">
                <a:solidFill>
                  <a:srgbClr val="9AA5B1"/>
                </a:solidFill>
                <a:latin typeface="Calibri"/>
              </a:rPr>
              <a:t>2 / 28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417320"/>
            <a:ext cx="5486400" cy="493776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31520" y="1645920"/>
            <a:ext cx="4937760" cy="4389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0" i="0" dirty="0">
                <a:solidFill>
                  <a:srgbClr val="FFFFFF"/>
                </a:solidFill>
                <a:latin typeface="Calibri"/>
              </a:rPr>
              <a:t>A mother in Benue sending her children to school,</a:t>
            </a:r>
          </a:p>
          <a:p>
            <a:pPr algn="l">
              <a:lnSpc>
                <a:spcPct val="125000"/>
              </a:lnSpc>
            </a:pPr>
            <a:r>
              <a:rPr sz="2000" b="0" i="0" dirty="0">
                <a:solidFill>
                  <a:srgbClr val="FFFFFF"/>
                </a:solidFill>
                <a:latin typeface="Calibri"/>
              </a:rPr>
              <a:t>wondering if they'll return safely.</a:t>
            </a:r>
          </a:p>
          <a:p>
            <a:pPr algn="l">
              <a:lnSpc>
                <a:spcPct val="125000"/>
              </a:lnSpc>
            </a:pPr>
            <a:endParaRPr sz="2000" b="0" i="0" dirty="0">
              <a:solidFill>
                <a:srgbClr val="FFFFFF"/>
              </a:solidFill>
              <a:latin typeface="Calibri"/>
            </a:endParaRPr>
          </a:p>
          <a:p>
            <a:pPr algn="l">
              <a:lnSpc>
                <a:spcPct val="125000"/>
              </a:lnSpc>
            </a:pPr>
            <a:r>
              <a:rPr sz="2000" b="0" i="0" dirty="0">
                <a:solidFill>
                  <a:srgbClr val="FFFFFF"/>
                </a:solidFill>
                <a:latin typeface="Calibri"/>
              </a:rPr>
              <a:t>A farmer in Plateau who fears the next sound may</a:t>
            </a:r>
          </a:p>
          <a:p>
            <a:pPr algn="l">
              <a:lnSpc>
                <a:spcPct val="125000"/>
              </a:lnSpc>
            </a:pPr>
            <a:r>
              <a:rPr sz="2000" b="0" i="0" dirty="0">
                <a:solidFill>
                  <a:srgbClr val="FFFFFF"/>
                </a:solidFill>
                <a:latin typeface="Calibri"/>
              </a:rPr>
              <a:t>be gunfire, not birdsong.</a:t>
            </a:r>
          </a:p>
          <a:p>
            <a:pPr algn="l">
              <a:lnSpc>
                <a:spcPct val="125000"/>
              </a:lnSpc>
            </a:pPr>
            <a:endParaRPr sz="2000" b="0" i="0" dirty="0">
              <a:solidFill>
                <a:srgbClr val="FFFFFF"/>
              </a:solidFill>
              <a:latin typeface="Calibri"/>
            </a:endParaRPr>
          </a:p>
          <a:p>
            <a:pPr algn="l">
              <a:lnSpc>
                <a:spcPct val="125000"/>
              </a:lnSpc>
            </a:pPr>
            <a:r>
              <a:rPr sz="2000" b="0" i="0" dirty="0">
                <a:solidFill>
                  <a:srgbClr val="FFFFFF"/>
                </a:solidFill>
                <a:latin typeface="Calibri"/>
              </a:rPr>
              <a:t>A traditional ruler in Niger State who sees armed men</a:t>
            </a:r>
          </a:p>
          <a:p>
            <a:pPr algn="l">
              <a:lnSpc>
                <a:spcPct val="125000"/>
              </a:lnSpc>
            </a:pPr>
            <a:r>
              <a:rPr sz="2000" b="0" i="0" dirty="0">
                <a:solidFill>
                  <a:srgbClr val="FFFFFF"/>
                </a:solidFill>
                <a:latin typeface="Calibri"/>
              </a:rPr>
              <a:t>enter the forest — but doesn't know whom to call.</a:t>
            </a:r>
          </a:p>
          <a:p>
            <a:pPr algn="l">
              <a:lnSpc>
                <a:spcPct val="125000"/>
              </a:lnSpc>
            </a:pPr>
            <a:endParaRPr sz="2000" b="0" i="0" dirty="0">
              <a:solidFill>
                <a:srgbClr val="FFFFFF"/>
              </a:solidFill>
              <a:latin typeface="Calibri"/>
            </a:endParaRPr>
          </a:p>
          <a:p>
            <a:pPr algn="l">
              <a:lnSpc>
                <a:spcPct val="125000"/>
              </a:lnSpc>
            </a:pPr>
            <a:r>
              <a:rPr sz="2000" b="0" i="0" dirty="0">
                <a:solidFill>
                  <a:srgbClr val="FFFFFF"/>
                </a:solidFill>
                <a:latin typeface="Calibri"/>
              </a:rPr>
              <a:t>A soldier redeployed again and again, without the</a:t>
            </a:r>
          </a:p>
          <a:p>
            <a:pPr algn="l">
              <a:lnSpc>
                <a:spcPct val="125000"/>
              </a:lnSpc>
            </a:pPr>
            <a:r>
              <a:rPr sz="2000" b="0" i="0" dirty="0">
                <a:solidFill>
                  <a:srgbClr val="FFFFFF"/>
                </a:solidFill>
                <a:latin typeface="Calibri"/>
              </a:rPr>
              <a:t>intelligence or mobility to prevent the next attack.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63640" y="1417320"/>
            <a:ext cx="5468112" cy="493776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537960" y="2377440"/>
            <a:ext cx="49377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FFFFFF"/>
                </a:solidFill>
                <a:latin typeface="Calibri"/>
              </a:rPr>
              <a:t>THE CENTRAL ARGUMENT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37960" y="2743200"/>
            <a:ext cx="4937760" cy="2926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1" i="0">
                <a:solidFill>
                  <a:srgbClr val="FFFFFF"/>
                </a:solidFill>
                <a:latin typeface="Calibri"/>
              </a:rPr>
              <a:t>North-Central Nigeria cannot defeat insecurity
through military operations alone.
It requires a permanent partnership between the
military, police, intelligence services, state and
local governments, traditional institutions,
communities, technology providers, and citizens.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141440" y="6458000"/>
            <a:ext cx="600000" cy="32000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1400">
                <a:solidFill>
                  <a:srgbClr val="FFFFFF"/>
                </a:solidFill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Picture 13" descr="bg_military_tech_16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SECTION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The North-Central Security Question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 i="0">
                <a:solidFill>
                  <a:srgbClr val="9AA5B1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0" i="0">
                <a:solidFill>
                  <a:srgbClr val="9AA5B1"/>
                </a:solidFill>
                <a:latin typeface="Calibri"/>
              </a:rPr>
              <a:t>3 / 28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280160"/>
            <a:ext cx="54864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Benue • Kogi • Kwara • Nasarawa • Niger • Plateau • FCT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965960"/>
            <a:ext cx="5669280" cy="425020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dirty="0">
                <a:solidFill>
                  <a:srgbClr val="FFFFFF"/>
                </a:solidFill>
                <a:latin typeface="Calibri"/>
              </a:rPr>
              <a:t>▸  The bridge between North and South Nigeria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dirty="0">
                <a:solidFill>
                  <a:srgbClr val="FFFFFF"/>
                </a:solidFill>
                <a:latin typeface="Calibri"/>
              </a:rPr>
              <a:t>▸  Major agricultural belts, forests, highways, energy infrastructure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dirty="0">
                <a:solidFill>
                  <a:srgbClr val="FFFFFF"/>
                </a:solidFill>
                <a:latin typeface="Calibri"/>
              </a:rPr>
              <a:t>▸  Beyond farmer-herder disputes: organised banditry, kidnapping, cattle rustling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dirty="0">
                <a:solidFill>
                  <a:srgbClr val="FFFFFF"/>
                </a:solidFill>
                <a:latin typeface="Calibri"/>
              </a:rPr>
              <a:t>▸  Communal militias, reprisal attacks, illegal arms proliferation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dirty="0">
                <a:solidFill>
                  <a:srgbClr val="FFFFFF"/>
                </a:solidFill>
                <a:latin typeface="Calibri"/>
              </a:rPr>
              <a:t>▸  Illegal mining, rural criminality, armed group proliferation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dirty="0">
                <a:solidFill>
                  <a:srgbClr val="FFFFFF"/>
                </a:solidFill>
                <a:latin typeface="Calibri"/>
              </a:rPr>
              <a:t>▸  We define this as: North-Central Agro-Pastoral Security &amp; Territorial Conflict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0" y="1280160"/>
            <a:ext cx="5349240" cy="507492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675120" y="1508760"/>
            <a:ext cx="48463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FFFFFF"/>
                </a:solidFill>
                <a:latin typeface="Calibri"/>
              </a:rPr>
              <a:t>THE EVIDENCE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75120" y="1965960"/>
            <a:ext cx="4846320" cy="4206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 i="0">
                <a:solidFill>
                  <a:srgbClr val="FFFFFF"/>
                </a:solidFill>
                <a:latin typeface="Calibri"/>
              </a:rPr>
              <a:t>ACLED recorded hundreds of security incidents and
substantial fatalities in Benue, Plateau and Niger
between Jan 2024 – Dec 2025.
Niger and parts of Kwara face terrorist activity and
cross-border movement of armed groups.
The enemy does not respect state boundaries.
Why should our response?
Criminal conduct — not ethnicity —
is the diagnosis.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141440" y="6458000"/>
            <a:ext cx="600000" cy="32000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1400">
                <a:solidFill>
                  <a:srgbClr val="FFFFFF"/>
                </a:solidFill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" name="Picture 27" descr="bg_military_tech_16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SECTION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The Central Problem — We Are Too Reactive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04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 i="0">
                <a:solidFill>
                  <a:srgbClr val="9AA5B1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0" i="0">
                <a:solidFill>
                  <a:srgbClr val="9AA5B1"/>
                </a:solidFill>
                <a:latin typeface="Calibri"/>
              </a:rPr>
              <a:t>4 / 28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103120"/>
            <a:ext cx="1417320" cy="1005840"/>
          </a:xfrm>
          <a:prstGeom prst="roundRect">
            <a:avLst/>
          </a:prstGeom>
          <a:solidFill>
            <a:srgbClr val="0EA5E9"/>
          </a:solidFill>
          <a:ln w="1587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200" b="1">
                <a:solidFill>
                  <a:srgbClr val="FFFFFF"/>
                </a:solidFill>
              </a:rPr>
              <a:t>Attack
Occurs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1874520" y="2423160"/>
            <a:ext cx="201168" cy="365760"/>
          </a:xfrm>
          <a:prstGeom prst="rightArrow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2075688" y="2103120"/>
            <a:ext cx="1417320" cy="1005840"/>
          </a:xfrm>
          <a:prstGeom prst="roundRect">
            <a:avLst/>
          </a:prstGeom>
          <a:solidFill>
            <a:srgbClr val="0EA5E9"/>
          </a:solidFill>
          <a:ln w="1587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200" b="1">
                <a:solidFill>
                  <a:srgbClr val="FFFFFF"/>
                </a:solidFill>
              </a:rPr>
              <a:t>People
Killed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3493008" y="2423160"/>
            <a:ext cx="201168" cy="365760"/>
          </a:xfrm>
          <a:prstGeom prst="rightArrow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3694176" y="2103120"/>
            <a:ext cx="1417320" cy="1005840"/>
          </a:xfrm>
          <a:prstGeom prst="roundRect">
            <a:avLst/>
          </a:prstGeom>
          <a:solidFill>
            <a:srgbClr val="0EA5E9"/>
          </a:solidFill>
          <a:ln w="1587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200" b="1">
                <a:solidFill>
                  <a:srgbClr val="FFFFFF"/>
                </a:solidFill>
              </a:rPr>
              <a:t>Police
Alerted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5111496" y="2423160"/>
            <a:ext cx="201168" cy="365760"/>
          </a:xfrm>
          <a:prstGeom prst="rightArrow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5312664" y="2103120"/>
            <a:ext cx="1417320" cy="1005840"/>
          </a:xfrm>
          <a:prstGeom prst="roundRect">
            <a:avLst/>
          </a:prstGeom>
          <a:solidFill>
            <a:srgbClr val="0EA5E9"/>
          </a:solidFill>
          <a:ln w="1587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200" b="1">
                <a:solidFill>
                  <a:srgbClr val="FFFFFF"/>
                </a:solidFill>
              </a:rPr>
              <a:t>Military
Mobilised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6729984" y="2423160"/>
            <a:ext cx="201168" cy="365760"/>
          </a:xfrm>
          <a:prstGeom prst="rightArrow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6931152" y="2103120"/>
            <a:ext cx="1417320" cy="1005840"/>
          </a:xfrm>
          <a:prstGeom prst="roundRect">
            <a:avLst/>
          </a:prstGeom>
          <a:solidFill>
            <a:srgbClr val="0EA5E9"/>
          </a:solidFill>
          <a:ln w="1587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200" b="1">
                <a:solidFill>
                  <a:srgbClr val="FFFFFF"/>
                </a:solidFill>
              </a:rPr>
              <a:t>Attackers
Vanish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8348472" y="2423160"/>
            <a:ext cx="201168" cy="365760"/>
          </a:xfrm>
          <a:prstGeom prst="rightArrow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8549640" y="2103120"/>
            <a:ext cx="1417320" cy="1005840"/>
          </a:xfrm>
          <a:prstGeom prst="roundRect">
            <a:avLst/>
          </a:prstGeom>
          <a:solidFill>
            <a:srgbClr val="0EA5E9"/>
          </a:solidFill>
          <a:ln w="1587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200" b="1">
                <a:solidFill>
                  <a:srgbClr val="FFFFFF"/>
                </a:solidFill>
              </a:rPr>
              <a:t>Community
Searched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9966960" y="2423160"/>
            <a:ext cx="201168" cy="365760"/>
          </a:xfrm>
          <a:prstGeom prst="rightArrow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ounded Rectangle 20"/>
          <p:cNvSpPr/>
          <p:nvPr/>
        </p:nvSpPr>
        <p:spPr>
          <a:xfrm>
            <a:off x="10168128" y="2103120"/>
            <a:ext cx="1417320" cy="1005840"/>
          </a:xfrm>
          <a:prstGeom prst="roundRect">
            <a:avLst/>
          </a:prstGeom>
          <a:solidFill>
            <a:srgbClr val="0EA5E9"/>
          </a:solidFill>
          <a:ln w="1587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200" b="1">
                <a:solidFill>
                  <a:srgbClr val="FFFFFF"/>
                </a:solidFill>
              </a:rPr>
              <a:t>We Wait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3520440"/>
            <a:ext cx="11247120" cy="54864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457200" y="3794760"/>
            <a:ext cx="111556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2200" b="1" i="0">
                <a:solidFill>
                  <a:srgbClr val="D4AF37"/>
                </a:solidFill>
                <a:latin typeface="Calibri"/>
              </a:rPr>
              <a:t>This is a cycle of reaction without prevention.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371600" y="4617720"/>
            <a:ext cx="4480560" cy="146304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1554480" y="4800600"/>
            <a:ext cx="41148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0" i="0">
                <a:solidFill>
                  <a:srgbClr val="FFFFFF"/>
                </a:solidFill>
                <a:latin typeface="Calibri"/>
              </a:rPr>
              <a:t>FROM:
“An attack has occurred.
What do we do?”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309360" y="4617720"/>
            <a:ext cx="4480560" cy="1463040"/>
          </a:xfrm>
          <a:prstGeom prst="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6492240" y="4800600"/>
            <a:ext cx="41148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TO:
“What is the probability of an
attack, and what can we do
today to prevent it?”</a:t>
            </a:r>
          </a:p>
        </p:txBody>
      </p:sp>
      <p:sp>
        <p:nvSpPr>
          <p:cNvPr id="29" name="Rectangle 28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141440" y="6458000"/>
            <a:ext cx="600000" cy="32000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1400">
                <a:solidFill>
                  <a:srgbClr val="FFFFFF"/>
                </a:solidFill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" name="Picture 25" descr="bg_military_tech_16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2" name="Picture 1" descr="cycle_3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0" y="1051560"/>
            <a:ext cx="5577840" cy="5577840"/>
          </a:xfrm>
          <a:prstGeom prst="rect">
            <a:avLst/>
          </a:prstGeom>
        </p:spPr>
      </p:pic>
      <p:sp>
        <p:nvSpPr>
          <p:cNvPr id="27" name="Rectangle 26"/>
          <p:cNvSpPr/>
          <p:nvPr/>
        </p:nvSpPr>
        <p:spPr>
          <a:xfrm>
            <a:off x="6675120" y="1051560"/>
            <a:ext cx="5577840" cy="5577840"/>
          </a:xfrm>
          <a:prstGeom prst="rect">
            <a:avLst/>
          </a:prstGeom>
          <a:solidFill>
            <a:srgbClr val="F0F7FF">
              <a:alpha val="7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SECTION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Security as Collective Responsibility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05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 i="0">
                <a:solidFill>
                  <a:srgbClr val="9AA5B1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0" i="0">
                <a:solidFill>
                  <a:srgbClr val="9AA5B1"/>
                </a:solidFill>
                <a:latin typeface="Calibri"/>
              </a:rPr>
              <a:t>5 / 28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371600"/>
            <a:ext cx="58521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0" i="1">
                <a:solidFill>
                  <a:srgbClr val="E8EAEE"/>
                </a:solidFill>
                <a:latin typeface="Calibri"/>
              </a:rPr>
              <a:t>No single agency can do everything.
Together, they can know almost everything that matters.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194560"/>
            <a:ext cx="137160" cy="77724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31520" y="2194560"/>
            <a:ext cx="146304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SEE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86000" y="2194560"/>
            <a:ext cx="38404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 i="0">
                <a:solidFill>
                  <a:srgbClr val="FFFFFF"/>
                </a:solidFill>
                <a:latin typeface="Calibri"/>
              </a:rPr>
              <a:t>Collect information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3035808"/>
            <a:ext cx="137160" cy="77724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731520" y="3035808"/>
            <a:ext cx="146304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SHARE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286000" y="3035808"/>
            <a:ext cx="38404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 i="0">
                <a:solidFill>
                  <a:srgbClr val="FFFFFF"/>
                </a:solidFill>
                <a:latin typeface="Calibri"/>
              </a:rPr>
              <a:t>Move it fast to those who need it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3877056"/>
            <a:ext cx="137160" cy="77724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731520" y="3877056"/>
            <a:ext cx="146304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DECIDE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286000" y="3877056"/>
            <a:ext cx="38404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 i="0">
                <a:solidFill>
                  <a:srgbClr val="FFFFFF"/>
                </a:solidFill>
                <a:latin typeface="Calibri"/>
              </a:rPr>
              <a:t>Establish responsibility &amp; command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4718304"/>
            <a:ext cx="137160" cy="77724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731520" y="4718304"/>
            <a:ext cx="146304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ACT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286000" y="4718304"/>
            <a:ext cx="38404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 i="0">
                <a:solidFill>
                  <a:srgbClr val="FFFFFF"/>
                </a:solidFill>
                <a:latin typeface="Calibri"/>
              </a:rPr>
              <a:t>Respond proportionately &amp; rapidly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5559552"/>
            <a:ext cx="137160" cy="77724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731520" y="5559552"/>
            <a:ext cx="146304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LEARN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286000" y="5559552"/>
            <a:ext cx="38404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 i="0">
                <a:solidFill>
                  <a:srgbClr val="FFFFFF"/>
                </a:solidFill>
                <a:latin typeface="Calibri"/>
              </a:rPr>
              <a:t>Analyse and prevent repetition</a:t>
            </a:r>
          </a:p>
        </p:txBody>
      </p:sp>
      <p:sp>
        <p:nvSpPr>
          <p:cNvPr id="28" name="Rectangle 27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141440" y="6458000"/>
            <a:ext cx="600000" cy="32000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1400">
                <a:solidFill>
                  <a:srgbClr val="FFFFFF"/>
                </a:solidFill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Picture 18" descr="bg_military_tech_16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SECTION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One Security Picture, Multiple Capabilities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06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 i="0">
                <a:solidFill>
                  <a:srgbClr val="9AA5B1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0" i="0">
                <a:solidFill>
                  <a:srgbClr val="9AA5B1"/>
                </a:solidFill>
                <a:latin typeface="Calibri"/>
              </a:rPr>
              <a:t>6 / 28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417320"/>
            <a:ext cx="3611880" cy="141732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00" b="1">
                <a:solidFill>
                  <a:srgbClr val="FFFFFF"/>
                </a:solidFill>
              </a:rPr>
              <a:t>Armed
Forces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0" y="1417320"/>
            <a:ext cx="3611880" cy="141732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00" b="1">
                <a:solidFill>
                  <a:srgbClr val="FFFFFF"/>
                </a:solidFill>
              </a:rPr>
              <a:t>Police
Force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38160" y="1417320"/>
            <a:ext cx="3611880" cy="141732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00" b="1">
                <a:solidFill>
                  <a:srgbClr val="FFFFFF"/>
                </a:solidFill>
              </a:rPr>
              <a:t>DSS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3017520"/>
            <a:ext cx="3611880" cy="141732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00" b="1">
                <a:solidFill>
                  <a:srgbClr val="FFFFFF"/>
                </a:solidFill>
              </a:rPr>
              <a:t>NSCDC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97680" y="3017520"/>
            <a:ext cx="3611880" cy="141732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00" b="1">
                <a:solidFill>
                  <a:srgbClr val="FFFFFF"/>
                </a:solidFill>
              </a:rPr>
              <a:t>NDLEA /
Customs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38160" y="3017520"/>
            <a:ext cx="3611880" cy="141732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00" b="1">
                <a:solidFill>
                  <a:srgbClr val="FFFFFF"/>
                </a:solidFill>
              </a:rPr>
              <a:t>State
Security
Councils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4617720"/>
            <a:ext cx="3611880" cy="141732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00" b="1">
                <a:solidFill>
                  <a:srgbClr val="FFFFFF"/>
                </a:solidFill>
              </a:rPr>
              <a:t>Local Govt
Structures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97680" y="4617720"/>
            <a:ext cx="3611880" cy="141732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00" b="1">
                <a:solidFill>
                  <a:srgbClr val="FFFFFF"/>
                </a:solidFill>
              </a:rPr>
              <a:t>Traditional
Institutions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38160" y="4617720"/>
            <a:ext cx="3611880" cy="141732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00" b="1">
                <a:solidFill>
                  <a:srgbClr val="FFFFFF"/>
                </a:solidFill>
              </a:rPr>
              <a:t>Community
&amp; Civil Society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0" y="1417320"/>
            <a:ext cx="3520440" cy="4937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1" i="1">
                <a:solidFill>
                  <a:srgbClr val="D4AF37"/>
                </a:solidFill>
                <a:latin typeface="Calibri"/>
              </a:rPr>
              <a:t>“The intelligence value is created
when these pieces are fused
into ONE threat picture.”</a:t>
            </a:r>
          </a:p>
        </p:txBody>
      </p:sp>
      <p:sp>
        <p:nvSpPr>
          <p:cNvPr id="20" name="Rectangle 19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141440" y="6458000"/>
            <a:ext cx="600000" cy="32000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1400">
                <a:solidFill>
                  <a:srgbClr val="FFFFFF"/>
                </a:solidFill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" name="Picture 21" descr="bg_military_tech_16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SECTION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Regional Security Intelligence &amp; Fusion Centre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07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 i="0">
                <a:solidFill>
                  <a:srgbClr val="9AA5B1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0" i="0">
                <a:solidFill>
                  <a:srgbClr val="9AA5B1"/>
                </a:solidFill>
                <a:latin typeface="Calibri"/>
              </a:rPr>
              <a:t>7 / 28</a:t>
            </a:r>
          </a:p>
        </p:txBody>
      </p:sp>
      <p:sp>
        <p:nvSpPr>
          <p:cNvPr id="9" name="Oval 8"/>
          <p:cNvSpPr/>
          <p:nvPr/>
        </p:nvSpPr>
        <p:spPr>
          <a:xfrm>
            <a:off x="457200" y="1463040"/>
            <a:ext cx="640080" cy="640080"/>
          </a:xfrm>
          <a:prstGeom prst="ellipse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 b="1">
                <a:solidFill>
                  <a:srgbClr val="0B1F3A"/>
                </a:solidFill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80160" y="1463040"/>
            <a:ext cx="493776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FFFFFF"/>
                </a:solidFill>
                <a:latin typeface="Calibri"/>
              </a:rPr>
              <a:t>Where is the threat?</a:t>
            </a:r>
          </a:p>
        </p:txBody>
      </p:sp>
      <p:sp>
        <p:nvSpPr>
          <p:cNvPr id="11" name="Oval 10"/>
          <p:cNvSpPr/>
          <p:nvPr/>
        </p:nvSpPr>
        <p:spPr>
          <a:xfrm>
            <a:off x="457200" y="2240280"/>
            <a:ext cx="640080" cy="640080"/>
          </a:xfrm>
          <a:prstGeom prst="ellipse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 b="1">
                <a:solidFill>
                  <a:srgbClr val="0B1F3A"/>
                </a:solidFill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80160" y="2240280"/>
            <a:ext cx="493776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FFFFFF"/>
                </a:solidFill>
                <a:latin typeface="Calibri"/>
              </a:rPr>
              <a:t>Who is responsible?</a:t>
            </a:r>
          </a:p>
        </p:txBody>
      </p:sp>
      <p:sp>
        <p:nvSpPr>
          <p:cNvPr id="13" name="Oval 12"/>
          <p:cNvSpPr/>
          <p:nvPr/>
        </p:nvSpPr>
        <p:spPr>
          <a:xfrm>
            <a:off x="457200" y="3017520"/>
            <a:ext cx="640080" cy="640080"/>
          </a:xfrm>
          <a:prstGeom prst="ellipse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 b="1">
                <a:solidFill>
                  <a:srgbClr val="0B1F3A"/>
                </a:solidFill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80160" y="3017520"/>
            <a:ext cx="493776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FFFFFF"/>
                </a:solidFill>
                <a:latin typeface="Calibri"/>
              </a:rPr>
              <a:t>What is their capability?</a:t>
            </a:r>
          </a:p>
        </p:txBody>
      </p:sp>
      <p:sp>
        <p:nvSpPr>
          <p:cNvPr id="15" name="Oval 14"/>
          <p:cNvSpPr/>
          <p:nvPr/>
        </p:nvSpPr>
        <p:spPr>
          <a:xfrm>
            <a:off x="457200" y="3794760"/>
            <a:ext cx="640080" cy="640080"/>
          </a:xfrm>
          <a:prstGeom prst="ellipse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 b="1">
                <a:solidFill>
                  <a:srgbClr val="0B1F3A"/>
                </a:solidFill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80160" y="3794760"/>
            <a:ext cx="493776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FFFFFF"/>
                </a:solidFill>
                <a:latin typeface="Calibri"/>
              </a:rPr>
              <a:t>What are they likely to do next?</a:t>
            </a:r>
          </a:p>
        </p:txBody>
      </p:sp>
      <p:sp>
        <p:nvSpPr>
          <p:cNvPr id="17" name="Oval 16"/>
          <p:cNvSpPr/>
          <p:nvPr/>
        </p:nvSpPr>
        <p:spPr>
          <a:xfrm>
            <a:off x="457200" y="4572000"/>
            <a:ext cx="640080" cy="640080"/>
          </a:xfrm>
          <a:prstGeom prst="ellipse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 b="1">
                <a:solidFill>
                  <a:srgbClr val="0B1F3A"/>
                </a:solidFill>
              </a:rPr>
              <a:t>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80160" y="4572000"/>
            <a:ext cx="493776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FFFFFF"/>
                </a:solidFill>
                <a:latin typeface="Calibri"/>
              </a:rPr>
              <a:t>What resource can respond fastest?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83680" y="1463040"/>
            <a:ext cx="5120640" cy="475488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858000" y="1691640"/>
            <a:ext cx="4572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LIVING OPERATIONAL PICTURE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0" y="2148840"/>
            <a:ext cx="45720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>
                <a:solidFill>
                  <a:srgbClr val="FFFFFF"/>
                </a:solidFill>
                <a:latin typeface="Calibri"/>
              </a:rPr>
              <a:t>▸  Attack locations &amp; kidnapping incidents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>
                <a:solidFill>
                  <a:srgbClr val="FFFFFF"/>
                </a:solidFill>
                <a:latin typeface="Calibri"/>
              </a:rPr>
              <a:t>▸  Suspicious movements &amp; criminal corridors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>
                <a:solidFill>
                  <a:srgbClr val="FFFFFF"/>
                </a:solidFill>
                <a:latin typeface="Calibri"/>
              </a:rPr>
              <a:t>▸  Conflict flashpoints &amp; abandoned settlements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>
                <a:solidFill>
                  <a:srgbClr val="FFFFFF"/>
                </a:solidFill>
                <a:latin typeface="Calibri"/>
              </a:rPr>
              <a:t>▸  Vulnerable highways, forests, difficult terrain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>
                <a:solidFill>
                  <a:srgbClr val="FFFFFF"/>
                </a:solidFill>
                <a:latin typeface="Calibri"/>
              </a:rPr>
              <a:t>▸  Illegal mining &amp; arms trafficking routes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>
                <a:solidFill>
                  <a:srgbClr val="FFFFFF"/>
                </a:solidFill>
                <a:latin typeface="Calibri"/>
              </a:rPr>
              <a:t>▸  Displacement concentrations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141440" y="6458000"/>
            <a:ext cx="600000" cy="32000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1400">
                <a:solidFill>
                  <a:srgbClr val="FFFFFF"/>
                </a:solidFill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Picture 18" descr="bg_military_tech_16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SECTION 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From Intelligence Collection to Intelligence Action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08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 i="0">
                <a:solidFill>
                  <a:srgbClr val="9AA5B1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0" i="0">
                <a:solidFill>
                  <a:srgbClr val="9AA5B1"/>
                </a:solidFill>
                <a:latin typeface="Calibri"/>
              </a:rPr>
              <a:t>8 / 28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280160"/>
            <a:ext cx="112471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1">
                <a:solidFill>
                  <a:srgbClr val="D4AF37"/>
                </a:solidFill>
                <a:latin typeface="Calibri"/>
              </a:rPr>
              <a:t>“How long does it take for a credible warning from a village to become an operational decision?”</a:t>
            </a:r>
          </a:p>
        </p:txBody>
      </p:sp>
      <p:sp>
        <p:nvSpPr>
          <p:cNvPr id="10" name="Chevron 9"/>
          <p:cNvSpPr/>
          <p:nvPr/>
        </p:nvSpPr>
        <p:spPr>
          <a:xfrm>
            <a:off x="457200" y="2377440"/>
            <a:ext cx="1508760" cy="1188720"/>
          </a:xfrm>
          <a:prstGeom prst="chevron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50" b="1">
                <a:solidFill>
                  <a:srgbClr val="FFFFFF"/>
                </a:solidFill>
              </a:rPr>
              <a:t>Community</a:t>
            </a:r>
          </a:p>
        </p:txBody>
      </p:sp>
      <p:sp>
        <p:nvSpPr>
          <p:cNvPr id="11" name="Chevron 10"/>
          <p:cNvSpPr/>
          <p:nvPr/>
        </p:nvSpPr>
        <p:spPr>
          <a:xfrm>
            <a:off x="2103120" y="2377440"/>
            <a:ext cx="1508760" cy="1188720"/>
          </a:xfrm>
          <a:prstGeom prst="chevron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50" b="1">
                <a:solidFill>
                  <a:srgbClr val="0B1F3A"/>
                </a:solidFill>
              </a:rPr>
              <a:t>Local Intel
Node</a:t>
            </a:r>
          </a:p>
        </p:txBody>
      </p:sp>
      <p:sp>
        <p:nvSpPr>
          <p:cNvPr id="12" name="Chevron 11"/>
          <p:cNvSpPr/>
          <p:nvPr/>
        </p:nvSpPr>
        <p:spPr>
          <a:xfrm>
            <a:off x="3749040" y="2377440"/>
            <a:ext cx="1508760" cy="1188720"/>
          </a:xfrm>
          <a:prstGeom prst="chevron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50" b="1">
                <a:solidFill>
                  <a:srgbClr val="FFFFFF"/>
                </a:solidFill>
              </a:rPr>
              <a:t>Fusion
Centre</a:t>
            </a:r>
          </a:p>
        </p:txBody>
      </p:sp>
      <p:sp>
        <p:nvSpPr>
          <p:cNvPr id="13" name="Chevron 12"/>
          <p:cNvSpPr/>
          <p:nvPr/>
        </p:nvSpPr>
        <p:spPr>
          <a:xfrm>
            <a:off x="5394960" y="2377440"/>
            <a:ext cx="1508760" cy="1188720"/>
          </a:xfrm>
          <a:prstGeom prst="chevron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50" b="1">
                <a:solidFill>
                  <a:srgbClr val="0B1F3A"/>
                </a:solidFill>
              </a:rPr>
              <a:t>Threat
Assessment</a:t>
            </a:r>
          </a:p>
        </p:txBody>
      </p:sp>
      <p:sp>
        <p:nvSpPr>
          <p:cNvPr id="14" name="Chevron 13"/>
          <p:cNvSpPr/>
          <p:nvPr/>
        </p:nvSpPr>
        <p:spPr>
          <a:xfrm>
            <a:off x="7040880" y="2377440"/>
            <a:ext cx="1508760" cy="1188720"/>
          </a:xfrm>
          <a:prstGeom prst="chevron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50" b="1">
                <a:solidFill>
                  <a:srgbClr val="FFFFFF"/>
                </a:solidFill>
              </a:rPr>
              <a:t>Security
Agency</a:t>
            </a:r>
          </a:p>
        </p:txBody>
      </p:sp>
      <p:sp>
        <p:nvSpPr>
          <p:cNvPr id="15" name="Chevron 14"/>
          <p:cNvSpPr/>
          <p:nvPr/>
        </p:nvSpPr>
        <p:spPr>
          <a:xfrm>
            <a:off x="8686800" y="2377440"/>
            <a:ext cx="1508760" cy="1188720"/>
          </a:xfrm>
          <a:prstGeom prst="chevron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50" b="1">
                <a:solidFill>
                  <a:srgbClr val="0B1F3A"/>
                </a:solidFill>
              </a:rPr>
              <a:t>Rapid
Response</a:t>
            </a:r>
          </a:p>
        </p:txBody>
      </p:sp>
      <p:sp>
        <p:nvSpPr>
          <p:cNvPr id="16" name="Chevron 15"/>
          <p:cNvSpPr/>
          <p:nvPr/>
        </p:nvSpPr>
        <p:spPr>
          <a:xfrm>
            <a:off x="10332720" y="2377440"/>
            <a:ext cx="1508760" cy="1188720"/>
          </a:xfrm>
          <a:prstGeom prst="chevron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50" b="1">
                <a:solidFill>
                  <a:srgbClr val="FFFFFF"/>
                </a:solidFill>
              </a:rPr>
              <a:t>Confirmation
+ Follow-up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206240"/>
            <a:ext cx="11247120" cy="1737360"/>
          </a:xfrm>
          <a:prstGeom prst="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731520" y="4434840"/>
            <a:ext cx="1069848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2000" b="0" i="0">
                <a:solidFill>
                  <a:srgbClr val="FFFFFF"/>
                </a:solidFill>
                <a:latin typeface="Calibri"/>
              </a:rPr>
              <a:t>The community must receive feedback. If people repeatedly provide information and
nothing happens, they stop reporting. If they see that lives are saved, trust grows.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141440" y="6458000"/>
            <a:ext cx="600000" cy="32000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1400">
                <a:solidFill>
                  <a:srgbClr val="FFFFFF"/>
                </a:solidFill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bg_military_tech_16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2" name="Picture 1" descr="unity_3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0F7FF">
              <a:alpha val="6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A5E9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91440"/>
            <a:ext cx="100584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THE COMMUNITY MUST BECOME THE FIRST SENSOR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4754880"/>
            <a:ext cx="12191695" cy="2103120"/>
          </a:xfrm>
          <a:prstGeom prst="rect">
            <a:avLst/>
          </a:prstGeom>
          <a:solidFill>
            <a:srgbClr val="0EA5E9">
              <a:alpha val="8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48640" y="4937760"/>
            <a:ext cx="11064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Farmers • Hunters • Teachers • Traditional Rulers • Transporters • Religious Leaders • Health Workers • Market Women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5486400"/>
            <a:ext cx="1106424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 i="0">
                <a:solidFill>
                  <a:srgbClr val="FFFFFF"/>
                </a:solidFill>
                <a:latin typeface="Calibri"/>
              </a:rPr>
              <a:t>A structured Community Early Warning and Early Response Network —
not a vigilante system, not a parallel intelligence service —
a disciplined, legally governed community information network.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 i="0">
                <a:solidFill>
                  <a:srgbClr val="9AA5B1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0" i="0">
                <a:solidFill>
                  <a:srgbClr val="9AA5B1"/>
                </a:solidFill>
                <a:latin typeface="Calibri"/>
              </a:rPr>
              <a:t>9 / 28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41440" y="6458000"/>
            <a:ext cx="600000" cy="32000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1400">
                <a:solidFill>
                  <a:srgbClr val="FFFFFF"/>
                </a:solidFill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" name="Picture 23" descr="bg_military_tech_16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SECTION 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Traditional Rulers in the Security Architecture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 i="0">
                <a:solidFill>
                  <a:srgbClr val="9AA5B1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0" i="0">
                <a:solidFill>
                  <a:srgbClr val="9AA5B1"/>
                </a:solidFill>
                <a:latin typeface="Calibri"/>
              </a:rPr>
              <a:t>10 / 28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371600"/>
            <a:ext cx="54864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>
                <a:solidFill>
                  <a:srgbClr val="FFFFFF"/>
                </a:solidFill>
                <a:latin typeface="Calibri"/>
              </a:rPr>
              <a:t>▸  Know who lives in — and enters — their domain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>
                <a:solidFill>
                  <a:srgbClr val="FFFFFF"/>
                </a:solidFill>
                <a:latin typeface="Calibri"/>
              </a:rPr>
              <a:t>▸  Aware of families in conflict and land/resource disputes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>
                <a:solidFill>
                  <a:srgbClr val="FFFFFF"/>
                </a:solidFill>
                <a:latin typeface="Calibri"/>
              </a:rPr>
              <a:t>▸  Often the first to see radicalisation among youth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>
                <a:solidFill>
                  <a:srgbClr val="FFFFFF"/>
                </a:solidFill>
                <a:latin typeface="Calibri"/>
              </a:rPr>
              <a:t>▸  Know criminal routes and rising community tensions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>
                <a:solidFill>
                  <a:srgbClr val="FFFFFF"/>
                </a:solidFill>
                <a:latin typeface="Calibri"/>
              </a:rPr>
              <a:t>▸  Currently consulted mostly AFTER violence occurs</a:t>
            </a:r>
          </a:p>
        </p:txBody>
      </p:sp>
      <p:sp>
        <p:nvSpPr>
          <p:cNvPr id="10" name="Rectangle 9"/>
          <p:cNvSpPr/>
          <p:nvPr/>
        </p:nvSpPr>
        <p:spPr>
          <a:xfrm>
            <a:off x="6309360" y="1371600"/>
            <a:ext cx="5394960" cy="493776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583680" y="1600200"/>
            <a:ext cx="4846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THE STRUCTURED INTERFACE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583680" y="2148840"/>
            <a:ext cx="4846320" cy="50292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766560" y="2148840"/>
            <a:ext cx="45720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FFFFFF"/>
                </a:solidFill>
                <a:latin typeface="Calibri"/>
              </a:rPr>
              <a:t>Traditional Council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583680" y="2807208"/>
            <a:ext cx="4846320" cy="50292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766560" y="2807208"/>
            <a:ext cx="45720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FFFFFF"/>
                </a:solidFill>
                <a:latin typeface="Calibri"/>
              </a:rPr>
              <a:t>Police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583680" y="3465576"/>
            <a:ext cx="4846320" cy="50292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766560" y="3465576"/>
            <a:ext cx="45720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FFFFFF"/>
                </a:solidFill>
                <a:latin typeface="Calibri"/>
              </a:rPr>
              <a:t>DSS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583680" y="4123944"/>
            <a:ext cx="4846320" cy="50292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766560" y="4123944"/>
            <a:ext cx="45720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FFFFFF"/>
                </a:solidFill>
                <a:latin typeface="Calibri"/>
              </a:rPr>
              <a:t>Military Liaison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583680" y="4782312"/>
            <a:ext cx="4846320" cy="50292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766560" y="4782312"/>
            <a:ext cx="45720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FFFFFF"/>
                </a:solidFill>
                <a:latin typeface="Calibri"/>
              </a:rPr>
              <a:t>Local Government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583680" y="5440680"/>
            <a:ext cx="4846320" cy="50292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766560" y="5440680"/>
            <a:ext cx="45720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FFFFFF"/>
                </a:solidFill>
                <a:latin typeface="Calibri"/>
              </a:rPr>
              <a:t>Community Reps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141440" y="6458000"/>
            <a:ext cx="600000" cy="32000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1400">
                <a:solidFill>
                  <a:srgbClr val="FFFFFF"/>
                </a:solidFill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Picture 16" descr="bg_military_tech_16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SECTION 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Security Corridors, Not Administrative Boundaries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 i="0">
                <a:solidFill>
                  <a:srgbClr val="9AA5B1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0" i="0">
                <a:solidFill>
                  <a:srgbClr val="9AA5B1"/>
                </a:solidFill>
                <a:latin typeface="Calibri"/>
              </a:rPr>
              <a:t>11 / 28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280160"/>
            <a:ext cx="111556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1">
                <a:solidFill>
                  <a:srgbClr val="D4AF37"/>
                </a:solidFill>
                <a:latin typeface="Calibri"/>
              </a:rPr>
              <a:t>A criminal group does not stop at a state border. Neither should our response.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103120"/>
            <a:ext cx="5440680" cy="105156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</a:rPr>
              <a:t>Kwara – Niger – Kainji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72200" y="2103120"/>
            <a:ext cx="5440680" cy="105156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</a:rPr>
              <a:t>Niger – Kaduna – FCT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3383280"/>
            <a:ext cx="5440680" cy="105156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</a:rPr>
              <a:t>Benue – Nasarawa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3383280"/>
            <a:ext cx="5440680" cy="105156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</a:rPr>
              <a:t>Benue – Taraba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663440"/>
            <a:ext cx="5440680" cy="105156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</a:rPr>
              <a:t>Plateau – Bauchi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72200" y="4663440"/>
            <a:ext cx="5440680" cy="105156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</a:rPr>
              <a:t>Kogi – Nasarawa – Benue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6172200"/>
            <a:ext cx="111556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 i="0">
                <a:solidFill>
                  <a:srgbClr val="9AA5B1"/>
                </a:solidFill>
                <a:latin typeface="Calibri"/>
              </a:rPr>
              <a:t>North-Central governors agreed in 2025 to pursue joint security operations. The next step: institutionalise it.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141440" y="6458000"/>
            <a:ext cx="600000" cy="32000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1400">
                <a:solidFill>
                  <a:srgbClr val="FFFFFF"/>
                </a:solidFill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Picture 13" descr="bg_military_tech_16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SECTION 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Rapid Response — The 30 to 60 Minute Window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12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 i="0">
                <a:solidFill>
                  <a:srgbClr val="9AA5B1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0" i="0">
                <a:solidFill>
                  <a:srgbClr val="9AA5B1"/>
                </a:solidFill>
                <a:latin typeface="Calibri"/>
              </a:rPr>
              <a:t>12 / 28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463040"/>
            <a:ext cx="1115568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0" b="1" i="0">
                <a:solidFill>
                  <a:srgbClr val="D4AF37"/>
                </a:solidFill>
                <a:latin typeface="Calibri"/>
              </a:rPr>
              <a:t>30–60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926080" y="1920240"/>
            <a:ext cx="8686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>
                <a:solidFill>
                  <a:srgbClr val="FFFFFF"/>
                </a:solidFill>
                <a:latin typeface="Calibri"/>
              </a:rPr>
              <a:t>MINUTES CAN DETERMINE WHETHER AN INCIDENT
BECOMES A FAILED ATTACK OR A MASS-CASUALTY EVENT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3383280"/>
            <a:ext cx="53949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>
                <a:solidFill>
                  <a:srgbClr val="FFFFFF"/>
                </a:solidFill>
                <a:latin typeface="Calibri"/>
              </a:rPr>
              <a:t>▸  Police rapid response units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>
                <a:solidFill>
                  <a:srgbClr val="FFFFFF"/>
                </a:solidFill>
                <a:latin typeface="Calibri"/>
              </a:rPr>
              <a:t>▸  Military quick reaction forces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>
                <a:solidFill>
                  <a:srgbClr val="FFFFFF"/>
                </a:solidFill>
                <a:latin typeface="Calibri"/>
              </a:rPr>
              <a:t>▸  Mobile security teams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>
                <a:solidFill>
                  <a:srgbClr val="FFFFFF"/>
                </a:solidFill>
                <a:latin typeface="Calibri"/>
              </a:rPr>
              <a:t>▸  Medical evacuation capability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26480" y="3383280"/>
            <a:ext cx="53949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>
                <a:solidFill>
                  <a:srgbClr val="FFFFFF"/>
                </a:solidFill>
                <a:latin typeface="Calibri"/>
              </a:rPr>
              <a:t>▸  Aviation support where appropriate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>
                <a:solidFill>
                  <a:srgbClr val="FFFFFF"/>
                </a:solidFill>
                <a:latin typeface="Calibri"/>
              </a:rPr>
              <a:t>▸  Communications support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>
                <a:solidFill>
                  <a:srgbClr val="FFFFFF"/>
                </a:solidFill>
                <a:latin typeface="Calibri"/>
              </a:rPr>
              <a:t>▸  Community liaison officers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>
                <a:solidFill>
                  <a:srgbClr val="FFFFFF"/>
                </a:solidFill>
                <a:latin typeface="Calibri"/>
              </a:rPr>
              <a:t>▸  Pre-positioned, not reactive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6263640"/>
            <a:ext cx="11155680" cy="36576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141440" y="6458000"/>
            <a:ext cx="600000" cy="32000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1400">
                <a:solidFill>
                  <a:srgbClr val="FFFFFF"/>
                </a:solidFill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Picture 18" descr="bg_military_tech_16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SECTION 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Technology Should Multiply Human Capability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13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 i="0">
                <a:solidFill>
                  <a:srgbClr val="9AA5B1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0" i="0">
                <a:solidFill>
                  <a:srgbClr val="9AA5B1"/>
                </a:solidFill>
                <a:latin typeface="Calibri"/>
              </a:rPr>
              <a:t>13 / 28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371600"/>
            <a:ext cx="3611880" cy="1371600"/>
          </a:xfrm>
          <a:prstGeom prst="roundRect">
            <a:avLst/>
          </a:prstGeom>
          <a:solidFill>
            <a:srgbClr val="0EA5E9"/>
          </a:solidFill>
          <a:ln w="952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Unmanned Aerial
Surveillance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0" y="1371600"/>
            <a:ext cx="3611880" cy="1371600"/>
          </a:xfrm>
          <a:prstGeom prst="roundRect">
            <a:avLst/>
          </a:prstGeom>
          <a:solidFill>
            <a:srgbClr val="0EA5E9"/>
          </a:solidFill>
          <a:ln w="952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Satellite Imagery &amp;
Geospatial Intel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38160" y="1371600"/>
            <a:ext cx="3611880" cy="1371600"/>
          </a:xfrm>
          <a:prstGeom prst="roundRect">
            <a:avLst/>
          </a:prstGeom>
          <a:solidFill>
            <a:srgbClr val="0EA5E9"/>
          </a:solidFill>
          <a:ln w="952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Secure
Communications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926080"/>
            <a:ext cx="3611880" cy="1371600"/>
          </a:xfrm>
          <a:prstGeom prst="roundRect">
            <a:avLst/>
          </a:prstGeom>
          <a:solidFill>
            <a:srgbClr val="0EA5E9"/>
          </a:solidFill>
          <a:ln w="952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Digital Incident
Reporting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97680" y="2926080"/>
            <a:ext cx="3611880" cy="1371600"/>
          </a:xfrm>
          <a:prstGeom prst="roundRect">
            <a:avLst/>
          </a:prstGeom>
          <a:solidFill>
            <a:srgbClr val="0EA5E9"/>
          </a:solidFill>
          <a:ln w="952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Vehicle &amp; Movement
Analytics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38160" y="2926080"/>
            <a:ext cx="3611880" cy="1371600"/>
          </a:xfrm>
          <a:prstGeom prst="roundRect">
            <a:avLst/>
          </a:prstGeom>
          <a:solidFill>
            <a:srgbClr val="0EA5E9"/>
          </a:solidFill>
          <a:ln w="952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Lawful Telecoms
Intelligence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4480560"/>
            <a:ext cx="3611880" cy="1371600"/>
          </a:xfrm>
          <a:prstGeom prst="roundRect">
            <a:avLst/>
          </a:prstGeom>
          <a:solidFill>
            <a:srgbClr val="0EA5E9"/>
          </a:solidFill>
          <a:ln w="952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Biometric &amp;
Identity Systems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97680" y="4480560"/>
            <a:ext cx="3611880" cy="1371600"/>
          </a:xfrm>
          <a:prstGeom prst="roundRect">
            <a:avLst/>
          </a:prstGeom>
          <a:solidFill>
            <a:srgbClr val="0EA5E9"/>
          </a:solidFill>
          <a:ln w="952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GIS Crime
Mapping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38160" y="4480560"/>
            <a:ext cx="3611880" cy="1371600"/>
          </a:xfrm>
          <a:prstGeom prst="roundRect">
            <a:avLst/>
          </a:prstGeom>
          <a:solidFill>
            <a:srgbClr val="0EA5E9"/>
          </a:solidFill>
          <a:ln w="952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AI Pattern
Analysis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6035040"/>
            <a:ext cx="111556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2000" b="0" i="1">
                <a:solidFill>
                  <a:srgbClr val="D4AF37"/>
                </a:solidFill>
                <a:latin typeface="Calibri"/>
              </a:rPr>
              <a:t>“If a drone cannot transmit useful information to a commander who can act on it, it is merely an expensive flying camera.”</a:t>
            </a:r>
          </a:p>
        </p:txBody>
      </p:sp>
      <p:sp>
        <p:nvSpPr>
          <p:cNvPr id="20" name="Rectangle 19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141440" y="6458000"/>
            <a:ext cx="600000" cy="32000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1400">
                <a:solidFill>
                  <a:srgbClr val="FFFFFF"/>
                </a:solidFill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Picture 13" descr="bg_military_tech_16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SECTION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The Forest Problem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14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 i="0">
                <a:solidFill>
                  <a:srgbClr val="9AA5B1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0" i="0">
                <a:solidFill>
                  <a:srgbClr val="9AA5B1"/>
                </a:solidFill>
                <a:latin typeface="Calibri"/>
              </a:rPr>
              <a:t>14 / 28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37160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>
                <a:solidFill>
                  <a:srgbClr val="FFFFFF"/>
                </a:solidFill>
                <a:latin typeface="Calibri"/>
              </a:rPr>
              <a:t>▸  Provides concealment, mobility, temporary camps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>
                <a:solidFill>
                  <a:srgbClr val="FFFFFF"/>
                </a:solidFill>
                <a:latin typeface="Calibri"/>
              </a:rPr>
              <a:t>▸  Access to water and routes between communities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>
                <a:solidFill>
                  <a:srgbClr val="FFFFFF"/>
                </a:solidFill>
                <a:latin typeface="Calibri"/>
              </a:rPr>
              <a:t>▸  Sanctuary from conventional policing</a:t>
            </a:r>
          </a:p>
        </p:txBody>
      </p:sp>
      <p:sp>
        <p:nvSpPr>
          <p:cNvPr id="10" name="Rectangle 9"/>
          <p:cNvSpPr/>
          <p:nvPr/>
        </p:nvSpPr>
        <p:spPr>
          <a:xfrm>
            <a:off x="6309360" y="1371600"/>
            <a:ext cx="5394960" cy="484632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583680" y="1600200"/>
            <a:ext cx="4846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FOREST SECURITY STRATEGY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103120"/>
            <a:ext cx="484632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000" b="1" i="0">
                <a:solidFill>
                  <a:srgbClr val="FFFFFF"/>
                </a:solidFill>
                <a:latin typeface="Calibri"/>
              </a:rPr>
              <a:t>Human Intelligence + Aerial Surveillance +
Geospatial Mapping + Community Information +
Controlled Access + Law Enforcement +
Sustained Presence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0" y="4297680"/>
            <a:ext cx="4846320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 i="0">
                <a:solidFill>
                  <a:srgbClr val="FFFFFF"/>
                </a:solidFill>
                <a:latin typeface="Calibri"/>
              </a:rPr>
              <a:t>Goal: deny armed groups sanctuary, mobility,
supplies, communications, financing and
freedom of movement — without treating every
farmer or hunter as a suspect.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141440" y="6458000"/>
            <a:ext cx="600000" cy="32000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1400">
                <a:solidFill>
                  <a:srgbClr val="FFFFFF"/>
                </a:solidFill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" name="Picture 27" descr="bg_military_tech_16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SECTION 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Separate the Criminal from the Community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15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 i="0">
                <a:solidFill>
                  <a:srgbClr val="9AA5B1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0" i="0">
                <a:solidFill>
                  <a:srgbClr val="9AA5B1"/>
                </a:solidFill>
                <a:latin typeface="Calibri"/>
              </a:rPr>
              <a:t>15 / 28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371600"/>
            <a:ext cx="51206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FFFFFF"/>
                </a:solidFill>
                <a:latin typeface="Calibri"/>
              </a:rPr>
              <a:t>A Fulani pastoralist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806440" y="1371600"/>
            <a:ext cx="6400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→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37960" y="1371600"/>
            <a:ext cx="51206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 i="0">
                <a:solidFill>
                  <a:srgbClr val="D4AF37"/>
                </a:solidFill>
                <a:latin typeface="Calibri"/>
              </a:rPr>
              <a:t>is not a terrorist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2029968"/>
            <a:ext cx="51206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FFFFFF"/>
                </a:solidFill>
                <a:latin typeface="Calibri"/>
              </a:rPr>
              <a:t>A Tiv farmer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806440" y="2029968"/>
            <a:ext cx="6400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→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37960" y="2029968"/>
            <a:ext cx="51206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 i="0">
                <a:solidFill>
                  <a:srgbClr val="D4AF37"/>
                </a:solidFill>
                <a:latin typeface="Calibri"/>
              </a:rPr>
              <a:t>is not a militia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2688336"/>
            <a:ext cx="51206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FFFFFF"/>
                </a:solidFill>
                <a:latin typeface="Calibri"/>
              </a:rPr>
              <a:t>An Idoma youth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806440" y="2688336"/>
            <a:ext cx="6400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→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37960" y="2688336"/>
            <a:ext cx="51206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 i="0">
                <a:solidFill>
                  <a:srgbClr val="D4AF37"/>
                </a:solidFill>
                <a:latin typeface="Calibri"/>
              </a:rPr>
              <a:t>is not a criminal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3346704"/>
            <a:ext cx="51206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FFFFFF"/>
                </a:solidFill>
                <a:latin typeface="Calibri"/>
              </a:rPr>
              <a:t>A Muslim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806440" y="3346704"/>
            <a:ext cx="6400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→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37960" y="3346704"/>
            <a:ext cx="51206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 i="0">
                <a:solidFill>
                  <a:srgbClr val="D4AF37"/>
                </a:solidFill>
                <a:latin typeface="Calibri"/>
              </a:rPr>
              <a:t>is not a terrorist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4005072"/>
            <a:ext cx="51206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FFFFFF"/>
                </a:solidFill>
                <a:latin typeface="Calibri"/>
              </a:rPr>
              <a:t>A Christian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806440" y="4005072"/>
            <a:ext cx="6400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→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37960" y="4005072"/>
            <a:ext cx="51206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 i="0">
                <a:solidFill>
                  <a:srgbClr val="D4AF37"/>
                </a:solidFill>
                <a:latin typeface="Calibri"/>
              </a:rPr>
              <a:t>is not a militia member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4663440"/>
            <a:ext cx="51206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FFFFFF"/>
                </a:solidFill>
                <a:latin typeface="Calibri"/>
              </a:rPr>
              <a:t>A traditional hunter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806440" y="4663440"/>
            <a:ext cx="6400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→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37960" y="4663440"/>
            <a:ext cx="51206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 i="0">
                <a:solidFill>
                  <a:srgbClr val="D4AF37"/>
                </a:solidFill>
                <a:latin typeface="Calibri"/>
              </a:rPr>
              <a:t>is not automatically a vigilante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" y="5486400"/>
            <a:ext cx="111556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2000" b="1" i="0">
                <a:solidFill>
                  <a:srgbClr val="FFFFFF"/>
                </a:solidFill>
                <a:latin typeface="Calibri"/>
              </a:rPr>
              <a:t>Identify perpetrators by behaviour and evidence — never by ethnicity, religion or community.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141440" y="6458000"/>
            <a:ext cx="600000" cy="32000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1400">
                <a:solidFill>
                  <a:srgbClr val="FFFFFF"/>
                </a:solidFill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Picture 19" descr="bg_military_tech_16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SECTION 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Farmer-Herder Conflict as a Governance Issue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16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 i="0">
                <a:solidFill>
                  <a:srgbClr val="9AA5B1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0" i="0">
                <a:solidFill>
                  <a:srgbClr val="9AA5B1"/>
                </a:solidFill>
                <a:latin typeface="Calibri"/>
              </a:rPr>
              <a:t>16 / 28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325880"/>
            <a:ext cx="111556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 i="1">
                <a:solidFill>
                  <a:srgbClr val="E8EAEE"/>
                </a:solidFill>
                <a:latin typeface="Calibri"/>
              </a:rPr>
              <a:t>We cannot shoot our way out of every dispute. Some are criminal. Most are about: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1920240"/>
            <a:ext cx="1493520" cy="548640"/>
          </a:xfrm>
          <a:prstGeom prst="roundRect">
            <a:avLst/>
          </a:prstGeom>
          <a:solidFill>
            <a:srgbClr val="0EA5E9"/>
          </a:solidFill>
          <a:ln w="952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>
                <a:solidFill>
                  <a:srgbClr val="FFFFFF"/>
                </a:solidFill>
              </a:rPr>
              <a:t>Land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133600" y="1920240"/>
            <a:ext cx="1546860" cy="548640"/>
          </a:xfrm>
          <a:prstGeom prst="roundRect">
            <a:avLst/>
          </a:prstGeom>
          <a:solidFill>
            <a:srgbClr val="0EA5E9"/>
          </a:solidFill>
          <a:ln w="952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>
                <a:solidFill>
                  <a:srgbClr val="FFFFFF"/>
                </a:solidFill>
              </a:rPr>
              <a:t>Water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863340" y="1920240"/>
            <a:ext cx="2026919" cy="548640"/>
          </a:xfrm>
          <a:prstGeom prst="roundRect">
            <a:avLst/>
          </a:prstGeom>
          <a:solidFill>
            <a:srgbClr val="0EA5E9"/>
          </a:solidFill>
          <a:ln w="952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>
                <a:solidFill>
                  <a:srgbClr val="FFFFFF"/>
                </a:solidFill>
              </a:rPr>
              <a:t>Grazing Routes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073139" y="1920240"/>
            <a:ext cx="2133599" cy="548640"/>
          </a:xfrm>
          <a:prstGeom prst="roundRect">
            <a:avLst/>
          </a:prstGeom>
          <a:solidFill>
            <a:srgbClr val="0EA5E9"/>
          </a:solidFill>
          <a:ln w="952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>
                <a:solidFill>
                  <a:srgbClr val="FFFFFF"/>
                </a:solidFill>
              </a:rPr>
              <a:t>Crop Destruction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389618" y="1920240"/>
            <a:ext cx="2080260" cy="548640"/>
          </a:xfrm>
          <a:prstGeom prst="roundRect">
            <a:avLst/>
          </a:prstGeom>
          <a:solidFill>
            <a:srgbClr val="0EA5E9"/>
          </a:solidFill>
          <a:ln w="952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>
                <a:solidFill>
                  <a:srgbClr val="FFFFFF"/>
                </a:solidFill>
              </a:rPr>
              <a:t>Cattle Rustling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2606040"/>
            <a:ext cx="1760219" cy="548640"/>
          </a:xfrm>
          <a:prstGeom prst="roundRect">
            <a:avLst/>
          </a:prstGeom>
          <a:solidFill>
            <a:srgbClr val="0EA5E9"/>
          </a:solidFill>
          <a:ln w="952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>
                <a:solidFill>
                  <a:srgbClr val="FFFFFF"/>
                </a:solidFill>
              </a:rPr>
              <a:t>Migration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400299" y="2606040"/>
            <a:ext cx="2186940" cy="548640"/>
          </a:xfrm>
          <a:prstGeom prst="roundRect">
            <a:avLst/>
          </a:prstGeom>
          <a:solidFill>
            <a:srgbClr val="0EA5E9"/>
          </a:solidFill>
          <a:ln w="952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>
                <a:solidFill>
                  <a:srgbClr val="FFFFFF"/>
                </a:solidFill>
              </a:rPr>
              <a:t>Boundary Disputes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770119" y="2606040"/>
            <a:ext cx="2133599" cy="548640"/>
          </a:xfrm>
          <a:prstGeom prst="roundRect">
            <a:avLst/>
          </a:prstGeom>
          <a:solidFill>
            <a:srgbClr val="0EA5E9"/>
          </a:solidFill>
          <a:ln w="952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>
                <a:solidFill>
                  <a:srgbClr val="FFFFFF"/>
                </a:solidFill>
              </a:rPr>
              <a:t>Climate Pressure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4023360"/>
            <a:ext cx="11155680" cy="2286000"/>
          </a:xfrm>
          <a:prstGeom prst="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731520" y="4206240"/>
            <a:ext cx="10607040" cy="1920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 i="0">
                <a:solidFill>
                  <a:srgbClr val="FFFFFF"/>
                </a:solidFill>
                <a:latin typeface="Calibri"/>
              </a:rPr>
              <a:t>Requires: functioning livestock management systems, negotiated grazing and stock routes,
conflict-resolution mechanisms, land-use planning, livestock identification, compensation
mechanisms, farmer-herder dialogue, and credible enforcement.
Where governance fails, criminality fills the vacuum.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141440" y="6458000"/>
            <a:ext cx="600000" cy="32000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1400">
                <a:solidFill>
                  <a:srgbClr val="FFFFFF"/>
                </a:solidFill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Picture 18" descr="bg_military_tech_16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SECTION 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Young People — The Most Important Long-Term Investment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17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 i="0">
                <a:solidFill>
                  <a:srgbClr val="9AA5B1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0" i="0">
                <a:solidFill>
                  <a:srgbClr val="9AA5B1"/>
                </a:solidFill>
                <a:latin typeface="Calibri"/>
              </a:rPr>
              <a:t>17 / 28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325880"/>
            <a:ext cx="111556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1" i="1">
                <a:solidFill>
                  <a:srgbClr val="D4AF37"/>
                </a:solidFill>
                <a:latin typeface="Calibri"/>
              </a:rPr>
              <a:t>“What does a 17-year-old boy in a forgotten rural community see as his future?
If the answer is nothing, somebody else will offer him something.”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514600"/>
            <a:ext cx="3611880" cy="960120"/>
          </a:xfrm>
          <a:prstGeom prst="round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0B1F3A"/>
                </a:solidFill>
              </a:rPr>
              <a:t>Vocational
Training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97680" y="2514600"/>
            <a:ext cx="3611880" cy="960120"/>
          </a:xfrm>
          <a:prstGeom prst="round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0B1F3A"/>
                </a:solidFill>
              </a:rPr>
              <a:t>Agriculture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38160" y="2514600"/>
            <a:ext cx="3611880" cy="960120"/>
          </a:xfrm>
          <a:prstGeom prst="round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0B1F3A"/>
                </a:solidFill>
              </a:rPr>
              <a:t>Technology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3639312"/>
            <a:ext cx="3611880" cy="960120"/>
          </a:xfrm>
          <a:prstGeom prst="round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0B1F3A"/>
                </a:solidFill>
              </a:rPr>
              <a:t>Apprenticeships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97680" y="3639312"/>
            <a:ext cx="3611880" cy="960120"/>
          </a:xfrm>
          <a:prstGeom prst="round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0B1F3A"/>
                </a:solidFill>
              </a:rPr>
              <a:t>Sports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38160" y="3639312"/>
            <a:ext cx="3611880" cy="960120"/>
          </a:xfrm>
          <a:prstGeom prst="round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0B1F3A"/>
                </a:solidFill>
              </a:rPr>
              <a:t>Entrepreneurship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4764024"/>
            <a:ext cx="3611880" cy="960120"/>
          </a:xfrm>
          <a:prstGeom prst="round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0B1F3A"/>
                </a:solidFill>
              </a:rPr>
              <a:t>Education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97680" y="4764024"/>
            <a:ext cx="3611880" cy="960120"/>
          </a:xfrm>
          <a:prstGeom prst="round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0B1F3A"/>
                </a:solidFill>
              </a:rPr>
              <a:t>Community
Service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38160" y="4764024"/>
            <a:ext cx="3611880" cy="960120"/>
          </a:xfrm>
          <a:prstGeom prst="round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0B1F3A"/>
                </a:solidFill>
              </a:rPr>
              <a:t>Targeted
Deradicalisation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141440" y="6458000"/>
            <a:ext cx="600000" cy="32000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1400">
                <a:solidFill>
                  <a:srgbClr val="FFFFFF"/>
                </a:solidFill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bg_military_tech_16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SECTIONS 16 – 17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Women as Security Partners &amp; the Role of Local Government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18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 i="0">
                <a:solidFill>
                  <a:srgbClr val="9AA5B1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0" i="0">
                <a:solidFill>
                  <a:srgbClr val="9AA5B1"/>
                </a:solidFill>
                <a:latin typeface="Calibri"/>
              </a:rPr>
              <a:t>18 / 28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371600"/>
            <a:ext cx="5440680" cy="484632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31520" y="1600200"/>
            <a:ext cx="4846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FFFFFF"/>
                </a:solidFill>
                <a:latin typeface="Calibri"/>
              </a:rPr>
              <a:t>WOMEN AS PARTNERS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148840"/>
            <a:ext cx="484632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>
                <a:solidFill>
                  <a:srgbClr val="FFFFFF"/>
                </a:solidFill>
                <a:latin typeface="Calibri"/>
              </a:rPr>
              <a:t>▸  Know who has disappeared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>
                <a:solidFill>
                  <a:srgbClr val="FFFFFF"/>
                </a:solidFill>
                <a:latin typeface="Calibri"/>
              </a:rPr>
              <a:t>▸  Notice changed behaviour in children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>
                <a:solidFill>
                  <a:srgbClr val="FFFFFF"/>
                </a:solidFill>
                <a:latin typeface="Calibri"/>
              </a:rPr>
              <a:t>▸  Aware of unusual household visitors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>
                <a:solidFill>
                  <a:srgbClr val="FFFFFF"/>
                </a:solidFill>
                <a:latin typeface="Calibri"/>
              </a:rPr>
              <a:t>▸  Track displaced-people movement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>
                <a:solidFill>
                  <a:srgbClr val="FFFFFF"/>
                </a:solidFill>
                <a:latin typeface="Calibri"/>
              </a:rPr>
              <a:t>▸  Must be integrated operationally, not symbolically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63640" y="1371600"/>
            <a:ext cx="5440680" cy="484632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537960" y="1600200"/>
            <a:ext cx="4846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FFFFFF"/>
                </a:solidFill>
                <a:latin typeface="Calibri"/>
              </a:rPr>
              <a:t>LOCAL GOVERNMENT ROLE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37960" y="2148840"/>
            <a:ext cx="484632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>
                <a:solidFill>
                  <a:srgbClr val="FFFFFF"/>
                </a:solidFill>
                <a:latin typeface="Calibri"/>
              </a:rPr>
              <a:t>▸  Security cannot be Abuja-centric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>
                <a:solidFill>
                  <a:srgbClr val="FFFFFF"/>
                </a:solidFill>
                <a:latin typeface="Calibri"/>
              </a:rPr>
              <a:t>▸  LGA links: Chairman + Police + DSS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>
                <a:solidFill>
                  <a:srgbClr val="FFFFFF"/>
                </a:solidFill>
                <a:latin typeface="Calibri"/>
              </a:rPr>
              <a:t>▸  + Military Liaison + Traditional Rulers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>
                <a:solidFill>
                  <a:srgbClr val="FFFFFF"/>
                </a:solidFill>
                <a:latin typeface="Calibri"/>
              </a:rPr>
              <a:t>▸  + Health, Emergency &amp; Community Reps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>
                <a:solidFill>
                  <a:srgbClr val="FFFFFF"/>
                </a:solidFill>
                <a:latin typeface="Calibri"/>
              </a:rPr>
              <a:t>▸  Closer to community = faster warning &amp; response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141440" y="6458000"/>
            <a:ext cx="600000" cy="32000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1400">
                <a:solidFill>
                  <a:srgbClr val="FFFFFF"/>
                </a:solidFill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 descr="bg_military_tech_16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SECTION 18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State Police — An Opportunity That Requires Safeguards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19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 i="0">
                <a:solidFill>
                  <a:srgbClr val="9AA5B1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0" i="0">
                <a:solidFill>
                  <a:srgbClr val="9AA5B1"/>
                </a:solidFill>
                <a:latin typeface="Calibri"/>
              </a:rPr>
              <a:t>19 / 28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325880"/>
            <a:ext cx="111556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 i="1">
                <a:solidFill>
                  <a:srgbClr val="D4AF37"/>
                </a:solidFill>
                <a:latin typeface="Calibri"/>
              </a:rPr>
              <a:t>The real question: how do we put competent officers close to the community
while preventing political abuse?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286000"/>
            <a:ext cx="3611880" cy="137160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Complement, not replace,
the Nigeria Police Force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97680" y="2286000"/>
            <a:ext cx="3611880" cy="137160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National minimum
standards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38160" y="2286000"/>
            <a:ext cx="3611880" cy="137160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Professional
recruitment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3886200"/>
            <a:ext cx="3611880" cy="137160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Independent complaints
mechanisms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97680" y="3886200"/>
            <a:ext cx="3611880" cy="137160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Clear rules of
engagement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38160" y="3886200"/>
            <a:ext cx="3611880" cy="137160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Legislative &amp;
judicial oversight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41440" y="6458000"/>
            <a:ext cx="600000" cy="32000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1400">
                <a:solidFill>
                  <a:srgbClr val="FFFFFF"/>
                </a:solidFill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 descr="bg_military_tech_16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SECTIONS 19 – 20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Predictable Funding &amp; Personnel Welfare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20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 i="0">
                <a:solidFill>
                  <a:srgbClr val="9AA5B1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0" i="0">
                <a:solidFill>
                  <a:srgbClr val="9AA5B1"/>
                </a:solidFill>
                <a:latin typeface="Calibri"/>
              </a:rPr>
              <a:t>20 / 28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371600"/>
            <a:ext cx="5440680" cy="484632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31520" y="1600200"/>
            <a:ext cx="4846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SECURITY FUNDING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103120"/>
            <a:ext cx="484632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1" i="0">
                <a:solidFill>
                  <a:srgbClr val="FFFFFF"/>
                </a:solidFill>
                <a:latin typeface="Calibri"/>
              </a:rPr>
              <a:t>Northern Nigerian Security Trust Fund
inaugurated July 2026 — a foundation,
not the finish line.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3931920"/>
            <a:ext cx="484632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 i="1">
                <a:solidFill>
                  <a:srgbClr val="E8EAEE"/>
                </a:solidFill>
                <a:latin typeface="Calibri"/>
              </a:rPr>
              <a:t>Must be: transparent + professionally
managed + audited + measurable.
“Every naira spent should answer:
what security capability did this create?”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63640" y="1371600"/>
            <a:ext cx="5440680" cy="484632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537960" y="1600200"/>
            <a:ext cx="4846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PERSONNEL WELFARE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37960" y="2103120"/>
            <a:ext cx="484632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>
                <a:solidFill>
                  <a:srgbClr val="FFFFFF"/>
                </a:solidFill>
                <a:latin typeface="Calibri"/>
              </a:rPr>
              <a:t>▸  Reliable communication &amp; accommodation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>
                <a:solidFill>
                  <a:srgbClr val="FFFFFF"/>
                </a:solidFill>
                <a:latin typeface="Calibri"/>
              </a:rPr>
              <a:t>▸  Medical care, food, transportation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>
                <a:solidFill>
                  <a:srgbClr val="FFFFFF"/>
                </a:solidFill>
                <a:latin typeface="Calibri"/>
              </a:rPr>
              <a:t>▸  Equipment maintenance &amp; rotation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>
                <a:solidFill>
                  <a:srgbClr val="FFFFFF"/>
                </a:solidFill>
                <a:latin typeface="Calibri"/>
              </a:rPr>
              <a:t>▸  Psychological support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>
                <a:solidFill>
                  <a:srgbClr val="FFFFFF"/>
                </a:solidFill>
                <a:latin typeface="Calibri"/>
              </a:rPr>
              <a:t>▸  “Morale is a combat capability.”</a:t>
            </a:r>
          </a:p>
        </p:txBody>
      </p:sp>
      <p:sp>
        <p:nvSpPr>
          <p:cNvPr id="17" name="Rectangle 16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41440" y="6458000"/>
            <a:ext cx="600000" cy="32000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1400">
                <a:solidFill>
                  <a:srgbClr val="FFFFFF"/>
                </a:solidFill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 descr="bg_military_tech_16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SECTION 25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The Three-Layer Security Model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21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 i="0">
                <a:solidFill>
                  <a:srgbClr val="9AA5B1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0" i="0">
                <a:solidFill>
                  <a:srgbClr val="9AA5B1"/>
                </a:solidFill>
                <a:latin typeface="Calibri"/>
              </a:rPr>
              <a:t>21 / 28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124047" y="1554480"/>
            <a:ext cx="5943600" cy="1417320"/>
          </a:xfrm>
          <a:prstGeom prst="roundRect">
            <a:avLst/>
          </a:prstGeom>
          <a:solidFill>
            <a:srgbClr val="D4AF37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000" b="1">
                <a:solidFill>
                  <a:srgbClr val="0B1F3A"/>
                </a:solidFill>
              </a:rPr>
              <a:t>LAYER 3 — FEDERAL</a:t>
            </a:r>
          </a:p>
          <a:p>
            <a:pPr algn="ctr"/>
            <a:r>
              <a:rPr sz="2000">
                <a:solidFill>
                  <a:srgbClr val="0B1F3A"/>
                </a:solidFill>
              </a:rPr>
              <a:t>Airpower • Special Operations • Heavy Mobility • Strategic Surveillance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889607" y="3154680"/>
            <a:ext cx="8412480" cy="141732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000" b="1">
                <a:solidFill>
                  <a:srgbClr val="FFFFFF"/>
                </a:solidFill>
              </a:rPr>
              <a:t>LAYER 2 — STATE</a:t>
            </a:r>
          </a:p>
          <a:p>
            <a:pPr algn="ctr"/>
            <a:r>
              <a:rPr sz="2000">
                <a:solidFill>
                  <a:srgbClr val="FFFFFF"/>
                </a:solidFill>
              </a:rPr>
              <a:t>Police • DSS • NSCDC • Analysis &amp; Coordination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5167" y="4754880"/>
            <a:ext cx="10881360" cy="141732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000" b="1">
                <a:solidFill>
                  <a:srgbClr val="FFFFFF"/>
                </a:solidFill>
              </a:rPr>
              <a:t>LAYER 1 — COMMUNITY</a:t>
            </a:r>
          </a:p>
          <a:p>
            <a:pPr algn="ctr"/>
            <a:r>
              <a:rPr sz="2000">
                <a:solidFill>
                  <a:srgbClr val="FFFFFF"/>
                </a:solidFill>
              </a:rPr>
              <a:t>Traditional Rulers • Citizens • Local Govt • Early Warning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6355080"/>
            <a:ext cx="111556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The three layers must operate as ONE system.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141440" y="6458000"/>
            <a:ext cx="600000" cy="32000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1400">
                <a:solidFill>
                  <a:srgbClr val="FFFFFF"/>
                </a:solidFill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Picture 13" descr="bg_military_tech_16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SECTION 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A 24-Hour Security Cycle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22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 i="0">
                <a:solidFill>
                  <a:srgbClr val="9AA5B1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0" i="0">
                <a:solidFill>
                  <a:srgbClr val="9AA5B1"/>
                </a:solidFill>
                <a:latin typeface="Calibri"/>
              </a:rPr>
              <a:t>22 / 28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417320"/>
            <a:ext cx="5440680" cy="214884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000" b="1" dirty="0">
                <a:solidFill>
                  <a:srgbClr val="FFFFFF"/>
                </a:solidFill>
              </a:rPr>
              <a:t>00:00 – 06:00</a:t>
            </a:r>
          </a:p>
          <a:p>
            <a:pPr algn="ctr"/>
            <a:r>
              <a:rPr sz="1400" dirty="0">
                <a:solidFill>
                  <a:srgbClr val="FFFFFF"/>
                </a:solidFill>
              </a:rPr>
              <a:t>Intelligence
Monitoring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2200" y="1417320"/>
            <a:ext cx="5440680" cy="214884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000" b="1">
                <a:solidFill>
                  <a:srgbClr val="FFFFFF"/>
                </a:solidFill>
              </a:rPr>
              <a:t>06:00 – 12:00</a:t>
            </a:r>
          </a:p>
          <a:p>
            <a:pPr algn="ctr"/>
            <a:r>
              <a:rPr sz="1400">
                <a:solidFill>
                  <a:srgbClr val="FFFFFF"/>
                </a:solidFill>
              </a:rPr>
              <a:t>Community Reporting &amp;
Operational Assessment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840480"/>
            <a:ext cx="5440680" cy="214884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000" b="1">
                <a:solidFill>
                  <a:srgbClr val="FFFFFF"/>
                </a:solidFill>
              </a:rPr>
              <a:t>12:00 – 18:00</a:t>
            </a:r>
          </a:p>
          <a:p>
            <a:pPr algn="ctr"/>
            <a:r>
              <a:rPr sz="1400">
                <a:solidFill>
                  <a:srgbClr val="FFFFFF"/>
                </a:solidFill>
              </a:rPr>
              <a:t>Patrol, Surveillance &amp;
Preventive Deployment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840480"/>
            <a:ext cx="5440680" cy="214884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000" b="1">
                <a:solidFill>
                  <a:srgbClr val="FFFFFF"/>
                </a:solidFill>
              </a:rPr>
              <a:t>18:00 – 00:00</a:t>
            </a:r>
          </a:p>
          <a:p>
            <a:pPr algn="ctr"/>
            <a:r>
              <a:rPr sz="1400">
                <a:solidFill>
                  <a:srgbClr val="FFFFFF"/>
                </a:solidFill>
              </a:rPr>
              <a:t>Night Security Posture &amp;
Rapid-Response Readiness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5989320"/>
            <a:ext cx="111556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2000" b="0" i="1">
                <a:solidFill>
                  <a:srgbClr val="FFFFFF"/>
                </a:solidFill>
                <a:latin typeface="Calibri"/>
              </a:rPr>
              <a:t>Security never sleeps simply because government offices have closed.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141440" y="6458000"/>
            <a:ext cx="600000" cy="32000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1400">
                <a:solidFill>
                  <a:srgbClr val="FFFFFF"/>
                </a:solidFill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Picture 18" descr="bg_military_tech_16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SECTION 28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What Should Happen in the Next 90 Days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23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 i="0">
                <a:solidFill>
                  <a:srgbClr val="9AA5B1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0" i="0">
                <a:solidFill>
                  <a:srgbClr val="9AA5B1"/>
                </a:solidFill>
                <a:latin typeface="Calibri"/>
              </a:rPr>
              <a:t>23 / 28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325880"/>
            <a:ext cx="5440680" cy="896112"/>
          </a:xfrm>
          <a:prstGeom prst="roundRect">
            <a:avLst/>
          </a:prstGeom>
          <a:solidFill>
            <a:srgbClr val="0EA5E9"/>
          </a:solidFill>
          <a:ln w="952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rtlCol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1.  </a:t>
            </a:r>
            <a:r>
              <a:rPr sz="1300">
                <a:solidFill>
                  <a:srgbClr val="FFFFFF"/>
                </a:solidFill>
              </a:rPr>
              <a:t>Create a North-Central Security Coordination Secretariat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2200" y="1325880"/>
            <a:ext cx="5440680" cy="896112"/>
          </a:xfrm>
          <a:prstGeom prst="roundRect">
            <a:avLst/>
          </a:prstGeom>
          <a:solidFill>
            <a:srgbClr val="0EA5E9"/>
          </a:solidFill>
          <a:ln w="952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rtlCol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2.  </a:t>
            </a:r>
            <a:r>
              <a:rPr sz="1300">
                <a:solidFill>
                  <a:srgbClr val="FFFFFF"/>
                </a:solidFill>
              </a:rPr>
              <a:t>Establish a regional intelligence-fusion mechanism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2331720"/>
            <a:ext cx="5440680" cy="896112"/>
          </a:xfrm>
          <a:prstGeom prst="roundRect">
            <a:avLst/>
          </a:prstGeom>
          <a:solidFill>
            <a:srgbClr val="0EA5E9"/>
          </a:solidFill>
          <a:ln w="952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rtlCol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3.  </a:t>
            </a:r>
            <a:r>
              <a:rPr sz="1300">
                <a:solidFill>
                  <a:srgbClr val="FFFFFF"/>
                </a:solidFill>
              </a:rPr>
              <a:t>Map all major criminal and terrorist corridors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2331720"/>
            <a:ext cx="5440680" cy="896112"/>
          </a:xfrm>
          <a:prstGeom prst="roundRect">
            <a:avLst/>
          </a:prstGeom>
          <a:solidFill>
            <a:srgbClr val="0EA5E9"/>
          </a:solidFill>
          <a:ln w="952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rtlCol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4.  </a:t>
            </a:r>
            <a:r>
              <a:rPr sz="1300">
                <a:solidFill>
                  <a:srgbClr val="FFFFFF"/>
                </a:solidFill>
              </a:rPr>
              <a:t>Identify the 100 most vulnerable communities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3337560"/>
            <a:ext cx="5440680" cy="896112"/>
          </a:xfrm>
          <a:prstGeom prst="roundRect">
            <a:avLst/>
          </a:prstGeom>
          <a:solidFill>
            <a:srgbClr val="0EA5E9"/>
          </a:solidFill>
          <a:ln w="952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rtlCol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5.  </a:t>
            </a:r>
            <a:r>
              <a:rPr sz="1300">
                <a:solidFill>
                  <a:srgbClr val="FFFFFF"/>
                </a:solidFill>
              </a:rPr>
              <a:t>Create community early-warning networks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72200" y="3337560"/>
            <a:ext cx="5440680" cy="896112"/>
          </a:xfrm>
          <a:prstGeom prst="roundRect">
            <a:avLst/>
          </a:prstGeom>
          <a:solidFill>
            <a:srgbClr val="0EA5E9"/>
          </a:solidFill>
          <a:ln w="952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rtlCol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6.  </a:t>
            </a:r>
            <a:r>
              <a:rPr sz="1300">
                <a:solidFill>
                  <a:srgbClr val="FFFFFF"/>
                </a:solidFill>
              </a:rPr>
              <a:t>Establish rapid-response protocols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4343400"/>
            <a:ext cx="5440680" cy="896112"/>
          </a:xfrm>
          <a:prstGeom prst="roundRect">
            <a:avLst/>
          </a:prstGeom>
          <a:solidFill>
            <a:srgbClr val="0EA5E9"/>
          </a:solidFill>
          <a:ln w="952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rtlCol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7.  </a:t>
            </a:r>
            <a:r>
              <a:rPr sz="1300">
                <a:solidFill>
                  <a:srgbClr val="FFFFFF"/>
                </a:solidFill>
              </a:rPr>
              <a:t>Link governors' security councils digitally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2200" y="4343400"/>
            <a:ext cx="5440680" cy="896112"/>
          </a:xfrm>
          <a:prstGeom prst="roundRect">
            <a:avLst/>
          </a:prstGeom>
          <a:solidFill>
            <a:srgbClr val="0EA5E9"/>
          </a:solidFill>
          <a:ln w="952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rtlCol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8.  </a:t>
            </a:r>
            <a:r>
              <a:rPr sz="1300">
                <a:solidFill>
                  <a:srgbClr val="FFFFFF"/>
                </a:solidFill>
              </a:rPr>
              <a:t>Common training for military, police &amp; liaisons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5349240"/>
            <a:ext cx="5440680" cy="896112"/>
          </a:xfrm>
          <a:prstGeom prst="roundRect">
            <a:avLst/>
          </a:prstGeom>
          <a:solidFill>
            <a:srgbClr val="0EA5E9"/>
          </a:solidFill>
          <a:ln w="952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rtlCol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9.  </a:t>
            </a:r>
            <a:r>
              <a:rPr sz="1300">
                <a:solidFill>
                  <a:srgbClr val="FFFFFF"/>
                </a:solidFill>
              </a:rPr>
              <a:t>Transparent regional security funding mechanism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72200" y="5349240"/>
            <a:ext cx="5440680" cy="896112"/>
          </a:xfrm>
          <a:prstGeom prst="roundRect">
            <a:avLst/>
          </a:prstGeom>
          <a:solidFill>
            <a:srgbClr val="0EA5E9"/>
          </a:solidFill>
          <a:ln w="952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rtlCol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10.  </a:t>
            </a:r>
            <a:r>
              <a:rPr sz="1300">
                <a:solidFill>
                  <a:srgbClr val="FFFFFF"/>
                </a:solidFill>
              </a:rPr>
              <a:t>Publish measurable security indicators quarterly</a:t>
            </a:r>
          </a:p>
        </p:txBody>
      </p:sp>
      <p:sp>
        <p:nvSpPr>
          <p:cNvPr id="20" name="Rectangle 19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141440" y="6458000"/>
            <a:ext cx="600000" cy="32000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1400">
                <a:solidFill>
                  <a:srgbClr val="FFFFFF"/>
                </a:solidFill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 descr="bg_military_tech_16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SECTION 31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The North-Central Security Compact — Seven Commitments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24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 i="0">
                <a:solidFill>
                  <a:srgbClr val="9AA5B1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0" i="0">
                <a:solidFill>
                  <a:srgbClr val="9AA5B1"/>
                </a:solidFill>
                <a:latin typeface="Calibri"/>
              </a:rPr>
              <a:t>24 / 28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371600"/>
            <a:ext cx="2697480" cy="214884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600" b="1">
                <a:solidFill>
                  <a:srgbClr val="FFFFFF"/>
                </a:solidFill>
              </a:rPr>
              <a:t>1</a:t>
            </a:r>
          </a:p>
          <a:p>
            <a:pPr algn="ctr"/>
            <a:r>
              <a:rPr sz="1300" b="1">
                <a:solidFill>
                  <a:srgbClr val="FFFFFF"/>
                </a:solidFill>
              </a:rPr>
              <a:t>One Threat Picture</a:t>
            </a:r>
          </a:p>
          <a:p>
            <a:pPr algn="ctr"/>
            <a:r>
              <a:rPr sz="1050">
                <a:solidFill>
                  <a:srgbClr val="FFFFFF"/>
                </a:solidFill>
              </a:rPr>
              <a:t>We share intelligence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37560" y="1371600"/>
            <a:ext cx="2697480" cy="214884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600" b="1">
                <a:solidFill>
                  <a:srgbClr val="FFFFFF"/>
                </a:solidFill>
              </a:rPr>
              <a:t>2</a:t>
            </a:r>
          </a:p>
          <a:p>
            <a:pPr algn="ctr"/>
            <a:r>
              <a:rPr sz="1300" b="1">
                <a:solidFill>
                  <a:srgbClr val="FFFFFF"/>
                </a:solidFill>
              </a:rPr>
              <a:t>One Early-Warning System</a:t>
            </a:r>
          </a:p>
          <a:p>
            <a:pPr algn="ctr"/>
            <a:r>
              <a:rPr sz="1050">
                <a:solidFill>
                  <a:srgbClr val="FFFFFF"/>
                </a:solidFill>
              </a:rPr>
              <a:t>We listen to communities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1371600"/>
            <a:ext cx="2697480" cy="214884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600" b="1">
                <a:solidFill>
                  <a:srgbClr val="FFFFFF"/>
                </a:solidFill>
              </a:rPr>
              <a:t>3</a:t>
            </a:r>
          </a:p>
          <a:p>
            <a:pPr algn="ctr"/>
            <a:r>
              <a:rPr sz="1300" b="1">
                <a:solidFill>
                  <a:srgbClr val="FFFFFF"/>
                </a:solidFill>
              </a:rPr>
              <a:t>One Rapid-Response Philosophy</a:t>
            </a:r>
          </a:p>
          <a:p>
            <a:pPr algn="ctr"/>
            <a:r>
              <a:rPr sz="1050">
                <a:solidFill>
                  <a:srgbClr val="FFFFFF"/>
                </a:solidFill>
              </a:rPr>
              <a:t>We respond before massacres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098280" y="1371600"/>
            <a:ext cx="2697480" cy="214884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600" b="1">
                <a:solidFill>
                  <a:srgbClr val="FFFFFF"/>
                </a:solidFill>
              </a:rPr>
              <a:t>4</a:t>
            </a:r>
          </a:p>
          <a:p>
            <a:pPr algn="ctr"/>
            <a:r>
              <a:rPr sz="1300" b="1">
                <a:solidFill>
                  <a:srgbClr val="FFFFFF"/>
                </a:solidFill>
              </a:rPr>
              <a:t>One Professional Standard</a:t>
            </a:r>
          </a:p>
          <a:p>
            <a:pPr algn="ctr"/>
            <a:r>
              <a:rPr sz="1050">
                <a:solidFill>
                  <a:srgbClr val="FFFFFF"/>
                </a:solidFill>
              </a:rPr>
              <a:t>Discipline, law, dignity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3749040"/>
            <a:ext cx="2697480" cy="214884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600" b="1">
                <a:solidFill>
                  <a:srgbClr val="FFFFFF"/>
                </a:solidFill>
              </a:rPr>
              <a:t>5</a:t>
            </a:r>
          </a:p>
          <a:p>
            <a:pPr algn="ctr"/>
            <a:r>
              <a:rPr sz="1300" b="1">
                <a:solidFill>
                  <a:srgbClr val="FFFFFF"/>
                </a:solidFill>
              </a:rPr>
              <a:t>One Regional Approach</a:t>
            </a:r>
          </a:p>
          <a:p>
            <a:pPr algn="ctr"/>
            <a:r>
              <a:rPr sz="1050">
                <a:solidFill>
                  <a:srgbClr val="FFFFFF"/>
                </a:solidFill>
              </a:rPr>
              <a:t>No exploiting state boundaries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337560" y="3749040"/>
            <a:ext cx="2697480" cy="214884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600" b="1">
                <a:solidFill>
                  <a:srgbClr val="FFFFFF"/>
                </a:solidFill>
              </a:rPr>
              <a:t>6</a:t>
            </a:r>
          </a:p>
          <a:p>
            <a:pPr algn="ctr"/>
            <a:r>
              <a:rPr sz="1300" b="1">
                <a:solidFill>
                  <a:srgbClr val="FFFFFF"/>
                </a:solidFill>
              </a:rPr>
              <a:t>One Development Agenda</a:t>
            </a:r>
          </a:p>
          <a:p>
            <a:pPr algn="ctr"/>
            <a:r>
              <a:rPr sz="1050">
                <a:solidFill>
                  <a:srgbClr val="FFFFFF"/>
                </a:solidFill>
              </a:rPr>
              <a:t>Secure &amp; rebuild together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17920" y="3749040"/>
            <a:ext cx="2697480" cy="2148840"/>
          </a:xfrm>
          <a:prstGeom prst="roundRect">
            <a:avLst/>
          </a:prstGeom>
          <a:solidFill>
            <a:srgbClr val="D4AF37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600" b="1">
                <a:solidFill>
                  <a:srgbClr val="0B1F3A"/>
                </a:solidFill>
              </a:rPr>
              <a:t>7</a:t>
            </a:r>
          </a:p>
          <a:p>
            <a:pPr algn="ctr"/>
            <a:r>
              <a:rPr sz="1300" b="1">
                <a:solidFill>
                  <a:srgbClr val="0B1F3A"/>
                </a:solidFill>
              </a:rPr>
              <a:t>One Measure of Success</a:t>
            </a:r>
          </a:p>
          <a:p>
            <a:pPr algn="ctr"/>
            <a:r>
              <a:rPr sz="1050">
                <a:solidFill>
                  <a:srgbClr val="0B1F3A"/>
                </a:solidFill>
              </a:rPr>
              <a:t>Safety &amp; dignity of the citizen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41440" y="6458000"/>
            <a:ext cx="600000" cy="32000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1400">
                <a:solidFill>
                  <a:srgbClr val="FFFFFF"/>
                </a:solidFill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 descr="bg_military_tech_16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SECTION 29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What Success Should Look Like in Three Years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25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 i="0">
                <a:solidFill>
                  <a:srgbClr val="9AA5B1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0" i="0">
                <a:solidFill>
                  <a:srgbClr val="9AA5B1"/>
                </a:solidFill>
                <a:latin typeface="Calibri"/>
              </a:rPr>
              <a:t>25 / 28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417320"/>
            <a:ext cx="54864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>
                <a:solidFill>
                  <a:srgbClr val="FFFFFF"/>
                </a:solidFill>
                <a:latin typeface="Calibri"/>
              </a:rPr>
              <a:t>▸  Kidnapping has fallen substantially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>
                <a:solidFill>
                  <a:srgbClr val="FFFFFF"/>
                </a:solidFill>
                <a:latin typeface="Calibri"/>
              </a:rPr>
              <a:t>▸  Attacks on rural communities are declining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>
                <a:solidFill>
                  <a:srgbClr val="FFFFFF"/>
                </a:solidFill>
                <a:latin typeface="Calibri"/>
              </a:rPr>
              <a:t>▸  Major highways are secure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>
                <a:solidFill>
                  <a:srgbClr val="FFFFFF"/>
                </a:solidFill>
                <a:latin typeface="Calibri"/>
              </a:rPr>
              <a:t>▸  Farmers can return to their farms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>
                <a:solidFill>
                  <a:srgbClr val="FFFFFF"/>
                </a:solidFill>
                <a:latin typeface="Calibri"/>
              </a:rPr>
              <a:t>▸  Displaced families are returning home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09360" y="1417320"/>
            <a:ext cx="539496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>
                <a:solidFill>
                  <a:srgbClr val="FFFFFF"/>
                </a:solidFill>
                <a:latin typeface="Calibri"/>
              </a:rPr>
              <a:t>▸  Criminal sanctuaries are progressively denied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>
                <a:solidFill>
                  <a:srgbClr val="FFFFFF"/>
                </a:solidFill>
                <a:latin typeface="Calibri"/>
              </a:rPr>
              <a:t>▸  Intelligence moves faster, response times shorter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>
                <a:solidFill>
                  <a:srgbClr val="FFFFFF"/>
                </a:solidFill>
                <a:latin typeface="Calibri"/>
              </a:rPr>
              <a:t>▸  Communities trust security agencies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>
                <a:solidFill>
                  <a:srgbClr val="FFFFFF"/>
                </a:solidFill>
                <a:latin typeface="Calibri"/>
              </a:rPr>
              <a:t>▸  Security personnel are better supported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>
                <a:solidFill>
                  <a:srgbClr val="FFFFFF"/>
                </a:solidFill>
                <a:latin typeface="Calibri"/>
              </a:rPr>
              <a:t>▸  Networks dismantled via arrests &amp; prosecution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41440" y="6458000"/>
            <a:ext cx="600000" cy="32000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1400">
                <a:solidFill>
                  <a:srgbClr val="FFFFFF"/>
                </a:solidFill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" name="Picture 23" descr="bg_military_tech_16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SECTION 30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The Biggest Change We Need Is Mental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 i="0">
                <a:solidFill>
                  <a:srgbClr val="9AA5B1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0" i="0">
                <a:solidFill>
                  <a:srgbClr val="9AA5B1"/>
                </a:solidFill>
                <a:latin typeface="Calibri"/>
              </a:rPr>
              <a:t>26 / 28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463040"/>
            <a:ext cx="475488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 i="1">
                <a:solidFill>
                  <a:srgbClr val="9AA5B1"/>
                </a:solidFill>
                <a:latin typeface="Calibri"/>
              </a:rPr>
              <a:t>Not simply:
More troops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5440680" y="1645920"/>
            <a:ext cx="822960" cy="411480"/>
          </a:xfrm>
          <a:prstGeom prst="rightArrow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400800" y="1463040"/>
            <a:ext cx="51206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But:
Better intelligence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2395728"/>
            <a:ext cx="475488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 i="1">
                <a:solidFill>
                  <a:srgbClr val="9AA5B1"/>
                </a:solidFill>
                <a:latin typeface="Calibri"/>
              </a:rPr>
              <a:t>Not simply:
More weapons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5440680" y="2578608"/>
            <a:ext cx="822960" cy="411480"/>
          </a:xfrm>
          <a:prstGeom prst="rightArrow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400800" y="2395728"/>
            <a:ext cx="51206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But:
Better coordination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3328416"/>
            <a:ext cx="475488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 i="1">
                <a:solidFill>
                  <a:srgbClr val="9AA5B1"/>
                </a:solidFill>
                <a:latin typeface="Calibri"/>
              </a:rPr>
              <a:t>Not simply:
More operations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5440680" y="3511296"/>
            <a:ext cx="822960" cy="411480"/>
          </a:xfrm>
          <a:prstGeom prst="rightArrow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400800" y="3328416"/>
            <a:ext cx="51206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But:
Better prevention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4261104"/>
            <a:ext cx="475488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 i="1">
                <a:solidFill>
                  <a:srgbClr val="9AA5B1"/>
                </a:solidFill>
                <a:latin typeface="Calibri"/>
              </a:rPr>
              <a:t>Not simply:
More money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5440680" y="4443984"/>
            <a:ext cx="822960" cy="411480"/>
          </a:xfrm>
          <a:prstGeom prst="rightArrow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400800" y="4261104"/>
            <a:ext cx="51206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But:
Better accountability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5193792"/>
            <a:ext cx="475488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 i="1">
                <a:solidFill>
                  <a:srgbClr val="9AA5B1"/>
                </a:solidFill>
                <a:latin typeface="Calibri"/>
              </a:rPr>
              <a:t>Not simply:
More security personnel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5440680" y="5376672"/>
            <a:ext cx="822960" cy="411480"/>
          </a:xfrm>
          <a:prstGeom prst="rightArrow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400800" y="5193792"/>
            <a:ext cx="51206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But:
More trust between forces and people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141440" y="6458000"/>
            <a:ext cx="600000" cy="32000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1400">
                <a:solidFill>
                  <a:srgbClr val="FFFFFF"/>
                </a:solidFill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bg_military_tech_16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2" name="Picture 1" descr="closing_3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0F7FF">
              <a:alpha val="6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0"/>
            <a:ext cx="12191695" cy="2743200"/>
          </a:xfrm>
          <a:prstGeom prst="rect">
            <a:avLst/>
          </a:prstGeom>
          <a:solidFill>
            <a:srgbClr val="0EA5E9">
              <a:alpha val="8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4297680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200" b="1" i="1">
                <a:solidFill>
                  <a:srgbClr val="FFFFFF"/>
                </a:solidFill>
                <a:latin typeface="Calibri"/>
              </a:rPr>
              <a:t>“He simply wants to arrive alive.”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16636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 i="0">
                <a:solidFill>
                  <a:srgbClr val="E8EAEE"/>
                </a:solidFill>
                <a:latin typeface="Calibri"/>
              </a:rPr>
              <a:t>That is the standard by which we must judge ourselves — and it is not beyond the capacity of Nigeria.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172200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THANK YOU  —  Air Vice Marshal Monday Riku Morgan (Rtd)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141440" y="6458000"/>
            <a:ext cx="600000" cy="32000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1400">
                <a:solidFill>
                  <a:srgbClr val="FFFFFF"/>
                </a:solidFill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11" name="Picture 10" descr="bg_military_tech_16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REFERENCES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Sources &amp; Citations (Harvard Style)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28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 i="0">
                <a:solidFill>
                  <a:srgbClr val="9AA5B1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0" i="0">
                <a:solidFill>
                  <a:srgbClr val="9AA5B1"/>
                </a:solidFill>
                <a:latin typeface="Calibri"/>
              </a:rPr>
              <a:t>28 / 28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417320"/>
            <a:ext cx="54864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300"/>
              <a:t>Amnesty International (2024) Nigeria: scores killed in coordinated Plateau State attacks. London: Amnesty International.</a:t>
            </a:r>
          </a:p>
          <a:p>
            <a:r>
              <a:rPr sz="1300"/>
              <a:t>Reuters (2026) Nigeria charges nine men with terrorism over Yelwata massacre. London: Reuters.</a:t>
            </a:r>
          </a:p>
          <a:p>
            <a:r>
              <a:rPr sz="1300"/>
              <a:t>BBC (2025) Yelwata massacre: what we know about the Benue State killings. London: BBC News.</a:t>
            </a:r>
          </a:p>
          <a:p>
            <a:r>
              <a:rPr sz="1300"/>
              <a:t>NPR (2025) Pope Leo prays for victims of Nigeria massacre at Sunday Angelus. Washington DC: National Public Radio.</a:t>
            </a:r>
          </a:p>
          <a:p>
            <a:r>
              <a:rPr sz="1300"/>
              <a:t>Vatican News (2025) Pope's Angelus address on violence in Nigeria. Vatican City: Vatican News.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09360" y="1417320"/>
            <a:ext cx="539496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300"/>
              <a:t>International Organization for Migration (2025) Displacement Tracking Matrix: North-Central and North-West Nigeria. Geneva: IOM.</a:t>
            </a:r>
          </a:p>
          <a:p>
            <a:r>
              <a:rPr sz="1300"/>
              <a:t>The Kukah Centre (2025) Conflict trends and community resilience in Nigeria's Middle Belt. Abuja: The Kukah Centre for Faith, Leadership and Public Policy.</a:t>
            </a:r>
          </a:p>
          <a:p>
            <a:r>
              <a:rPr sz="1300"/>
              <a:t>United Nations Peacebuilding Support Office (2025) Nigeria peacebuilding fund report. New York: UN Peacebuilding.</a:t>
            </a:r>
          </a:p>
          <a:p>
            <a:r>
              <a:rPr sz="1300"/>
              <a:t>Channels Television (2024) Mangu attacks: death toll rises in renewed Plateau violence. Lagos: Channels Television.</a:t>
            </a:r>
          </a:p>
          <a:p>
            <a:r>
              <a:rPr sz="1300"/>
              <a:t>Premium Times (2025) Benue killings: a data investigation, 2023–2025. Abuja: Premium Times.</a:t>
            </a:r>
          </a:p>
          <a:p>
            <a:r>
              <a:rPr sz="1300"/>
              <a:t>National Assembly of Nigeria (2026) Constitution of the Federal Republic of Nigeria (Alteration) (State Police) Bill, 2026. Abuja: National Assembly.</a:t>
            </a:r>
          </a:p>
          <a:p>
            <a:r>
              <a:rPr sz="1300"/>
              <a:t>Kaduna State Government and Katsina State Government (2025) Early Warning and Early Response System: outcomes report. Kaduna/Katsina: State Governments.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41440" y="6458000"/>
            <a:ext cx="600000" cy="32000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1400">
                <a:solidFill>
                  <a:srgbClr val="FFFFFF"/>
                </a:solidFill>
              </a:rPr>
              <a:t>28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6</TotalTime>
  <Words>2315</Words>
  <Application>Microsoft Office PowerPoint</Application>
  <PresentationFormat>Widescreen</PresentationFormat>
  <Paragraphs>391</Paragraphs>
  <Slides>27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0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TOM DEGGS</dc:creator>
  <cp:keywords/>
  <dc:description>generated using python-pptx</dc:description>
  <cp:lastModifiedBy>Tom Deggs</cp:lastModifiedBy>
  <cp:revision>2</cp:revision>
  <dcterms:created xsi:type="dcterms:W3CDTF">2013-01-27T09:14:16Z</dcterms:created>
  <dcterms:modified xsi:type="dcterms:W3CDTF">2026-08-15T14:36:10Z</dcterms:modified>
  <cp:category/>
</cp:coreProperties>
</file>