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01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FBFA9"/>
                </a:solidFill>
                <a:latin typeface="Segoe UI"/>
              </a:rPr>
              <a:t>NORTH-CENTRAL SECURITY SUMMIT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9A24B"/>
                </a:solidFill>
                <a:latin typeface="Segoe UI"/>
              </a:rPr>
              <a:t>FROM CRISIS TO GRASSROOTS 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2EFE6"/>
                </a:solidFill>
                <a:latin typeface="Segoe UI"/>
              </a:rPr>
              <a:t>Presented by AVM Monday Riku Morgan (Rtd)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C9A24B"/>
                </a:solidFill>
                <a:latin typeface="Segoe UI"/>
              </a:rPr>
              <a:t>SAY: In the next 5 minutes: the human cost, the money behind it, and the fix.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02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FBFA9"/>
                </a:solidFill>
                <a:latin typeface="Segoe UI"/>
              </a:rPr>
              <a:t>THE NATIONAL PICTURE · JUL 2025 – JUN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24B"/>
                </a:solidFill>
                <a:latin typeface="Segoe UI"/>
              </a:rPr>
              <a:t>A Scaling, Self-Funding Criminal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2560320" cy="1828800"/>
          </a:xfrm>
          <a:prstGeom prst="rect">
            <a:avLst/>
          </a:prstGeom>
          <a:solidFill>
            <a:srgbClr val="222C22"/>
          </a:solidFill>
          <a:ln w="25400">
            <a:solidFill>
              <a:srgbClr val="C9A24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9A24B"/>
                </a:solidFill>
              </a:rPr>
              <a:t>7,825</a:t>
            </a:r>
          </a:p>
          <a:p>
            <a:pPr algn="ctr"/>
            <a:r>
              <a:rPr sz="1300">
                <a:solidFill>
                  <a:srgbClr val="F2EFE6"/>
                </a:solidFill>
              </a:rPr>
              <a:t>Kidnapped Nationwide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2194560"/>
            <a:ext cx="2560320" cy="1828800"/>
          </a:xfrm>
          <a:prstGeom prst="rect">
            <a:avLst/>
          </a:prstGeom>
          <a:solidFill>
            <a:srgbClr val="222C22"/>
          </a:solidFill>
          <a:ln w="25400">
            <a:solidFill>
              <a:srgbClr val="C9A24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9A24B"/>
                </a:solidFill>
              </a:rPr>
              <a:t>1,142</a:t>
            </a:r>
          </a:p>
          <a:p>
            <a:pPr algn="ctr"/>
            <a:r>
              <a:rPr sz="1300">
                <a:solidFill>
                  <a:srgbClr val="F2EFE6"/>
                </a:solidFill>
              </a:rPr>
              <a:t>Killed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94560"/>
            <a:ext cx="2560320" cy="1828800"/>
          </a:xfrm>
          <a:prstGeom prst="rect">
            <a:avLst/>
          </a:prstGeom>
          <a:solidFill>
            <a:srgbClr val="222C22"/>
          </a:solidFill>
          <a:ln w="25400">
            <a:solidFill>
              <a:srgbClr val="C9A24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9A24B"/>
                </a:solidFill>
              </a:rPr>
              <a:t>66%</a:t>
            </a:r>
          </a:p>
          <a:p>
            <a:pPr algn="ctr"/>
            <a:r>
              <a:rPr sz="1300">
                <a:solidFill>
                  <a:srgbClr val="F2EFE6"/>
                </a:solidFill>
              </a:rPr>
              <a:t>YoY Increase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194560"/>
            <a:ext cx="2560320" cy="1828800"/>
          </a:xfrm>
          <a:prstGeom prst="rect">
            <a:avLst/>
          </a:prstGeom>
          <a:solidFill>
            <a:srgbClr val="222C22"/>
          </a:solidFill>
          <a:ln w="25400">
            <a:solidFill>
              <a:srgbClr val="C9A24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9A24B"/>
                </a:solidFill>
              </a:rPr>
              <a:t>₦7.78bn</a:t>
            </a:r>
          </a:p>
          <a:p>
            <a:pPr algn="ctr"/>
            <a:r>
              <a:rPr sz="1300">
                <a:solidFill>
                  <a:srgbClr val="F2EFE6"/>
                </a:solidFill>
              </a:rPr>
              <a:t>Ransom 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C9A24B"/>
                </a:solidFill>
                <a:latin typeface="Segoe UI"/>
              </a:rPr>
              <a:t>SAY: This isn't crime — it's an industry, and it's growing 66% a year.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03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FBFA9"/>
                </a:solidFill>
                <a:latin typeface="Segoe UI"/>
              </a:rPr>
              <a:t>PLATEAU STATE · CONFIRMED, NAMED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24B"/>
                </a:solidFill>
                <a:latin typeface="Segoe UI"/>
              </a:rPr>
              <a:t>121 Killed in 10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24B"/>
                </a:solidFill>
                <a:latin typeface="Segoe UI"/>
              </a:rPr>
              <a:t>62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566160"/>
            <a:ext cx="1645920" cy="146304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5120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EFE6"/>
                </a:solidFill>
                <a:latin typeface="Segoe UI"/>
              </a:rPr>
              <a:t>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24B"/>
                </a:solidFill>
                <a:latin typeface="Segoe UI"/>
              </a:rP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4023360"/>
            <a:ext cx="1645920" cy="100584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5120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EFE6"/>
                </a:solidFill>
                <a:latin typeface="Segoe UI"/>
              </a:rPr>
              <a:t>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24B"/>
                </a:solidFill>
                <a:latin typeface="Segoe UI"/>
              </a:rPr>
              <a:t>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4572000"/>
            <a:ext cx="1645920" cy="45720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5120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EFE6"/>
                </a:solidFill>
                <a:latin typeface="Segoe UI"/>
              </a:rPr>
              <a:t>1–11 July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9436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C9A24B"/>
                </a:solidFill>
                <a:latin typeface="Segoe UI"/>
              </a:rPr>
              <a:t>SAY: 121 people. One state. Ten weeks. This is happening right 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04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FBFA9"/>
                </a:solidFill>
                <a:latin typeface="Segoe UI"/>
              </a:rPr>
              <a:t>NIGER STATE · BORGU, KPENYA/DEKARA · AUG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24B"/>
                </a:solidFill>
                <a:latin typeface="Segoe UI"/>
              </a:rPr>
              <a:t>A Single Operation, Hundreds of Lives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2560320" cy="1828800"/>
          </a:xfrm>
          <a:prstGeom prst="rect">
            <a:avLst/>
          </a:prstGeom>
          <a:solidFill>
            <a:srgbClr val="222C22"/>
          </a:solidFill>
          <a:ln w="25400">
            <a:solidFill>
              <a:srgbClr val="C9A24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A24B"/>
                </a:solidFill>
              </a:rPr>
              <a:t>30</a:t>
            </a:r>
          </a:p>
          <a:p>
            <a:pPr algn="ctr"/>
            <a:r>
              <a:rPr sz="1300">
                <a:solidFill>
                  <a:srgbClr val="F2EFE6"/>
                </a:solidFill>
              </a:rPr>
              <a:t>Confirmed Killed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2194560"/>
            <a:ext cx="2560320" cy="1828800"/>
          </a:xfrm>
          <a:prstGeom prst="rect">
            <a:avLst/>
          </a:prstGeom>
          <a:solidFill>
            <a:srgbClr val="222C22"/>
          </a:solidFill>
          <a:ln w="25400">
            <a:solidFill>
              <a:srgbClr val="C9A24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A24B"/>
                </a:solidFill>
              </a:rPr>
              <a:t>60–80</a:t>
            </a:r>
          </a:p>
          <a:p>
            <a:pPr algn="ctr"/>
            <a:r>
              <a:rPr sz="1300">
                <a:solidFill>
                  <a:srgbClr val="F2EFE6"/>
                </a:solidFill>
              </a:rPr>
              <a:t>Abducted (Confirmed)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94560"/>
            <a:ext cx="2560320" cy="1828800"/>
          </a:xfrm>
          <a:prstGeom prst="rect">
            <a:avLst/>
          </a:prstGeom>
          <a:solidFill>
            <a:srgbClr val="222C22"/>
          </a:solidFill>
          <a:ln w="25400">
            <a:solidFill>
              <a:srgbClr val="C9A24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A24B"/>
                </a:solidFill>
              </a:rPr>
              <a:t>~600</a:t>
            </a:r>
          </a:p>
          <a:p>
            <a:pPr algn="ctr"/>
            <a:r>
              <a:rPr sz="1300">
                <a:solidFill>
                  <a:srgbClr val="F2EFE6"/>
                </a:solidFill>
              </a:rPr>
              <a:t>Unverified (Video)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194560"/>
            <a:ext cx="2560320" cy="1828800"/>
          </a:xfrm>
          <a:prstGeom prst="rect">
            <a:avLst/>
          </a:prstGeom>
          <a:solidFill>
            <a:srgbClr val="222C22"/>
          </a:solidFill>
          <a:ln w="25400">
            <a:solidFill>
              <a:srgbClr val="C9A24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A24B"/>
                </a:solidFill>
              </a:rPr>
              <a:t>~2,000</a:t>
            </a:r>
          </a:p>
          <a:p>
            <a:pPr algn="ctr"/>
            <a:r>
              <a:rPr sz="1300">
                <a:solidFill>
                  <a:srgbClr val="F2EFE6"/>
                </a:solidFill>
              </a:rPr>
              <a:t>Fled to Benin Republic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C9A24B"/>
                </a:solidFill>
                <a:latin typeface="Segoe UI"/>
              </a:rPr>
              <a:t>SAY: One raid emptied entire villages — some fled the country to survive.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05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FBFA9"/>
                </a:solidFill>
                <a:latin typeface="Segoe UI"/>
              </a:rPr>
              <a:t>FULL REGIONAL TOTALS · 7 NORTH-CENTRAL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24B"/>
                </a:solidFill>
                <a:latin typeface="Segoe UI"/>
              </a:rPr>
              <a:t>Every State Carries a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634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4B"/>
                </a:solidFill>
                <a:latin typeface="Segoe UI"/>
              </a:rPr>
              <a:t>400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00669"/>
            <a:ext cx="1371600" cy="187133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EFE6"/>
                </a:solidFill>
                <a:latin typeface="Segoe UI"/>
              </a:rPr>
              <a:t>Niger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4B"/>
                </a:solidFill>
                <a:latin typeface="Segoe UI"/>
              </a:rPr>
              <a:t>430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2560320"/>
            <a:ext cx="1371600" cy="201168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EFE6"/>
                </a:solidFill>
                <a:latin typeface="Segoe UI"/>
              </a:rPr>
              <a:t>Plateau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27538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4B"/>
                </a:solidFill>
                <a:latin typeface="Segoe UI"/>
              </a:rPr>
              <a:t>330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79" y="3028152"/>
            <a:ext cx="1371600" cy="1543847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79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EFE6"/>
                </a:solidFill>
                <a:latin typeface="Segoe UI"/>
              </a:rPr>
              <a:t>Benue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406376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4B"/>
                </a:solidFill>
                <a:latin typeface="Segoe UI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4338083"/>
            <a:ext cx="1371600" cy="233916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EFE6"/>
                </a:solidFill>
                <a:latin typeface="Segoe UI"/>
              </a:rPr>
              <a:t>Kwara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11054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4B"/>
                </a:solidFill>
                <a:latin typeface="Segoe UI"/>
              </a:rPr>
              <a:t>40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4384866"/>
            <a:ext cx="1371600" cy="187133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EFE6"/>
                </a:solidFill>
                <a:latin typeface="Segoe UI"/>
              </a:rPr>
              <a:t>Kogi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14797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4B"/>
                </a:solidFill>
                <a:latin typeface="Segoe UI"/>
              </a:rPr>
              <a:t>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4422293"/>
            <a:ext cx="1371600" cy="149706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EFE6"/>
                </a:solidFill>
                <a:latin typeface="Segoe UI"/>
              </a:rPr>
              <a:t>Nasarawa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41947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4B"/>
                </a:solidFill>
                <a:latin typeface="Segoe UI"/>
              </a:rPr>
              <a:t>22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4469076"/>
            <a:ext cx="1371600" cy="102923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EFE6"/>
                </a:solidFill>
                <a:latin typeface="Segoe UI"/>
              </a:rPr>
              <a:t>FCT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9436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C9A24B"/>
                </a:solidFill>
                <a:latin typeface="Segoe UI"/>
              </a:rPr>
              <a:t>SAY: No state in this region is untouched — this is a regional emergency.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06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FBFA9"/>
                </a:solidFill>
                <a:latin typeface="Segoe UI"/>
              </a:rPr>
              <a:t>UNDERSTANDING THE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24B"/>
                </a:solidFill>
                <a:latin typeface="Segoe UI"/>
              </a:rPr>
              <a:t>The Ransom Economy Self-Funds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2103120" cy="2011680"/>
          </a:xfrm>
          <a:prstGeom prst="rect">
            <a:avLst/>
          </a:prstGeom>
          <a:solidFill>
            <a:srgbClr val="2E1A1A"/>
          </a:solidFill>
          <a:ln w="19050">
            <a:solidFill>
              <a:srgbClr val="B23A3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9A24B"/>
                </a:solidFill>
              </a:rPr>
              <a:t>1. Abduct</a:t>
            </a:r>
          </a:p>
          <a:p>
            <a:pPr algn="ctr"/>
            <a:r>
              <a:rPr sz="1100">
                <a:solidFill>
                  <a:srgbClr val="F2EFE6"/>
                </a:solidFill>
              </a:rPr>
              <a:t>Mass raid on mosque, village, highway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2286000"/>
            <a:ext cx="2103120" cy="2011680"/>
          </a:xfrm>
          <a:prstGeom prst="rect">
            <a:avLst/>
          </a:prstGeom>
          <a:solidFill>
            <a:srgbClr val="2E1A1A"/>
          </a:solidFill>
          <a:ln w="19050">
            <a:solidFill>
              <a:srgbClr val="B23A3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9A24B"/>
                </a:solidFill>
              </a:rPr>
              <a:t>2. Hold</a:t>
            </a:r>
          </a:p>
          <a:p>
            <a:pPr algn="ctr"/>
            <a:r>
              <a:rPr sz="1100">
                <a:solidFill>
                  <a:srgbClr val="F2EFE6"/>
                </a:solidFill>
              </a:rPr>
              <a:t>Days to weeks of negotiation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86000"/>
            <a:ext cx="2103120" cy="2011680"/>
          </a:xfrm>
          <a:prstGeom prst="rect">
            <a:avLst/>
          </a:prstGeom>
          <a:solidFill>
            <a:srgbClr val="2E1A1A"/>
          </a:solidFill>
          <a:ln w="19050">
            <a:solidFill>
              <a:srgbClr val="B23A3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9A24B"/>
                </a:solidFill>
              </a:rPr>
              <a:t>3. Collect</a:t>
            </a:r>
          </a:p>
          <a:p>
            <a:pPr algn="ctr"/>
            <a:r>
              <a:rPr sz="1100">
                <a:solidFill>
                  <a:srgbClr val="F2EFE6"/>
                </a:solidFill>
              </a:rPr>
              <a:t>₦7.78bn paid in 12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286000"/>
            <a:ext cx="2103120" cy="2011680"/>
          </a:xfrm>
          <a:prstGeom prst="rect">
            <a:avLst/>
          </a:prstGeom>
          <a:solidFill>
            <a:srgbClr val="2E1A1A"/>
          </a:solidFill>
          <a:ln w="19050">
            <a:solidFill>
              <a:srgbClr val="B23A3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9A24B"/>
                </a:solidFill>
              </a:rPr>
              <a:t>4. Reinvest</a:t>
            </a:r>
          </a:p>
          <a:p>
            <a:pPr algn="ctr"/>
            <a:r>
              <a:rPr sz="1100">
                <a:solidFill>
                  <a:srgbClr val="F2EFE6"/>
                </a:solidFill>
              </a:rPr>
              <a:t>Weapons, transport, recruits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86000"/>
            <a:ext cx="2103120" cy="2011680"/>
          </a:xfrm>
          <a:prstGeom prst="rect">
            <a:avLst/>
          </a:prstGeom>
          <a:solidFill>
            <a:srgbClr val="2E1A1A"/>
          </a:solidFill>
          <a:ln w="19050">
            <a:solidFill>
              <a:srgbClr val="B23A3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9A24B"/>
                </a:solidFill>
              </a:rPr>
              <a:t>5. Repeat</a:t>
            </a:r>
          </a:p>
          <a:p>
            <a:pPr algn="ctr"/>
            <a:r>
              <a:rPr sz="1100">
                <a:solidFill>
                  <a:srgbClr val="F2EFE6"/>
                </a:solidFill>
              </a:rPr>
              <a:t>Stronger for the next 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C9A24B"/>
                </a:solidFill>
                <a:latin typeface="Segoe UI"/>
              </a:rPr>
              <a:t>SAY: Every naira paid in ransom funds the next attack. It's a business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07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9A24B"/>
                </a:solidFill>
                <a:latin typeface="Segoe UI"/>
              </a:rPr>
              <a:t>THIS IS A DEVELOPMENT EMERGENCY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926080"/>
            <a:ext cx="9235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2EFE6"/>
                </a:solidFill>
                <a:latin typeface="Segoe UI"/>
              </a:rPr>
              <a:t>Not merely a law-and-order problem. Lost harvests. Interrupted schooling. A generation growing up distrustful of the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C9A24B"/>
                </a:solidFill>
                <a:latin typeface="Segoe UI"/>
              </a:rPr>
              <a:t>SAY: Say it plainly: we are losing a generation, not just a security statistic.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08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FBFA9"/>
                </a:solidFill>
                <a:latin typeface="Segoe UI"/>
              </a:rPr>
              <a:t>THE SOLUTION · BOTTOM-UP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24B"/>
                </a:solidFill>
                <a:latin typeface="Segoe UI"/>
              </a:rPr>
              <a:t>Financially Autonomous Local Governments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1828800" cy="1828800"/>
          </a:xfrm>
          <a:prstGeom prst="ellipse">
            <a:avLst/>
          </a:prstGeom>
          <a:solidFill>
            <a:srgbClr val="222C22"/>
          </a:solidFill>
          <a:ln w="31750">
            <a:solidFill>
              <a:srgbClr val="C9A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2EFE6"/>
                </a:solidFill>
              </a:rPr>
              <a:t>Federal</a:t>
            </a:r>
          </a:p>
        </p:txBody>
      </p:sp>
      <p:sp>
        <p:nvSpPr>
          <p:cNvPr id="6" name="Oval 5"/>
          <p:cNvSpPr/>
          <p:nvPr/>
        </p:nvSpPr>
        <p:spPr>
          <a:xfrm>
            <a:off x="2743200" y="2560320"/>
            <a:ext cx="1828800" cy="1828800"/>
          </a:xfrm>
          <a:prstGeom prst="ellipse">
            <a:avLst/>
          </a:prstGeom>
          <a:solidFill>
            <a:srgbClr val="222C22"/>
          </a:solidFill>
          <a:ln w="31750">
            <a:solidFill>
              <a:srgbClr val="C9A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2EFE6"/>
                </a:solidFill>
              </a:rPr>
              <a:t>State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2560320"/>
            <a:ext cx="1828800" cy="1828800"/>
          </a:xfrm>
          <a:prstGeom prst="ellipse">
            <a:avLst/>
          </a:prstGeom>
          <a:solidFill>
            <a:srgbClr val="222C22"/>
          </a:solidFill>
          <a:ln w="31750">
            <a:solidFill>
              <a:srgbClr val="C9A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2EFE6"/>
                </a:solidFill>
              </a:rPr>
              <a:t>Accountable LG</a:t>
            </a:r>
          </a:p>
        </p:txBody>
      </p:sp>
      <p:sp>
        <p:nvSpPr>
          <p:cNvPr id="8" name="Oval 7"/>
          <p:cNvSpPr/>
          <p:nvPr/>
        </p:nvSpPr>
        <p:spPr>
          <a:xfrm>
            <a:off x="7132320" y="2560320"/>
            <a:ext cx="1828800" cy="1828800"/>
          </a:xfrm>
          <a:prstGeom prst="ellipse">
            <a:avLst/>
          </a:prstGeom>
          <a:solidFill>
            <a:srgbClr val="222C22"/>
          </a:solidFill>
          <a:ln w="31750">
            <a:solidFill>
              <a:srgbClr val="C9A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2EFE6"/>
                </a:solidFill>
              </a:rPr>
              <a:t>Community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0" y="2560320"/>
            <a:ext cx="1828800" cy="1828800"/>
          </a:xfrm>
          <a:prstGeom prst="ellipse">
            <a:avLst/>
          </a:prstGeom>
          <a:solidFill>
            <a:srgbClr val="222C22"/>
          </a:solidFill>
          <a:ln w="31750">
            <a:solidFill>
              <a:srgbClr val="C9A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2EFE6"/>
                </a:solidFill>
              </a:rPr>
              <a:t>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C9A24B"/>
                </a:solidFill>
                <a:latin typeface="Segoe UI"/>
              </a:rPr>
              <a:t>SAY: Push power and money down to the LG — that's where the threat actually lives.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09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FBFA9"/>
                </a:solidFill>
                <a:latin typeface="Segoe UI"/>
              </a:rPr>
              <a:t>THE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24B"/>
                </a:solidFill>
                <a:latin typeface="Segoe UI"/>
              </a:rPr>
              <a:t>Financial Autonomy + Accountability + Local Intelligence +
Responsive Governance + Professional 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2EFE6"/>
                </a:solidFill>
                <a:latin typeface="Segoe UI"/>
              </a:rPr>
              <a:t>= Stronger Grassroots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C9A24B"/>
                </a:solidFill>
                <a:latin typeface="Segoe UI"/>
              </a:rPr>
              <a:t>SAY: Autonomy without audits just decentralises corruption — say this caveat out loud.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10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FBFA9"/>
                </a:solidFill>
                <a:latin typeface="Segoe UI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235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F2EFE6"/>
                </a:solidFill>
                <a:latin typeface="Segoe UI"/>
              </a:rPr>
              <a:t>"If every local government across the six North-Central states is empowered, accountable and connected — we begin to build a regional security shield."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FBFA9"/>
                </a:solidFill>
                <a:latin typeface="Segoe UI"/>
              </a:rPr>
              <a:t>AVM MONDAY RIKU MORGAN (RTD) · NORTH-CENTRAL SECURITY SUMMIT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C9A24B"/>
                </a:solidFill>
                <a:latin typeface="Segoe UI"/>
              </a:rPr>
              <a:t>SAY: End on the shield line. Pause. Let it land.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